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10"/>
  </p:normalViewPr>
  <p:slideViewPr>
    <p:cSldViewPr snapToGrid="0" snapToObjects="1">
      <p:cViewPr varScale="1">
        <p:scale>
          <a:sx n="113" d="100"/>
          <a:sy n="113" d="100"/>
        </p:scale>
        <p:origin x="34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25578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 “My project looks at whether pretrained foundation-model representations can capture useful information for distinguishing six clinical Alzheimer’s-related groups from structural brain MRI. The key idea is to use the foundation model as a representation engine first, rather than immediately fine-tuning a large network.”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 “The central question is whether the representation learned by a pretrained model contains information that can distinguish these six groups. An important distinction is that this is a research classification problem, not a clinical diagnostic system. Also, the labels do not form a perfectly clean one-dimensional progression, so I want to inspect class-specific errors rather than only one overall score.”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 “The images I currently work with are already preprocessed 2D PNG slices. There are roughly 73,000 image files across six groups and three anatomical orientations. But the image count is not the same as the sample size: many slices belong to the same person. That is why the patient ID becomes the backbone of the metadata and the patient—not the slice—is the true unit of analysis.”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sec. “The pipeline has a simple structure. Each PNG is converted into the exact input format expected by the chosen model. The frozen foundation model then maps the image into a compact embedding vector. Because the diagnosis belongs to the patient, I aggregate slice embeddings within each orientation—starting with mean pooling—and then concatenate the orientation-level representations. A conventional classifier can operate on that patient-level vector. This gives me a clean baseline before considering fine-tuning.”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 “The evaluation is deliberately patient-aware. I will create the patient-level development and test split first, then use group-aware cross-validation only within the development data. Any learned preprocessing or resampling has to happen inside the training fold. For reporting, accuracy alone is not enough with six groups, so I want balanced accuracy, macro F1, per-class recall, a confusion matrix, and ROC-AUC where appropriate. The held-out patients are only used once, at the end.”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 “The interesting part of the project is the controlled comparisons. I want to know whether a medical foundation model actually adds value, which anatomical planes contribute, how sensitive the result is to the way I aggregate slices, and whether fine-tuning is worth the added complexity. The intended contribution is methodological evidence—not a clinical performance claim. Right now the practical focus is getting the metadata, quality control, model input, and embedding pipeline correct.”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slide. Use only if coworkers ask about methodological sources or the candidate foundation models.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6574536"/>
            <a:ext cx="12191695" cy="283464"/>
          </a:xfrm>
          <a:prstGeom prst="rect">
            <a:avLst/>
          </a:prstGeom>
          <a:solidFill>
            <a:srgbClr val="E9EEF5"/>
          </a:solidFill>
          <a:ln w="12700">
            <a:solidFill>
              <a:srgbClr val="E9EEF5"/>
            </a:solidFill>
            <a:prstDash val="solid"/>
          </a:ln>
        </p:spPr>
        <p:txBody>
          <a:bodyPr/>
          <a:lstStyle/>
          <a:p>
            <a:endParaRPr lang="de-DE"/>
          </a:p>
        </p:txBody>
      </p:sp>
      <p:sp>
        <p:nvSpPr>
          <p:cNvPr id="3" name="Text 1"/>
          <p:cNvSpPr/>
          <p:nvPr/>
        </p:nvSpPr>
        <p:spPr>
          <a:xfrm>
            <a:off x="411480" y="6611112"/>
            <a:ext cx="4480560" cy="128016"/>
          </a:xfrm>
          <a:prstGeom prst="rect">
            <a:avLst/>
          </a:prstGeom>
          <a:noFill/>
          <a:ln/>
        </p:spPr>
        <p:txBody>
          <a:bodyPr wrap="square" lIns="0" tIns="0" rIns="0" bIns="0" rtlCol="0" anchor="ctr"/>
          <a:lstStyle/>
          <a:p>
            <a:pPr marL="0" indent="0">
              <a:buNone/>
            </a:pPr>
            <a:r>
              <a:rPr lang="en-US" sz="750" dirty="0">
                <a:solidFill>
                  <a:srgbClr val="5B6B7D"/>
                </a:solidFill>
                <a:latin typeface="Aptos" pitchFamily="34" charset="0"/>
                <a:ea typeface="Aptos" pitchFamily="34" charset="-122"/>
                <a:cs typeface="Aptos" pitchFamily="34" charset="-120"/>
              </a:rPr>
              <a:t>AI + Structural MRI | Project introduction</a:t>
            </a:r>
            <a:endParaRPr lang="en-US" sz="750" dirty="0"/>
          </a:p>
        </p:txBody>
      </p:sp>
      <p:sp>
        <p:nvSpPr>
          <p:cNvPr id="4" name="Text 2"/>
          <p:cNvSpPr/>
          <p:nvPr/>
        </p:nvSpPr>
        <p:spPr>
          <a:xfrm>
            <a:off x="11475720" y="6611112"/>
            <a:ext cx="320040" cy="128016"/>
          </a:xfrm>
          <a:prstGeom prst="rect">
            <a:avLst/>
          </a:prstGeom>
          <a:noFill/>
          <a:ln/>
        </p:spPr>
        <p:txBody>
          <a:bodyPr wrap="square" lIns="0" tIns="0" rIns="0" bIns="0" rtlCol="0" anchor="ctr"/>
          <a:lstStyle/>
          <a:p>
            <a:pPr marL="0" indent="0" algn="r">
              <a:buNone/>
            </a:pPr>
            <a:r>
              <a:rPr lang="en-US" sz="750" dirty="0">
                <a:solidFill>
                  <a:srgbClr val="5B6B7D"/>
                </a:solidFill>
                <a:latin typeface="Aptos" pitchFamily="34" charset="0"/>
                <a:ea typeface="Aptos" pitchFamily="34" charset="-122"/>
                <a:cs typeface="Aptos" pitchFamily="34" charset="-120"/>
              </a:rPr>
              <a:t>2026</a:t>
            </a:r>
            <a:endParaRPr lang="en-US" sz="750" dirty="0"/>
          </a:p>
        </p:txBody>
      </p:sp>
      <p:sp>
        <p:nvSpPr>
          <p:cNvPr id="25" name="Slide Number Placeholder 0"/>
          <p:cNvSpPr>
            <a:spLocks noGrp="1"/>
          </p:cNvSpPr>
          <p:nvPr>
            <p:ph type="sldNum" sz="quarter" idx="4294967295"/>
          </p:nvPr>
        </p:nvSpPr>
        <p:spPr>
          <a:xfrm>
            <a:off x="11841480" y="6601968"/>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5B6B7D"/>
                </a:solidFill>
                <a:latin typeface="Aptos"/>
                <a:ea typeface="Aptos"/>
                <a:cs typeface="Aptos"/>
              </a:defRPr>
            </a:lvl1pPr>
          </a:lstStyle>
          <a:p>
            <a:pPr algn="l"/>
            <a:fld id="{F7021451-1387-4CA6-816F-3879F97B5CBC}" type="slidenum">
              <a:rPr lang="en-US" b="0"/>
              <a:t>‹Nr.›</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841480" y="6601968"/>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5B6B7D"/>
                </a:solidFill>
                <a:latin typeface="Aptos"/>
                <a:ea typeface="Aptos"/>
                <a:cs typeface="Aptos"/>
              </a:defRPr>
            </a:lvl1pPr>
          </a:lstStyle>
          <a:p>
            <a:pPr algn="l"/>
            <a:fld id="{F7021451-1387-4CA6-816F-3879F97B5CBC}" type="slidenum">
              <a:rPr lang="en-US" b="0"/>
              <a:t>‹Nr.›</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04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304A"/>
          </a:solidFill>
          <a:ln w="12700">
            <a:solidFill>
              <a:srgbClr val="14304A"/>
            </a:solidFill>
            <a:prstDash val="solid"/>
          </a:ln>
        </p:spPr>
        <p:txBody>
          <a:bodyPr/>
          <a:lstStyle/>
          <a:p>
            <a:endParaRPr lang="de-DE"/>
          </a:p>
        </p:txBody>
      </p:sp>
      <p:sp>
        <p:nvSpPr>
          <p:cNvPr id="3" name="Shape 1"/>
          <p:cNvSpPr/>
          <p:nvPr/>
        </p:nvSpPr>
        <p:spPr>
          <a:xfrm>
            <a:off x="7360920" y="1005840"/>
            <a:ext cx="1078992" cy="1078992"/>
          </a:xfrm>
          <a:prstGeom prst="ellipse">
            <a:avLst/>
          </a:prstGeom>
          <a:solidFill>
            <a:srgbClr val="1B4965">
              <a:alpha val="84000"/>
            </a:srgbClr>
          </a:solidFill>
          <a:ln w="15240">
            <a:solidFill>
              <a:srgbClr val="77C6D3">
                <a:alpha val="42000"/>
              </a:srgbClr>
            </a:solidFill>
            <a:prstDash val="solid"/>
          </a:ln>
        </p:spPr>
        <p:txBody>
          <a:bodyPr/>
          <a:lstStyle/>
          <a:p>
            <a:endParaRPr lang="de-DE"/>
          </a:p>
        </p:txBody>
      </p:sp>
      <p:sp>
        <p:nvSpPr>
          <p:cNvPr id="4" name="Shape 2"/>
          <p:cNvSpPr/>
          <p:nvPr/>
        </p:nvSpPr>
        <p:spPr>
          <a:xfrm>
            <a:off x="7580376" y="1225296"/>
            <a:ext cx="640080" cy="640080"/>
          </a:xfrm>
          <a:prstGeom prst="ellipse">
            <a:avLst/>
          </a:prstGeom>
          <a:solidFill>
            <a:srgbClr val="081D2C"/>
          </a:solidFill>
          <a:ln w="12700">
            <a:solidFill>
              <a:srgbClr val="3B7E95">
                <a:alpha val="65000"/>
              </a:srgbClr>
            </a:solidFill>
            <a:prstDash val="solid"/>
          </a:ln>
        </p:spPr>
        <p:txBody>
          <a:bodyPr/>
          <a:lstStyle/>
          <a:p>
            <a:endParaRPr lang="de-DE"/>
          </a:p>
        </p:txBody>
      </p:sp>
      <p:sp>
        <p:nvSpPr>
          <p:cNvPr id="5" name="Shape 3"/>
          <p:cNvSpPr/>
          <p:nvPr/>
        </p:nvSpPr>
        <p:spPr>
          <a:xfrm>
            <a:off x="7936992" y="2514600"/>
            <a:ext cx="1078992" cy="1078992"/>
          </a:xfrm>
          <a:prstGeom prst="ellipse">
            <a:avLst/>
          </a:prstGeom>
          <a:solidFill>
            <a:srgbClr val="245B73">
              <a:alpha val="84000"/>
            </a:srgbClr>
          </a:solidFill>
          <a:ln w="15240">
            <a:solidFill>
              <a:srgbClr val="77C6D3">
                <a:alpha val="42000"/>
              </a:srgbClr>
            </a:solidFill>
            <a:prstDash val="solid"/>
          </a:ln>
        </p:spPr>
        <p:txBody>
          <a:bodyPr/>
          <a:lstStyle/>
          <a:p>
            <a:endParaRPr lang="de-DE"/>
          </a:p>
        </p:txBody>
      </p:sp>
      <p:sp>
        <p:nvSpPr>
          <p:cNvPr id="6" name="Shape 4"/>
          <p:cNvSpPr/>
          <p:nvPr/>
        </p:nvSpPr>
        <p:spPr>
          <a:xfrm>
            <a:off x="8156448" y="2734056"/>
            <a:ext cx="640080" cy="640080"/>
          </a:xfrm>
          <a:prstGeom prst="ellipse">
            <a:avLst/>
          </a:prstGeom>
          <a:solidFill>
            <a:srgbClr val="081D2C"/>
          </a:solidFill>
          <a:ln w="12700">
            <a:solidFill>
              <a:srgbClr val="3B7E95">
                <a:alpha val="65000"/>
              </a:srgbClr>
            </a:solidFill>
            <a:prstDash val="solid"/>
          </a:ln>
        </p:spPr>
        <p:txBody>
          <a:bodyPr/>
          <a:lstStyle/>
          <a:p>
            <a:endParaRPr lang="de-DE"/>
          </a:p>
        </p:txBody>
      </p:sp>
      <p:sp>
        <p:nvSpPr>
          <p:cNvPr id="7" name="Shape 5"/>
          <p:cNvSpPr/>
          <p:nvPr/>
        </p:nvSpPr>
        <p:spPr>
          <a:xfrm>
            <a:off x="8513064" y="4023360"/>
            <a:ext cx="1078992" cy="1078992"/>
          </a:xfrm>
          <a:prstGeom prst="ellipse">
            <a:avLst/>
          </a:prstGeom>
          <a:solidFill>
            <a:srgbClr val="1B4965">
              <a:alpha val="84000"/>
            </a:srgbClr>
          </a:solidFill>
          <a:ln w="15240">
            <a:solidFill>
              <a:srgbClr val="77C6D3">
                <a:alpha val="42000"/>
              </a:srgbClr>
            </a:solidFill>
            <a:prstDash val="solid"/>
          </a:ln>
        </p:spPr>
        <p:txBody>
          <a:bodyPr/>
          <a:lstStyle/>
          <a:p>
            <a:endParaRPr lang="de-DE"/>
          </a:p>
        </p:txBody>
      </p:sp>
      <p:sp>
        <p:nvSpPr>
          <p:cNvPr id="8" name="Shape 6"/>
          <p:cNvSpPr/>
          <p:nvPr/>
        </p:nvSpPr>
        <p:spPr>
          <a:xfrm>
            <a:off x="8732520" y="4242816"/>
            <a:ext cx="640080" cy="640080"/>
          </a:xfrm>
          <a:prstGeom prst="ellipse">
            <a:avLst/>
          </a:prstGeom>
          <a:solidFill>
            <a:srgbClr val="081D2C"/>
          </a:solidFill>
          <a:ln w="12700">
            <a:solidFill>
              <a:srgbClr val="3B7E95">
                <a:alpha val="65000"/>
              </a:srgbClr>
            </a:solidFill>
            <a:prstDash val="solid"/>
          </a:ln>
        </p:spPr>
        <p:txBody>
          <a:bodyPr/>
          <a:lstStyle/>
          <a:p>
            <a:endParaRPr lang="de-DE"/>
          </a:p>
        </p:txBody>
      </p:sp>
      <p:sp>
        <p:nvSpPr>
          <p:cNvPr id="9" name="Shape 7"/>
          <p:cNvSpPr/>
          <p:nvPr/>
        </p:nvSpPr>
        <p:spPr>
          <a:xfrm>
            <a:off x="9089136" y="1005840"/>
            <a:ext cx="1078992" cy="1078992"/>
          </a:xfrm>
          <a:prstGeom prst="ellipse">
            <a:avLst/>
          </a:prstGeom>
          <a:solidFill>
            <a:srgbClr val="245B73">
              <a:alpha val="84000"/>
            </a:srgbClr>
          </a:solidFill>
          <a:ln w="15240">
            <a:solidFill>
              <a:srgbClr val="77C6D3">
                <a:alpha val="42000"/>
              </a:srgbClr>
            </a:solidFill>
            <a:prstDash val="solid"/>
          </a:ln>
        </p:spPr>
        <p:txBody>
          <a:bodyPr/>
          <a:lstStyle/>
          <a:p>
            <a:endParaRPr lang="de-DE"/>
          </a:p>
        </p:txBody>
      </p:sp>
      <p:sp>
        <p:nvSpPr>
          <p:cNvPr id="10" name="Shape 8"/>
          <p:cNvSpPr/>
          <p:nvPr/>
        </p:nvSpPr>
        <p:spPr>
          <a:xfrm>
            <a:off x="9308592" y="1225296"/>
            <a:ext cx="640080" cy="640080"/>
          </a:xfrm>
          <a:prstGeom prst="ellipse">
            <a:avLst/>
          </a:prstGeom>
          <a:solidFill>
            <a:srgbClr val="081D2C"/>
          </a:solidFill>
          <a:ln w="12700">
            <a:solidFill>
              <a:srgbClr val="3B7E95">
                <a:alpha val="65000"/>
              </a:srgbClr>
            </a:solidFill>
            <a:prstDash val="solid"/>
          </a:ln>
        </p:spPr>
        <p:txBody>
          <a:bodyPr/>
          <a:lstStyle/>
          <a:p>
            <a:endParaRPr lang="de-DE"/>
          </a:p>
        </p:txBody>
      </p:sp>
      <p:sp>
        <p:nvSpPr>
          <p:cNvPr id="11" name="Shape 9"/>
          <p:cNvSpPr/>
          <p:nvPr/>
        </p:nvSpPr>
        <p:spPr>
          <a:xfrm>
            <a:off x="9665208" y="2514600"/>
            <a:ext cx="1078992" cy="1078992"/>
          </a:xfrm>
          <a:prstGeom prst="ellipse">
            <a:avLst/>
          </a:prstGeom>
          <a:solidFill>
            <a:srgbClr val="1B4965">
              <a:alpha val="84000"/>
            </a:srgbClr>
          </a:solidFill>
          <a:ln w="15240">
            <a:solidFill>
              <a:srgbClr val="77C6D3">
                <a:alpha val="42000"/>
              </a:srgbClr>
            </a:solidFill>
            <a:prstDash val="solid"/>
          </a:ln>
        </p:spPr>
        <p:txBody>
          <a:bodyPr/>
          <a:lstStyle/>
          <a:p>
            <a:endParaRPr lang="de-DE"/>
          </a:p>
        </p:txBody>
      </p:sp>
      <p:sp>
        <p:nvSpPr>
          <p:cNvPr id="12" name="Shape 10"/>
          <p:cNvSpPr/>
          <p:nvPr/>
        </p:nvSpPr>
        <p:spPr>
          <a:xfrm>
            <a:off x="9884664" y="2734056"/>
            <a:ext cx="640080" cy="640080"/>
          </a:xfrm>
          <a:prstGeom prst="ellipse">
            <a:avLst/>
          </a:prstGeom>
          <a:solidFill>
            <a:srgbClr val="081D2C"/>
          </a:solidFill>
          <a:ln w="12700">
            <a:solidFill>
              <a:srgbClr val="3B7E95">
                <a:alpha val="65000"/>
              </a:srgbClr>
            </a:solidFill>
            <a:prstDash val="solid"/>
          </a:ln>
        </p:spPr>
        <p:txBody>
          <a:bodyPr/>
          <a:lstStyle/>
          <a:p>
            <a:endParaRPr lang="de-DE"/>
          </a:p>
        </p:txBody>
      </p:sp>
      <p:sp>
        <p:nvSpPr>
          <p:cNvPr id="13" name="Shape 11"/>
          <p:cNvSpPr/>
          <p:nvPr/>
        </p:nvSpPr>
        <p:spPr>
          <a:xfrm>
            <a:off x="10241280" y="4023360"/>
            <a:ext cx="1078992" cy="1078992"/>
          </a:xfrm>
          <a:prstGeom prst="ellipse">
            <a:avLst/>
          </a:prstGeom>
          <a:solidFill>
            <a:srgbClr val="245B73">
              <a:alpha val="84000"/>
            </a:srgbClr>
          </a:solidFill>
          <a:ln w="15240">
            <a:solidFill>
              <a:srgbClr val="77C6D3">
                <a:alpha val="42000"/>
              </a:srgbClr>
            </a:solidFill>
            <a:prstDash val="solid"/>
          </a:ln>
        </p:spPr>
        <p:txBody>
          <a:bodyPr/>
          <a:lstStyle/>
          <a:p>
            <a:endParaRPr lang="de-DE"/>
          </a:p>
        </p:txBody>
      </p:sp>
      <p:sp>
        <p:nvSpPr>
          <p:cNvPr id="14" name="Shape 12"/>
          <p:cNvSpPr/>
          <p:nvPr/>
        </p:nvSpPr>
        <p:spPr>
          <a:xfrm>
            <a:off x="10460736" y="4242816"/>
            <a:ext cx="640080" cy="640080"/>
          </a:xfrm>
          <a:prstGeom prst="ellipse">
            <a:avLst/>
          </a:prstGeom>
          <a:solidFill>
            <a:srgbClr val="081D2C"/>
          </a:solidFill>
          <a:ln w="12700">
            <a:solidFill>
              <a:srgbClr val="3B7E95">
                <a:alpha val="65000"/>
              </a:srgbClr>
            </a:solidFill>
            <a:prstDash val="solid"/>
          </a:ln>
        </p:spPr>
        <p:txBody>
          <a:bodyPr/>
          <a:lstStyle/>
          <a:p>
            <a:endParaRPr lang="de-DE"/>
          </a:p>
        </p:txBody>
      </p:sp>
      <p:sp>
        <p:nvSpPr>
          <p:cNvPr id="16" name="Text 14"/>
          <p:cNvSpPr/>
          <p:nvPr/>
        </p:nvSpPr>
        <p:spPr>
          <a:xfrm>
            <a:off x="640080" y="1234440"/>
            <a:ext cx="6217920" cy="141732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Aptos Display" pitchFamily="34" charset="0"/>
                <a:ea typeface="Aptos Display" pitchFamily="34" charset="-122"/>
                <a:cs typeface="Aptos Display" pitchFamily="34" charset="-120"/>
              </a:rPr>
              <a:t>AI-Based Characterization</a:t>
            </a:r>
            <a:endParaRPr lang="en-US" sz="2800" dirty="0"/>
          </a:p>
          <a:p>
            <a:pPr marL="0" indent="0">
              <a:buNone/>
            </a:pPr>
            <a:r>
              <a:rPr lang="en-US" sz="2800" b="1" dirty="0">
                <a:solidFill>
                  <a:srgbClr val="FFFFFF"/>
                </a:solidFill>
                <a:latin typeface="Aptos Display" pitchFamily="34" charset="0"/>
                <a:ea typeface="Aptos Display" pitchFamily="34" charset="-122"/>
                <a:cs typeface="Aptos Display" pitchFamily="34" charset="-120"/>
              </a:rPr>
              <a:t>of Clinical Alzheimer’s Disease Stages</a:t>
            </a:r>
            <a:endParaRPr lang="en-US" sz="2800" dirty="0"/>
          </a:p>
        </p:txBody>
      </p:sp>
      <p:sp>
        <p:nvSpPr>
          <p:cNvPr id="17" name="Text 15"/>
          <p:cNvSpPr/>
          <p:nvPr/>
        </p:nvSpPr>
        <p:spPr>
          <a:xfrm>
            <a:off x="658368" y="2834640"/>
            <a:ext cx="6035040" cy="685800"/>
          </a:xfrm>
          <a:prstGeom prst="rect">
            <a:avLst/>
          </a:prstGeom>
          <a:noFill/>
          <a:ln/>
        </p:spPr>
        <p:txBody>
          <a:bodyPr wrap="square" lIns="0" tIns="0" rIns="0" bIns="0" rtlCol="0" anchor="ctr">
            <a:normAutofit/>
          </a:bodyPr>
          <a:lstStyle/>
          <a:p>
            <a:pPr marL="0" indent="0">
              <a:buNone/>
            </a:pPr>
            <a:r>
              <a:rPr lang="en-US" sz="1700" dirty="0">
                <a:solidFill>
                  <a:srgbClr val="CDEEF2"/>
                </a:solidFill>
                <a:latin typeface="Aptos" pitchFamily="34" charset="0"/>
                <a:ea typeface="Aptos" pitchFamily="34" charset="-122"/>
                <a:cs typeface="Aptos" pitchFamily="34" charset="-120"/>
              </a:rPr>
              <a:t>from Structural Brain MRI Using Foundation Model Representations</a:t>
            </a:r>
            <a:endParaRPr lang="en-US" sz="1700" dirty="0"/>
          </a:p>
        </p:txBody>
      </p:sp>
      <p:sp>
        <p:nvSpPr>
          <p:cNvPr id="18" name="Shape 16"/>
          <p:cNvSpPr/>
          <p:nvPr/>
        </p:nvSpPr>
        <p:spPr>
          <a:xfrm>
            <a:off x="658368" y="3904488"/>
            <a:ext cx="2148840" cy="274320"/>
          </a:xfrm>
          <a:prstGeom prst="roundRect">
            <a:avLst>
              <a:gd name="adj" fmla="val 43333"/>
            </a:avLst>
          </a:prstGeom>
          <a:solidFill>
            <a:srgbClr val="DFF4F7"/>
          </a:solidFill>
          <a:ln w="12700">
            <a:solidFill>
              <a:srgbClr val="DFF4F7"/>
            </a:solidFill>
            <a:prstDash val="solid"/>
          </a:ln>
        </p:spPr>
        <p:txBody>
          <a:bodyPr/>
          <a:lstStyle/>
          <a:p>
            <a:endParaRPr lang="de-DE"/>
          </a:p>
        </p:txBody>
      </p:sp>
      <p:sp>
        <p:nvSpPr>
          <p:cNvPr id="19" name="Text 17"/>
          <p:cNvSpPr/>
          <p:nvPr/>
        </p:nvSpPr>
        <p:spPr>
          <a:xfrm>
            <a:off x="658368" y="3913632"/>
            <a:ext cx="2148840" cy="237744"/>
          </a:xfrm>
          <a:prstGeom prst="rect">
            <a:avLst/>
          </a:prstGeom>
          <a:noFill/>
          <a:ln/>
        </p:spPr>
        <p:txBody>
          <a:bodyPr wrap="square" lIns="0" tIns="0" rIns="0" bIns="0" rtlCol="0" anchor="ctr">
            <a:normAutofit/>
          </a:bodyPr>
          <a:lstStyle/>
          <a:p>
            <a:pPr marL="0" indent="0" algn="ctr">
              <a:buNone/>
            </a:pPr>
            <a:r>
              <a:rPr lang="en-US" sz="820" b="1" dirty="0">
                <a:solidFill>
                  <a:srgbClr val="14304A"/>
                </a:solidFill>
                <a:latin typeface="Aptos" pitchFamily="34" charset="0"/>
                <a:ea typeface="Aptos" pitchFamily="34" charset="-122"/>
                <a:cs typeface="Aptos" pitchFamily="34" charset="-120"/>
              </a:rPr>
              <a:t>5-MINUTE PROJECT INTRODUCTION</a:t>
            </a:r>
            <a:endParaRPr lang="en-US" sz="820" dirty="0"/>
          </a:p>
        </p:txBody>
      </p:sp>
      <p:sp>
        <p:nvSpPr>
          <p:cNvPr id="20" name="Text 18"/>
          <p:cNvSpPr/>
          <p:nvPr/>
        </p:nvSpPr>
        <p:spPr>
          <a:xfrm>
            <a:off x="658368" y="4590288"/>
            <a:ext cx="4297680" cy="310896"/>
          </a:xfrm>
          <a:prstGeom prst="rect">
            <a:avLst/>
          </a:prstGeom>
          <a:noFill/>
          <a:ln/>
        </p:spPr>
        <p:txBody>
          <a:bodyPr wrap="square" lIns="0" tIns="0" rIns="0" bIns="0" rtlCol="0" anchor="ctr"/>
          <a:lstStyle/>
          <a:p>
            <a:pPr marL="0" indent="0">
              <a:buNone/>
            </a:pPr>
            <a:r>
              <a:rPr lang="en-US" sz="1300" b="1" dirty="0">
                <a:solidFill>
                  <a:srgbClr val="FFFFFF"/>
                </a:solidFill>
              </a:rPr>
              <a:t>Biomedical Engineering Project</a:t>
            </a:r>
            <a:endParaRPr lang="en-US" sz="1300" dirty="0"/>
          </a:p>
        </p:txBody>
      </p:sp>
      <p:sp>
        <p:nvSpPr>
          <p:cNvPr id="21" name="Text 19"/>
          <p:cNvSpPr/>
          <p:nvPr/>
        </p:nvSpPr>
        <p:spPr>
          <a:xfrm>
            <a:off x="658368" y="4956048"/>
            <a:ext cx="6126480" cy="256032"/>
          </a:xfrm>
          <a:prstGeom prst="rect">
            <a:avLst/>
          </a:prstGeom>
          <a:noFill/>
          <a:ln/>
        </p:spPr>
        <p:txBody>
          <a:bodyPr wrap="square" lIns="0" tIns="0" rIns="0" bIns="0" rtlCol="0" anchor="ctr"/>
          <a:lstStyle/>
          <a:p>
            <a:pPr marL="0" indent="0">
              <a:buNone/>
            </a:pPr>
            <a:r>
              <a:rPr lang="en-US" sz="1050" dirty="0">
                <a:solidFill>
                  <a:srgbClr val="B9CDD8"/>
                </a:solidFill>
              </a:rPr>
              <a:t>Structural MRI • Foundation models • Patient-level classification</a:t>
            </a:r>
            <a:endParaRPr lang="en-US" sz="1050" dirty="0"/>
          </a:p>
        </p:txBody>
      </p:sp>
      <p:sp>
        <p:nvSpPr>
          <p:cNvPr id="25" name="Slide Number Placeholder 0"/>
          <p:cNvSpPr>
            <a:spLocks noGrp="1"/>
          </p:cNvSpPr>
          <p:nvPr>
            <p:ph type="sldNum" sz="quarter" idx="4294967295"/>
          </p:nvPr>
        </p:nvSpPr>
        <p:spPr>
          <a:xfrm>
            <a:off x="11841480" y="6601968"/>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5B6B7D"/>
                </a:solidFill>
                <a:latin typeface="Aptos"/>
                <a:ea typeface="Aptos"/>
                <a:cs typeface="Aptos"/>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47472"/>
            <a:ext cx="11064240" cy="429768"/>
          </a:xfrm>
          <a:prstGeom prst="rect">
            <a:avLst/>
          </a:prstGeom>
          <a:noFill/>
          <a:ln/>
        </p:spPr>
        <p:txBody>
          <a:bodyPr wrap="square" lIns="0" tIns="0" rIns="0" bIns="0" rtlCol="0" anchor="ctr"/>
          <a:lstStyle/>
          <a:p>
            <a:pPr marL="0" indent="0">
              <a:buNone/>
            </a:pPr>
            <a:r>
              <a:rPr lang="en-US" sz="2400" b="1" dirty="0">
                <a:solidFill>
                  <a:srgbClr val="14304A"/>
                </a:solidFill>
                <a:latin typeface="Aptos Display" pitchFamily="34" charset="0"/>
                <a:ea typeface="Aptos Display" pitchFamily="34" charset="-122"/>
                <a:cs typeface="Aptos Display" pitchFamily="34" charset="-120"/>
              </a:rPr>
              <a:t>The research question</a:t>
            </a:r>
            <a:endParaRPr lang="en-US" sz="2400" dirty="0"/>
          </a:p>
        </p:txBody>
      </p:sp>
      <p:sp>
        <p:nvSpPr>
          <p:cNvPr id="3" name="Text 1"/>
          <p:cNvSpPr/>
          <p:nvPr/>
        </p:nvSpPr>
        <p:spPr>
          <a:xfrm>
            <a:off x="521208" y="841248"/>
            <a:ext cx="10698480" cy="256032"/>
          </a:xfrm>
          <a:prstGeom prst="rect">
            <a:avLst/>
          </a:prstGeom>
          <a:noFill/>
          <a:ln/>
        </p:spPr>
        <p:txBody>
          <a:bodyPr wrap="square" lIns="0" tIns="0" rIns="0" bIns="0" rtlCol="0" anchor="ctr"/>
          <a:lstStyle/>
          <a:p>
            <a:pPr marL="0" indent="0">
              <a:buNone/>
            </a:pPr>
            <a:r>
              <a:rPr lang="en-US" sz="1050" dirty="0">
                <a:solidFill>
                  <a:srgbClr val="506173"/>
                </a:solidFill>
              </a:rPr>
              <a:t>Can pretrained image representations retain clinically useful information across six study groups?</a:t>
            </a:r>
            <a:endParaRPr lang="en-US" sz="1050" dirty="0"/>
          </a:p>
        </p:txBody>
      </p:sp>
      <p:sp>
        <p:nvSpPr>
          <p:cNvPr id="4" name="Shape 2"/>
          <p:cNvSpPr/>
          <p:nvPr/>
        </p:nvSpPr>
        <p:spPr>
          <a:xfrm>
            <a:off x="530352" y="1261872"/>
            <a:ext cx="5486400" cy="4434840"/>
          </a:xfrm>
          <a:prstGeom prst="roundRect">
            <a:avLst>
              <a:gd name="adj" fmla="val 2474"/>
            </a:avLst>
          </a:prstGeom>
          <a:solidFill>
            <a:srgbClr val="FFFFFF"/>
          </a:solidFill>
          <a:ln w="12700">
            <a:solidFill>
              <a:srgbClr val="D7E0EA"/>
            </a:solidFill>
            <a:prstDash val="solid"/>
          </a:ln>
        </p:spPr>
        <p:txBody>
          <a:bodyPr/>
          <a:lstStyle/>
          <a:p>
            <a:endParaRPr lang="de-DE"/>
          </a:p>
        </p:txBody>
      </p:sp>
      <p:sp>
        <p:nvSpPr>
          <p:cNvPr id="5" name="Shape 3"/>
          <p:cNvSpPr/>
          <p:nvPr/>
        </p:nvSpPr>
        <p:spPr>
          <a:xfrm>
            <a:off x="804672" y="1536192"/>
            <a:ext cx="1335024" cy="274320"/>
          </a:xfrm>
          <a:prstGeom prst="roundRect">
            <a:avLst>
              <a:gd name="adj" fmla="val 43333"/>
            </a:avLst>
          </a:prstGeom>
          <a:solidFill>
            <a:srgbClr val="DFF4F7"/>
          </a:solidFill>
          <a:ln w="12700">
            <a:solidFill>
              <a:srgbClr val="DFF4F7"/>
            </a:solidFill>
            <a:prstDash val="solid"/>
          </a:ln>
        </p:spPr>
        <p:txBody>
          <a:bodyPr/>
          <a:lstStyle/>
          <a:p>
            <a:endParaRPr lang="de-DE"/>
          </a:p>
        </p:txBody>
      </p:sp>
      <p:sp>
        <p:nvSpPr>
          <p:cNvPr id="6" name="Text 4"/>
          <p:cNvSpPr/>
          <p:nvPr/>
        </p:nvSpPr>
        <p:spPr>
          <a:xfrm>
            <a:off x="804672" y="1545336"/>
            <a:ext cx="1335024" cy="237744"/>
          </a:xfrm>
          <a:prstGeom prst="rect">
            <a:avLst/>
          </a:prstGeom>
          <a:noFill/>
          <a:ln/>
        </p:spPr>
        <p:txBody>
          <a:bodyPr wrap="square" lIns="0" tIns="0" rIns="0" bIns="0" rtlCol="0" anchor="ctr">
            <a:normAutofit/>
          </a:bodyPr>
          <a:lstStyle/>
          <a:p>
            <a:pPr marL="0" indent="0" algn="ctr">
              <a:buNone/>
            </a:pPr>
            <a:r>
              <a:rPr lang="en-US" sz="820" b="1" dirty="0">
                <a:solidFill>
                  <a:srgbClr val="0E7490"/>
                </a:solidFill>
                <a:latin typeface="Aptos" pitchFamily="34" charset="0"/>
                <a:ea typeface="Aptos" pitchFamily="34" charset="-122"/>
                <a:cs typeface="Aptos" pitchFamily="34" charset="-120"/>
              </a:rPr>
              <a:t>CORE QUESTION</a:t>
            </a:r>
            <a:endParaRPr lang="en-US" sz="820" dirty="0"/>
          </a:p>
        </p:txBody>
      </p:sp>
      <p:sp>
        <p:nvSpPr>
          <p:cNvPr id="7" name="Text 5"/>
          <p:cNvSpPr/>
          <p:nvPr/>
        </p:nvSpPr>
        <p:spPr>
          <a:xfrm>
            <a:off x="804672" y="1938528"/>
            <a:ext cx="4800600" cy="1920240"/>
          </a:xfrm>
          <a:prstGeom prst="rect">
            <a:avLst/>
          </a:prstGeom>
          <a:noFill/>
          <a:ln/>
        </p:spPr>
        <p:txBody>
          <a:bodyPr wrap="square" lIns="0" tIns="0" rIns="0" bIns="0" rtlCol="0" anchor="ctr">
            <a:normAutofit/>
          </a:bodyPr>
          <a:lstStyle/>
          <a:p>
            <a:pPr marL="0" indent="0" algn="l">
              <a:buNone/>
            </a:pPr>
            <a:r>
              <a:rPr lang="en-US" sz="2200" b="1" dirty="0">
                <a:solidFill>
                  <a:srgbClr val="14304A"/>
                </a:solidFill>
                <a:latin typeface="Aptos" pitchFamily="34" charset="0"/>
                <a:ea typeface="Aptos" pitchFamily="34" charset="-122"/>
                <a:cs typeface="Aptos" pitchFamily="34" charset="-120"/>
              </a:rPr>
              <a:t>Can a foundation model</a:t>
            </a:r>
            <a:endParaRPr lang="en-US" sz="2200" dirty="0"/>
          </a:p>
          <a:p>
            <a:pPr marL="0" indent="0" algn="l">
              <a:buNone/>
            </a:pPr>
            <a:r>
              <a:rPr lang="en-US" sz="2200" b="1" dirty="0">
                <a:solidFill>
                  <a:srgbClr val="14304A"/>
                </a:solidFill>
                <a:latin typeface="Aptos" pitchFamily="34" charset="0"/>
                <a:ea typeface="Aptos" pitchFamily="34" charset="-122"/>
                <a:cs typeface="Aptos" pitchFamily="34" charset="-120"/>
              </a:rPr>
              <a:t>turn a structural MRI slice</a:t>
            </a:r>
            <a:endParaRPr lang="en-US" sz="2200" dirty="0"/>
          </a:p>
          <a:p>
            <a:pPr marL="0" indent="0" algn="l">
              <a:buNone/>
            </a:pPr>
            <a:r>
              <a:rPr lang="en-US" sz="2200" b="1" dirty="0">
                <a:solidFill>
                  <a:srgbClr val="14304A"/>
                </a:solidFill>
                <a:latin typeface="Aptos" pitchFamily="34" charset="0"/>
                <a:ea typeface="Aptos" pitchFamily="34" charset="-122"/>
                <a:cs typeface="Aptos" pitchFamily="34" charset="-120"/>
              </a:rPr>
              <a:t>into a representation that</a:t>
            </a:r>
            <a:endParaRPr lang="en-US" sz="2200" dirty="0"/>
          </a:p>
          <a:p>
            <a:pPr marL="0" indent="0" algn="l">
              <a:buNone/>
            </a:pPr>
            <a:r>
              <a:rPr lang="en-US" sz="2200" b="1" dirty="0">
                <a:solidFill>
                  <a:srgbClr val="14304A"/>
                </a:solidFill>
                <a:latin typeface="Aptos" pitchFamily="34" charset="0"/>
                <a:ea typeface="Aptos" pitchFamily="34" charset="-122"/>
                <a:cs typeface="Aptos" pitchFamily="34" charset="-120"/>
              </a:rPr>
              <a:t>helps separate the six groups?</a:t>
            </a:r>
            <a:endParaRPr lang="en-US" sz="2200" dirty="0"/>
          </a:p>
        </p:txBody>
      </p:sp>
      <p:sp>
        <p:nvSpPr>
          <p:cNvPr id="8" name="Text 6"/>
          <p:cNvSpPr/>
          <p:nvPr/>
        </p:nvSpPr>
        <p:spPr>
          <a:xfrm>
            <a:off x="822960" y="4160520"/>
            <a:ext cx="4663440" cy="749808"/>
          </a:xfrm>
          <a:prstGeom prst="rect">
            <a:avLst/>
          </a:prstGeom>
          <a:noFill/>
          <a:ln/>
        </p:spPr>
        <p:txBody>
          <a:bodyPr wrap="square" lIns="0" tIns="0" rIns="0" bIns="0" rtlCol="0" anchor="ctr">
            <a:normAutofit/>
          </a:bodyPr>
          <a:lstStyle/>
          <a:p>
            <a:pPr marL="0" indent="0" algn="l">
              <a:buNone/>
            </a:pPr>
            <a:r>
              <a:rPr lang="en-US" sz="1150" dirty="0">
                <a:solidFill>
                  <a:srgbClr val="506173"/>
                </a:solidFill>
                <a:latin typeface="Aptos" pitchFamily="34" charset="0"/>
                <a:ea typeface="Aptos" pitchFamily="34" charset="-122"/>
                <a:cs typeface="Aptos" pitchFamily="34" charset="-120"/>
              </a:rPr>
              <a:t>The model is not treated as a diagnostic system.</a:t>
            </a:r>
            <a:endParaRPr lang="en-US" sz="1150" dirty="0"/>
          </a:p>
          <a:p>
            <a:pPr marL="0" indent="0" algn="l">
              <a:buNone/>
            </a:pPr>
            <a:r>
              <a:rPr lang="en-US" sz="1150" dirty="0">
                <a:solidFill>
                  <a:srgbClr val="506173"/>
                </a:solidFill>
                <a:latin typeface="Aptos" pitchFamily="34" charset="0"/>
                <a:ea typeface="Aptos" pitchFamily="34" charset="-122"/>
                <a:cs typeface="Aptos" pitchFamily="34" charset="-120"/>
              </a:rPr>
              <a:t>The study asks whether its learned representation</a:t>
            </a:r>
            <a:endParaRPr lang="en-US" sz="1150" dirty="0"/>
          </a:p>
          <a:p>
            <a:pPr marL="0" indent="0" algn="l">
              <a:buNone/>
            </a:pPr>
            <a:r>
              <a:rPr lang="en-US" sz="1150" dirty="0">
                <a:solidFill>
                  <a:srgbClr val="506173"/>
                </a:solidFill>
                <a:latin typeface="Aptos" pitchFamily="34" charset="0"/>
                <a:ea typeface="Aptos" pitchFamily="34" charset="-122"/>
                <a:cs typeface="Aptos" pitchFamily="34" charset="-120"/>
              </a:rPr>
              <a:t>contains signal relevant to clinical staging.</a:t>
            </a:r>
            <a:endParaRPr lang="en-US" sz="1150" dirty="0"/>
          </a:p>
        </p:txBody>
      </p:sp>
      <p:sp>
        <p:nvSpPr>
          <p:cNvPr id="9" name="Shape 7"/>
          <p:cNvSpPr/>
          <p:nvPr/>
        </p:nvSpPr>
        <p:spPr>
          <a:xfrm>
            <a:off x="6309360" y="1261872"/>
            <a:ext cx="5340096" cy="4434840"/>
          </a:xfrm>
          <a:prstGeom prst="roundRect">
            <a:avLst>
              <a:gd name="adj" fmla="val 2474"/>
            </a:avLst>
          </a:prstGeom>
          <a:solidFill>
            <a:srgbClr val="FDFEFE"/>
          </a:solidFill>
          <a:ln w="12700">
            <a:solidFill>
              <a:srgbClr val="D7E0EA"/>
            </a:solidFill>
            <a:prstDash val="solid"/>
          </a:ln>
        </p:spPr>
        <p:txBody>
          <a:bodyPr/>
          <a:lstStyle/>
          <a:p>
            <a:endParaRPr lang="de-DE"/>
          </a:p>
        </p:txBody>
      </p:sp>
      <p:sp>
        <p:nvSpPr>
          <p:cNvPr id="10" name="Text 8"/>
          <p:cNvSpPr/>
          <p:nvPr/>
        </p:nvSpPr>
        <p:spPr>
          <a:xfrm>
            <a:off x="6620256" y="1554480"/>
            <a:ext cx="2560320" cy="320040"/>
          </a:xfrm>
          <a:prstGeom prst="rect">
            <a:avLst/>
          </a:prstGeom>
          <a:noFill/>
          <a:ln/>
        </p:spPr>
        <p:txBody>
          <a:bodyPr wrap="square" lIns="0" tIns="0" rIns="0" bIns="0" rtlCol="0" anchor="ctr">
            <a:normAutofit/>
          </a:bodyPr>
          <a:lstStyle/>
          <a:p>
            <a:pPr marL="0" indent="0" algn="l">
              <a:buNone/>
            </a:pPr>
            <a:r>
              <a:rPr lang="en-US" sz="1500" b="1" dirty="0">
                <a:solidFill>
                  <a:srgbClr val="14304A"/>
                </a:solidFill>
                <a:latin typeface="Aptos" pitchFamily="34" charset="0"/>
                <a:ea typeface="Aptos" pitchFamily="34" charset="-122"/>
                <a:cs typeface="Aptos" pitchFamily="34" charset="-120"/>
              </a:rPr>
              <a:t>Six study groups</a:t>
            </a:r>
            <a:endParaRPr lang="en-US" sz="1500" dirty="0"/>
          </a:p>
        </p:txBody>
      </p:sp>
      <p:sp>
        <p:nvSpPr>
          <p:cNvPr id="11" name="Shape 9"/>
          <p:cNvSpPr/>
          <p:nvPr/>
        </p:nvSpPr>
        <p:spPr>
          <a:xfrm>
            <a:off x="6629400" y="2029968"/>
            <a:ext cx="2176272" cy="722376"/>
          </a:xfrm>
          <a:prstGeom prst="roundRect">
            <a:avLst>
              <a:gd name="adj" fmla="val 15190"/>
            </a:avLst>
          </a:prstGeom>
          <a:solidFill>
            <a:srgbClr val="FFFFFF"/>
          </a:solidFill>
          <a:ln w="12700">
            <a:solidFill>
              <a:srgbClr val="D7E0EA"/>
            </a:solidFill>
            <a:prstDash val="solid"/>
          </a:ln>
        </p:spPr>
        <p:txBody>
          <a:bodyPr/>
          <a:lstStyle/>
          <a:p>
            <a:endParaRPr lang="de-DE"/>
          </a:p>
        </p:txBody>
      </p:sp>
      <p:sp>
        <p:nvSpPr>
          <p:cNvPr id="12" name="Shape 10"/>
          <p:cNvSpPr/>
          <p:nvPr/>
        </p:nvSpPr>
        <p:spPr>
          <a:xfrm>
            <a:off x="6748272" y="2167128"/>
            <a:ext cx="438912" cy="438912"/>
          </a:xfrm>
          <a:prstGeom prst="ellipse">
            <a:avLst/>
          </a:prstGeom>
          <a:solidFill>
            <a:srgbClr val="C2410C"/>
          </a:solidFill>
          <a:ln w="12700">
            <a:solidFill>
              <a:srgbClr val="C2410C"/>
            </a:solidFill>
            <a:prstDash val="solid"/>
          </a:ln>
        </p:spPr>
        <p:txBody>
          <a:bodyPr/>
          <a:lstStyle/>
          <a:p>
            <a:endParaRPr lang="de-DE"/>
          </a:p>
        </p:txBody>
      </p:sp>
      <p:sp>
        <p:nvSpPr>
          <p:cNvPr id="13" name="Text 11"/>
          <p:cNvSpPr/>
          <p:nvPr/>
        </p:nvSpPr>
        <p:spPr>
          <a:xfrm>
            <a:off x="6748272" y="2176272"/>
            <a:ext cx="438912" cy="393192"/>
          </a:xfrm>
          <a:prstGeom prst="rect">
            <a:avLst/>
          </a:prstGeom>
          <a:noFill/>
          <a:ln/>
        </p:spPr>
        <p:txBody>
          <a:bodyPr wrap="square" lIns="0" tIns="0" rIns="0" bIns="0" rtlCol="0" anchor="ctr">
            <a:normAutofit/>
          </a:bodyPr>
          <a:lstStyle/>
          <a:p>
            <a:pPr marL="0" indent="0" algn="ctr">
              <a:buNone/>
            </a:pPr>
            <a:r>
              <a:rPr lang="en-US" sz="920" b="1" dirty="0">
                <a:solidFill>
                  <a:srgbClr val="FFFFFF"/>
                </a:solidFill>
                <a:latin typeface="Aptos" pitchFamily="34" charset="0"/>
                <a:ea typeface="Aptos" pitchFamily="34" charset="-122"/>
                <a:cs typeface="Aptos" pitchFamily="34" charset="-120"/>
              </a:rPr>
              <a:t>AD</a:t>
            </a:r>
            <a:endParaRPr lang="en-US" sz="920" dirty="0"/>
          </a:p>
        </p:txBody>
      </p:sp>
      <p:sp>
        <p:nvSpPr>
          <p:cNvPr id="14" name="Text 12"/>
          <p:cNvSpPr/>
          <p:nvPr/>
        </p:nvSpPr>
        <p:spPr>
          <a:xfrm>
            <a:off x="7296912" y="2130552"/>
            <a:ext cx="1371600" cy="475488"/>
          </a:xfrm>
          <a:prstGeom prst="rect">
            <a:avLst/>
          </a:prstGeom>
          <a:noFill/>
          <a:ln/>
        </p:spPr>
        <p:txBody>
          <a:bodyPr wrap="square" lIns="0" tIns="0" rIns="0" bIns="0" rtlCol="0" anchor="ctr">
            <a:normAutofit/>
          </a:bodyPr>
          <a:lstStyle/>
          <a:p>
            <a:pPr marL="0" indent="0" algn="l">
              <a:buNone/>
            </a:pPr>
            <a:r>
              <a:rPr lang="en-US" sz="910" b="1" dirty="0">
                <a:solidFill>
                  <a:srgbClr val="172635"/>
                </a:solidFill>
                <a:latin typeface="Aptos" pitchFamily="34" charset="0"/>
                <a:ea typeface="Aptos" pitchFamily="34" charset="-122"/>
                <a:cs typeface="Aptos" pitchFamily="34" charset="-120"/>
              </a:rPr>
              <a:t>Established Alzheimer’s disease</a:t>
            </a:r>
            <a:endParaRPr lang="en-US" sz="910" dirty="0"/>
          </a:p>
        </p:txBody>
      </p:sp>
      <p:sp>
        <p:nvSpPr>
          <p:cNvPr id="15" name="Shape 13"/>
          <p:cNvSpPr/>
          <p:nvPr/>
        </p:nvSpPr>
        <p:spPr>
          <a:xfrm>
            <a:off x="9025128" y="2029968"/>
            <a:ext cx="2176272" cy="722376"/>
          </a:xfrm>
          <a:prstGeom prst="roundRect">
            <a:avLst>
              <a:gd name="adj" fmla="val 15190"/>
            </a:avLst>
          </a:prstGeom>
          <a:solidFill>
            <a:srgbClr val="FFFFFF"/>
          </a:solidFill>
          <a:ln w="12700">
            <a:solidFill>
              <a:srgbClr val="D7E0EA"/>
            </a:solidFill>
            <a:prstDash val="solid"/>
          </a:ln>
        </p:spPr>
        <p:txBody>
          <a:bodyPr/>
          <a:lstStyle/>
          <a:p>
            <a:endParaRPr lang="de-DE"/>
          </a:p>
        </p:txBody>
      </p:sp>
      <p:sp>
        <p:nvSpPr>
          <p:cNvPr id="16" name="Shape 14"/>
          <p:cNvSpPr/>
          <p:nvPr/>
        </p:nvSpPr>
        <p:spPr>
          <a:xfrm>
            <a:off x="9144000" y="2167128"/>
            <a:ext cx="438912" cy="438912"/>
          </a:xfrm>
          <a:prstGeom prst="ellipse">
            <a:avLst/>
          </a:prstGeom>
          <a:solidFill>
            <a:srgbClr val="15803D"/>
          </a:solidFill>
          <a:ln w="12700">
            <a:solidFill>
              <a:srgbClr val="15803D"/>
            </a:solidFill>
            <a:prstDash val="solid"/>
          </a:ln>
        </p:spPr>
        <p:txBody>
          <a:bodyPr/>
          <a:lstStyle/>
          <a:p>
            <a:endParaRPr lang="de-DE"/>
          </a:p>
        </p:txBody>
      </p:sp>
      <p:sp>
        <p:nvSpPr>
          <p:cNvPr id="17" name="Text 15"/>
          <p:cNvSpPr/>
          <p:nvPr/>
        </p:nvSpPr>
        <p:spPr>
          <a:xfrm>
            <a:off x="9144000" y="2176272"/>
            <a:ext cx="438912" cy="393192"/>
          </a:xfrm>
          <a:prstGeom prst="rect">
            <a:avLst/>
          </a:prstGeom>
          <a:noFill/>
          <a:ln/>
        </p:spPr>
        <p:txBody>
          <a:bodyPr wrap="square" lIns="0" tIns="0" rIns="0" bIns="0" rtlCol="0" anchor="ctr">
            <a:normAutofit/>
          </a:bodyPr>
          <a:lstStyle/>
          <a:p>
            <a:pPr marL="0" indent="0" algn="ctr">
              <a:buNone/>
            </a:pPr>
            <a:r>
              <a:rPr lang="en-US" sz="920" b="1" dirty="0">
                <a:solidFill>
                  <a:srgbClr val="FFFFFF"/>
                </a:solidFill>
                <a:latin typeface="Aptos" pitchFamily="34" charset="0"/>
                <a:ea typeface="Aptos" pitchFamily="34" charset="-122"/>
                <a:cs typeface="Aptos" pitchFamily="34" charset="-120"/>
              </a:rPr>
              <a:t>CN</a:t>
            </a:r>
            <a:endParaRPr lang="en-US" sz="920" dirty="0"/>
          </a:p>
        </p:txBody>
      </p:sp>
      <p:sp>
        <p:nvSpPr>
          <p:cNvPr id="18" name="Text 16"/>
          <p:cNvSpPr/>
          <p:nvPr/>
        </p:nvSpPr>
        <p:spPr>
          <a:xfrm>
            <a:off x="9692640" y="2130552"/>
            <a:ext cx="1371600" cy="475488"/>
          </a:xfrm>
          <a:prstGeom prst="rect">
            <a:avLst/>
          </a:prstGeom>
          <a:noFill/>
          <a:ln/>
        </p:spPr>
        <p:txBody>
          <a:bodyPr wrap="square" lIns="0" tIns="0" rIns="0" bIns="0" rtlCol="0" anchor="ctr">
            <a:normAutofit/>
          </a:bodyPr>
          <a:lstStyle/>
          <a:p>
            <a:pPr marL="0" indent="0" algn="l">
              <a:buNone/>
            </a:pPr>
            <a:r>
              <a:rPr lang="en-US" sz="910" b="1" dirty="0">
                <a:solidFill>
                  <a:srgbClr val="172635"/>
                </a:solidFill>
                <a:latin typeface="Aptos" pitchFamily="34" charset="0"/>
                <a:ea typeface="Aptos" pitchFamily="34" charset="-122"/>
                <a:cs typeface="Aptos" pitchFamily="34" charset="-120"/>
              </a:rPr>
              <a:t>Cognitively normal</a:t>
            </a:r>
            <a:endParaRPr lang="en-US" sz="910" dirty="0"/>
          </a:p>
        </p:txBody>
      </p:sp>
      <p:sp>
        <p:nvSpPr>
          <p:cNvPr id="19" name="Shape 17"/>
          <p:cNvSpPr/>
          <p:nvPr/>
        </p:nvSpPr>
        <p:spPr>
          <a:xfrm>
            <a:off x="6629400" y="2962656"/>
            <a:ext cx="2176272" cy="722376"/>
          </a:xfrm>
          <a:prstGeom prst="roundRect">
            <a:avLst>
              <a:gd name="adj" fmla="val 15190"/>
            </a:avLst>
          </a:prstGeom>
          <a:solidFill>
            <a:srgbClr val="FFFFFF"/>
          </a:solidFill>
          <a:ln w="12700">
            <a:solidFill>
              <a:srgbClr val="D7E0EA"/>
            </a:solidFill>
            <a:prstDash val="solid"/>
          </a:ln>
        </p:spPr>
        <p:txBody>
          <a:bodyPr/>
          <a:lstStyle/>
          <a:p>
            <a:endParaRPr lang="de-DE"/>
          </a:p>
        </p:txBody>
      </p:sp>
      <p:sp>
        <p:nvSpPr>
          <p:cNvPr id="20" name="Shape 18"/>
          <p:cNvSpPr/>
          <p:nvPr/>
        </p:nvSpPr>
        <p:spPr>
          <a:xfrm>
            <a:off x="6748272" y="3099816"/>
            <a:ext cx="438912" cy="438912"/>
          </a:xfrm>
          <a:prstGeom prst="ellipse">
            <a:avLst/>
          </a:prstGeom>
          <a:solidFill>
            <a:srgbClr val="2563EB"/>
          </a:solidFill>
          <a:ln w="12700">
            <a:solidFill>
              <a:srgbClr val="2563EB"/>
            </a:solidFill>
            <a:prstDash val="solid"/>
          </a:ln>
        </p:spPr>
        <p:txBody>
          <a:bodyPr/>
          <a:lstStyle/>
          <a:p>
            <a:endParaRPr lang="de-DE"/>
          </a:p>
        </p:txBody>
      </p:sp>
      <p:sp>
        <p:nvSpPr>
          <p:cNvPr id="21" name="Text 19"/>
          <p:cNvSpPr/>
          <p:nvPr/>
        </p:nvSpPr>
        <p:spPr>
          <a:xfrm>
            <a:off x="6748272" y="3108960"/>
            <a:ext cx="438912" cy="393192"/>
          </a:xfrm>
          <a:prstGeom prst="rect">
            <a:avLst/>
          </a:prstGeom>
          <a:noFill/>
          <a:ln/>
        </p:spPr>
        <p:txBody>
          <a:bodyPr wrap="square" lIns="0" tIns="0" rIns="0" bIns="0" rtlCol="0" anchor="ctr">
            <a:normAutofit/>
          </a:bodyPr>
          <a:lstStyle/>
          <a:p>
            <a:pPr marL="0" indent="0" algn="ctr">
              <a:buNone/>
            </a:pPr>
            <a:r>
              <a:rPr lang="en-US" sz="920" b="1" dirty="0">
                <a:solidFill>
                  <a:srgbClr val="FFFFFF"/>
                </a:solidFill>
                <a:latin typeface="Aptos" pitchFamily="34" charset="0"/>
                <a:ea typeface="Aptos" pitchFamily="34" charset="-122"/>
                <a:cs typeface="Aptos" pitchFamily="34" charset="-120"/>
              </a:rPr>
              <a:t>EMCI</a:t>
            </a:r>
            <a:endParaRPr lang="en-US" sz="920" dirty="0"/>
          </a:p>
        </p:txBody>
      </p:sp>
      <p:sp>
        <p:nvSpPr>
          <p:cNvPr id="22" name="Text 20"/>
          <p:cNvSpPr/>
          <p:nvPr/>
        </p:nvSpPr>
        <p:spPr>
          <a:xfrm>
            <a:off x="7296912" y="3063240"/>
            <a:ext cx="1371600" cy="475488"/>
          </a:xfrm>
          <a:prstGeom prst="rect">
            <a:avLst/>
          </a:prstGeom>
          <a:noFill/>
          <a:ln/>
        </p:spPr>
        <p:txBody>
          <a:bodyPr wrap="square" lIns="0" tIns="0" rIns="0" bIns="0" rtlCol="0" anchor="ctr">
            <a:normAutofit/>
          </a:bodyPr>
          <a:lstStyle/>
          <a:p>
            <a:pPr marL="0" indent="0" algn="l">
              <a:buNone/>
            </a:pPr>
            <a:r>
              <a:rPr lang="en-US" sz="910" b="1" dirty="0">
                <a:solidFill>
                  <a:srgbClr val="172635"/>
                </a:solidFill>
                <a:latin typeface="Aptos" pitchFamily="34" charset="0"/>
                <a:ea typeface="Aptos" pitchFamily="34" charset="-122"/>
                <a:cs typeface="Aptos" pitchFamily="34" charset="-120"/>
              </a:rPr>
              <a:t>Early mild cognitive impairment</a:t>
            </a:r>
            <a:endParaRPr lang="en-US" sz="910" dirty="0"/>
          </a:p>
        </p:txBody>
      </p:sp>
      <p:sp>
        <p:nvSpPr>
          <p:cNvPr id="23" name="Shape 21"/>
          <p:cNvSpPr/>
          <p:nvPr/>
        </p:nvSpPr>
        <p:spPr>
          <a:xfrm>
            <a:off x="9025128" y="2962656"/>
            <a:ext cx="2176272" cy="722376"/>
          </a:xfrm>
          <a:prstGeom prst="roundRect">
            <a:avLst>
              <a:gd name="adj" fmla="val 15190"/>
            </a:avLst>
          </a:prstGeom>
          <a:solidFill>
            <a:srgbClr val="FFFFFF"/>
          </a:solidFill>
          <a:ln w="12700">
            <a:solidFill>
              <a:srgbClr val="D7E0EA"/>
            </a:solidFill>
            <a:prstDash val="solid"/>
          </a:ln>
        </p:spPr>
        <p:txBody>
          <a:bodyPr/>
          <a:lstStyle/>
          <a:p>
            <a:endParaRPr lang="de-DE"/>
          </a:p>
        </p:txBody>
      </p:sp>
      <p:sp>
        <p:nvSpPr>
          <p:cNvPr id="24" name="Shape 22"/>
          <p:cNvSpPr/>
          <p:nvPr/>
        </p:nvSpPr>
        <p:spPr>
          <a:xfrm>
            <a:off x="9144000" y="3099816"/>
            <a:ext cx="438912" cy="438912"/>
          </a:xfrm>
          <a:prstGeom prst="ellipse">
            <a:avLst/>
          </a:prstGeom>
          <a:solidFill>
            <a:srgbClr val="6D28D9"/>
          </a:solidFill>
          <a:ln w="12700">
            <a:solidFill>
              <a:srgbClr val="6D28D9"/>
            </a:solidFill>
            <a:prstDash val="solid"/>
          </a:ln>
        </p:spPr>
        <p:txBody>
          <a:bodyPr/>
          <a:lstStyle/>
          <a:p>
            <a:endParaRPr lang="de-DE"/>
          </a:p>
        </p:txBody>
      </p:sp>
      <p:sp>
        <p:nvSpPr>
          <p:cNvPr id="25" name="Text 23"/>
          <p:cNvSpPr/>
          <p:nvPr/>
        </p:nvSpPr>
        <p:spPr>
          <a:xfrm>
            <a:off x="9144000" y="3108960"/>
            <a:ext cx="438912" cy="393192"/>
          </a:xfrm>
          <a:prstGeom prst="rect">
            <a:avLst/>
          </a:prstGeom>
          <a:noFill/>
          <a:ln/>
        </p:spPr>
        <p:txBody>
          <a:bodyPr wrap="square" lIns="0" tIns="0" rIns="0" bIns="0" rtlCol="0" anchor="ctr">
            <a:normAutofit/>
          </a:bodyPr>
          <a:lstStyle/>
          <a:p>
            <a:pPr marL="0" indent="0" algn="ctr">
              <a:buNone/>
            </a:pPr>
            <a:r>
              <a:rPr lang="en-US" sz="920" b="1" dirty="0">
                <a:solidFill>
                  <a:srgbClr val="FFFFFF"/>
                </a:solidFill>
                <a:latin typeface="Aptos" pitchFamily="34" charset="0"/>
                <a:ea typeface="Aptos" pitchFamily="34" charset="-122"/>
                <a:cs typeface="Aptos" pitchFamily="34" charset="-120"/>
              </a:rPr>
              <a:t>LMCI</a:t>
            </a:r>
            <a:endParaRPr lang="en-US" sz="920" dirty="0"/>
          </a:p>
        </p:txBody>
      </p:sp>
      <p:sp>
        <p:nvSpPr>
          <p:cNvPr id="26" name="Text 24"/>
          <p:cNvSpPr/>
          <p:nvPr/>
        </p:nvSpPr>
        <p:spPr>
          <a:xfrm>
            <a:off x="9692640" y="3063240"/>
            <a:ext cx="1371600" cy="475488"/>
          </a:xfrm>
          <a:prstGeom prst="rect">
            <a:avLst/>
          </a:prstGeom>
          <a:noFill/>
          <a:ln/>
        </p:spPr>
        <p:txBody>
          <a:bodyPr wrap="square" lIns="0" tIns="0" rIns="0" bIns="0" rtlCol="0" anchor="ctr">
            <a:normAutofit/>
          </a:bodyPr>
          <a:lstStyle/>
          <a:p>
            <a:pPr marL="0" indent="0" algn="l">
              <a:buNone/>
            </a:pPr>
            <a:r>
              <a:rPr lang="en-US" sz="910" b="1" dirty="0">
                <a:solidFill>
                  <a:srgbClr val="172635"/>
                </a:solidFill>
                <a:latin typeface="Aptos" pitchFamily="34" charset="0"/>
                <a:ea typeface="Aptos" pitchFamily="34" charset="-122"/>
                <a:cs typeface="Aptos" pitchFamily="34" charset="-120"/>
              </a:rPr>
              <a:t>Late mild cognitive impairment</a:t>
            </a:r>
            <a:endParaRPr lang="en-US" sz="910" dirty="0"/>
          </a:p>
        </p:txBody>
      </p:sp>
      <p:sp>
        <p:nvSpPr>
          <p:cNvPr id="27" name="Shape 25"/>
          <p:cNvSpPr/>
          <p:nvPr/>
        </p:nvSpPr>
        <p:spPr>
          <a:xfrm>
            <a:off x="6629400" y="3895344"/>
            <a:ext cx="2176272" cy="722376"/>
          </a:xfrm>
          <a:prstGeom prst="roundRect">
            <a:avLst>
              <a:gd name="adj" fmla="val 15190"/>
            </a:avLst>
          </a:prstGeom>
          <a:solidFill>
            <a:srgbClr val="FFFFFF"/>
          </a:solidFill>
          <a:ln w="12700">
            <a:solidFill>
              <a:srgbClr val="D7E0EA"/>
            </a:solidFill>
            <a:prstDash val="solid"/>
          </a:ln>
        </p:spPr>
        <p:txBody>
          <a:bodyPr/>
          <a:lstStyle/>
          <a:p>
            <a:endParaRPr lang="de-DE"/>
          </a:p>
        </p:txBody>
      </p:sp>
      <p:sp>
        <p:nvSpPr>
          <p:cNvPr id="28" name="Shape 26"/>
          <p:cNvSpPr/>
          <p:nvPr/>
        </p:nvSpPr>
        <p:spPr>
          <a:xfrm>
            <a:off x="6748272" y="4032504"/>
            <a:ext cx="438912" cy="438912"/>
          </a:xfrm>
          <a:prstGeom prst="ellipse">
            <a:avLst/>
          </a:prstGeom>
          <a:solidFill>
            <a:srgbClr val="F59E0B"/>
          </a:solidFill>
          <a:ln w="12700">
            <a:solidFill>
              <a:srgbClr val="F59E0B"/>
            </a:solidFill>
            <a:prstDash val="solid"/>
          </a:ln>
        </p:spPr>
        <p:txBody>
          <a:bodyPr/>
          <a:lstStyle/>
          <a:p>
            <a:endParaRPr lang="de-DE"/>
          </a:p>
        </p:txBody>
      </p:sp>
      <p:sp>
        <p:nvSpPr>
          <p:cNvPr id="29" name="Text 27"/>
          <p:cNvSpPr/>
          <p:nvPr/>
        </p:nvSpPr>
        <p:spPr>
          <a:xfrm>
            <a:off x="6748272" y="4041648"/>
            <a:ext cx="438912" cy="393192"/>
          </a:xfrm>
          <a:prstGeom prst="rect">
            <a:avLst/>
          </a:prstGeom>
          <a:noFill/>
          <a:ln/>
        </p:spPr>
        <p:txBody>
          <a:bodyPr wrap="square" lIns="0" tIns="0" rIns="0" bIns="0" rtlCol="0" anchor="ctr">
            <a:normAutofit/>
          </a:bodyPr>
          <a:lstStyle/>
          <a:p>
            <a:pPr marL="0" indent="0" algn="ctr">
              <a:buNone/>
            </a:pPr>
            <a:r>
              <a:rPr lang="en-US" sz="920" b="1" dirty="0">
                <a:solidFill>
                  <a:srgbClr val="FFFFFF"/>
                </a:solidFill>
                <a:latin typeface="Aptos" pitchFamily="34" charset="0"/>
                <a:ea typeface="Aptos" pitchFamily="34" charset="-122"/>
                <a:cs typeface="Aptos" pitchFamily="34" charset="-120"/>
              </a:rPr>
              <a:t>MCI</a:t>
            </a:r>
            <a:endParaRPr lang="en-US" sz="920" dirty="0"/>
          </a:p>
        </p:txBody>
      </p:sp>
      <p:sp>
        <p:nvSpPr>
          <p:cNvPr id="30" name="Text 28"/>
          <p:cNvSpPr/>
          <p:nvPr/>
        </p:nvSpPr>
        <p:spPr>
          <a:xfrm>
            <a:off x="7296912" y="3995928"/>
            <a:ext cx="1371600" cy="475488"/>
          </a:xfrm>
          <a:prstGeom prst="rect">
            <a:avLst/>
          </a:prstGeom>
          <a:noFill/>
          <a:ln/>
        </p:spPr>
        <p:txBody>
          <a:bodyPr wrap="square" lIns="0" tIns="0" rIns="0" bIns="0" rtlCol="0" anchor="ctr">
            <a:normAutofit/>
          </a:bodyPr>
          <a:lstStyle/>
          <a:p>
            <a:pPr marL="0" indent="0" algn="l">
              <a:buNone/>
            </a:pPr>
            <a:r>
              <a:rPr lang="en-US" sz="910" b="1" dirty="0">
                <a:solidFill>
                  <a:srgbClr val="172635"/>
                </a:solidFill>
                <a:latin typeface="Aptos" pitchFamily="34" charset="0"/>
                <a:ea typeface="Aptos" pitchFamily="34" charset="-122"/>
                <a:cs typeface="Aptos" pitchFamily="34" charset="-120"/>
              </a:rPr>
              <a:t>Mild cognitive impairment</a:t>
            </a:r>
            <a:endParaRPr lang="en-US" sz="910" dirty="0"/>
          </a:p>
        </p:txBody>
      </p:sp>
      <p:sp>
        <p:nvSpPr>
          <p:cNvPr id="31" name="Shape 29"/>
          <p:cNvSpPr/>
          <p:nvPr/>
        </p:nvSpPr>
        <p:spPr>
          <a:xfrm>
            <a:off x="9025128" y="3895344"/>
            <a:ext cx="2176272" cy="722376"/>
          </a:xfrm>
          <a:prstGeom prst="roundRect">
            <a:avLst>
              <a:gd name="adj" fmla="val 15190"/>
            </a:avLst>
          </a:prstGeom>
          <a:solidFill>
            <a:srgbClr val="FFFFFF"/>
          </a:solidFill>
          <a:ln w="12700">
            <a:solidFill>
              <a:srgbClr val="D7E0EA"/>
            </a:solidFill>
            <a:prstDash val="solid"/>
          </a:ln>
        </p:spPr>
        <p:txBody>
          <a:bodyPr/>
          <a:lstStyle/>
          <a:p>
            <a:endParaRPr lang="de-DE"/>
          </a:p>
        </p:txBody>
      </p:sp>
      <p:sp>
        <p:nvSpPr>
          <p:cNvPr id="32" name="Shape 30"/>
          <p:cNvSpPr/>
          <p:nvPr/>
        </p:nvSpPr>
        <p:spPr>
          <a:xfrm>
            <a:off x="9144000" y="4032504"/>
            <a:ext cx="438912" cy="438912"/>
          </a:xfrm>
          <a:prstGeom prst="ellipse">
            <a:avLst/>
          </a:prstGeom>
          <a:solidFill>
            <a:srgbClr val="0E7490"/>
          </a:solidFill>
          <a:ln w="12700">
            <a:solidFill>
              <a:srgbClr val="0E7490"/>
            </a:solidFill>
            <a:prstDash val="solid"/>
          </a:ln>
        </p:spPr>
        <p:txBody>
          <a:bodyPr/>
          <a:lstStyle/>
          <a:p>
            <a:endParaRPr lang="de-DE"/>
          </a:p>
        </p:txBody>
      </p:sp>
      <p:sp>
        <p:nvSpPr>
          <p:cNvPr id="33" name="Text 31"/>
          <p:cNvSpPr/>
          <p:nvPr/>
        </p:nvSpPr>
        <p:spPr>
          <a:xfrm>
            <a:off x="9144000" y="4041648"/>
            <a:ext cx="438912" cy="393192"/>
          </a:xfrm>
          <a:prstGeom prst="rect">
            <a:avLst/>
          </a:prstGeom>
          <a:noFill/>
          <a:ln/>
        </p:spPr>
        <p:txBody>
          <a:bodyPr wrap="square" lIns="0" tIns="0" rIns="0" bIns="0" rtlCol="0" anchor="ctr">
            <a:normAutofit/>
          </a:bodyPr>
          <a:lstStyle/>
          <a:p>
            <a:pPr marL="0" indent="0" algn="ctr">
              <a:buNone/>
            </a:pPr>
            <a:r>
              <a:rPr lang="en-US" sz="920" b="1" dirty="0">
                <a:solidFill>
                  <a:srgbClr val="FFFFFF"/>
                </a:solidFill>
                <a:latin typeface="Aptos" pitchFamily="34" charset="0"/>
                <a:ea typeface="Aptos" pitchFamily="34" charset="-122"/>
                <a:cs typeface="Aptos" pitchFamily="34" charset="-120"/>
              </a:rPr>
              <a:t>SMC</a:t>
            </a:r>
            <a:endParaRPr lang="en-US" sz="920" dirty="0"/>
          </a:p>
        </p:txBody>
      </p:sp>
      <p:sp>
        <p:nvSpPr>
          <p:cNvPr id="34" name="Text 32"/>
          <p:cNvSpPr/>
          <p:nvPr/>
        </p:nvSpPr>
        <p:spPr>
          <a:xfrm>
            <a:off x="9692640" y="3995928"/>
            <a:ext cx="1371600" cy="475488"/>
          </a:xfrm>
          <a:prstGeom prst="rect">
            <a:avLst/>
          </a:prstGeom>
          <a:noFill/>
          <a:ln/>
        </p:spPr>
        <p:txBody>
          <a:bodyPr wrap="square" lIns="0" tIns="0" rIns="0" bIns="0" rtlCol="0" anchor="ctr">
            <a:normAutofit/>
          </a:bodyPr>
          <a:lstStyle/>
          <a:p>
            <a:pPr marL="0" indent="0" algn="l">
              <a:buNone/>
            </a:pPr>
            <a:r>
              <a:rPr lang="en-US" sz="910" b="1" dirty="0">
                <a:solidFill>
                  <a:srgbClr val="172635"/>
                </a:solidFill>
                <a:latin typeface="Aptos" pitchFamily="34" charset="0"/>
                <a:ea typeface="Aptos" pitchFamily="34" charset="-122"/>
                <a:cs typeface="Aptos" pitchFamily="34" charset="-120"/>
              </a:rPr>
              <a:t>Subjective memory concern</a:t>
            </a:r>
            <a:endParaRPr lang="en-US" sz="910" dirty="0"/>
          </a:p>
        </p:txBody>
      </p:sp>
      <p:sp>
        <p:nvSpPr>
          <p:cNvPr id="35" name="Text 33"/>
          <p:cNvSpPr/>
          <p:nvPr/>
        </p:nvSpPr>
        <p:spPr>
          <a:xfrm>
            <a:off x="6629400" y="4965192"/>
            <a:ext cx="4526280" cy="393192"/>
          </a:xfrm>
          <a:prstGeom prst="rect">
            <a:avLst/>
          </a:prstGeom>
          <a:noFill/>
          <a:ln/>
        </p:spPr>
        <p:txBody>
          <a:bodyPr wrap="square" lIns="0" tIns="0" rIns="0" bIns="0" rtlCol="0" anchor="ctr">
            <a:normAutofit/>
          </a:bodyPr>
          <a:lstStyle/>
          <a:p>
            <a:pPr marL="0" indent="0">
              <a:buNone/>
            </a:pPr>
            <a:r>
              <a:rPr lang="en-US" sz="820" i="1" dirty="0">
                <a:solidFill>
                  <a:srgbClr val="718093"/>
                </a:solidFill>
              </a:rPr>
              <a:t>These are study labels, not a claim that the categories form a perfectly linear disease continuum.</a:t>
            </a:r>
            <a:endParaRPr lang="en-US" sz="820" dirty="0"/>
          </a:p>
        </p:txBody>
      </p:sp>
      <p:sp>
        <p:nvSpPr>
          <p:cNvPr id="36" name="Slide Number Placeholder 0"/>
          <p:cNvSpPr>
            <a:spLocks noGrp="1"/>
          </p:cNvSpPr>
          <p:nvPr>
            <p:ph type="sldNum" sz="quarter" idx="4294967295"/>
          </p:nvPr>
        </p:nvSpPr>
        <p:spPr>
          <a:xfrm>
            <a:off x="11841480" y="6601968"/>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5B6B7D"/>
                </a:solidFill>
                <a:latin typeface="Aptos"/>
                <a:ea typeface="Aptos"/>
                <a:cs typeface="Aptos"/>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47472"/>
            <a:ext cx="11064240" cy="429768"/>
          </a:xfrm>
          <a:prstGeom prst="rect">
            <a:avLst/>
          </a:prstGeom>
          <a:noFill/>
          <a:ln/>
        </p:spPr>
        <p:txBody>
          <a:bodyPr wrap="square" lIns="0" tIns="0" rIns="0" bIns="0" rtlCol="0" anchor="ctr"/>
          <a:lstStyle/>
          <a:p>
            <a:pPr marL="0" indent="0">
              <a:buNone/>
            </a:pPr>
            <a:r>
              <a:rPr lang="en-US" sz="2400" b="1" dirty="0">
                <a:solidFill>
                  <a:srgbClr val="14304A"/>
                </a:solidFill>
                <a:latin typeface="Aptos Display" pitchFamily="34" charset="0"/>
                <a:ea typeface="Aptos Display" pitchFamily="34" charset="-122"/>
                <a:cs typeface="Aptos Display" pitchFamily="34" charset="-120"/>
              </a:rPr>
              <a:t>What the data look like</a:t>
            </a:r>
            <a:endParaRPr lang="en-US" sz="2400" dirty="0"/>
          </a:p>
        </p:txBody>
      </p:sp>
      <p:sp>
        <p:nvSpPr>
          <p:cNvPr id="3" name="Text 1"/>
          <p:cNvSpPr/>
          <p:nvPr/>
        </p:nvSpPr>
        <p:spPr>
          <a:xfrm>
            <a:off x="521208" y="841248"/>
            <a:ext cx="10698480" cy="256032"/>
          </a:xfrm>
          <a:prstGeom prst="rect">
            <a:avLst/>
          </a:prstGeom>
          <a:noFill/>
          <a:ln/>
        </p:spPr>
        <p:txBody>
          <a:bodyPr wrap="square" lIns="0" tIns="0" rIns="0" bIns="0" rtlCol="0" anchor="ctr"/>
          <a:lstStyle/>
          <a:p>
            <a:pPr marL="0" indent="0">
              <a:buNone/>
            </a:pPr>
            <a:r>
              <a:rPr lang="en-US" sz="1050" dirty="0">
                <a:solidFill>
                  <a:srgbClr val="506173"/>
                </a:solidFill>
              </a:rPr>
              <a:t>The current dataset is already preprocessed and stored as 2D PNG slices.</a:t>
            </a:r>
            <a:endParaRPr lang="en-US" sz="1050" dirty="0"/>
          </a:p>
        </p:txBody>
      </p:sp>
      <p:sp>
        <p:nvSpPr>
          <p:cNvPr id="4" name="Shape 2"/>
          <p:cNvSpPr/>
          <p:nvPr/>
        </p:nvSpPr>
        <p:spPr>
          <a:xfrm>
            <a:off x="548640" y="1225296"/>
            <a:ext cx="2011680" cy="859536"/>
          </a:xfrm>
          <a:prstGeom prst="roundRect">
            <a:avLst>
              <a:gd name="adj" fmla="val 12766"/>
            </a:avLst>
          </a:prstGeom>
          <a:solidFill>
            <a:srgbClr val="FFFFFF"/>
          </a:solidFill>
          <a:ln w="12700">
            <a:solidFill>
              <a:srgbClr val="D7E0EA"/>
            </a:solidFill>
            <a:prstDash val="solid"/>
          </a:ln>
        </p:spPr>
        <p:txBody>
          <a:bodyPr/>
          <a:lstStyle/>
          <a:p>
            <a:endParaRPr lang="de-DE"/>
          </a:p>
        </p:txBody>
      </p:sp>
      <p:sp>
        <p:nvSpPr>
          <p:cNvPr id="5" name="Text 3"/>
          <p:cNvSpPr/>
          <p:nvPr/>
        </p:nvSpPr>
        <p:spPr>
          <a:xfrm>
            <a:off x="685800" y="1335024"/>
            <a:ext cx="1737360" cy="320040"/>
          </a:xfrm>
          <a:prstGeom prst="rect">
            <a:avLst/>
          </a:prstGeom>
          <a:noFill/>
          <a:ln/>
        </p:spPr>
        <p:txBody>
          <a:bodyPr wrap="square" lIns="0" tIns="0" rIns="0" bIns="0" rtlCol="0" anchor="ctr">
            <a:normAutofit/>
          </a:bodyPr>
          <a:lstStyle/>
          <a:p>
            <a:pPr marL="0" indent="0" algn="ctr">
              <a:buNone/>
            </a:pPr>
            <a:r>
              <a:rPr lang="en-US" sz="2200" b="1" dirty="0">
                <a:solidFill>
                  <a:srgbClr val="14304A"/>
                </a:solidFill>
                <a:latin typeface="Aptos" pitchFamily="34" charset="0"/>
                <a:ea typeface="Aptos" pitchFamily="34" charset="-122"/>
                <a:cs typeface="Aptos" pitchFamily="34" charset="-120"/>
              </a:rPr>
              <a:t>~73k</a:t>
            </a:r>
            <a:endParaRPr lang="en-US" sz="2200" dirty="0"/>
          </a:p>
        </p:txBody>
      </p:sp>
      <p:sp>
        <p:nvSpPr>
          <p:cNvPr id="6" name="Text 4"/>
          <p:cNvSpPr/>
          <p:nvPr/>
        </p:nvSpPr>
        <p:spPr>
          <a:xfrm>
            <a:off x="640080" y="1700784"/>
            <a:ext cx="1828800" cy="201168"/>
          </a:xfrm>
          <a:prstGeom prst="rect">
            <a:avLst/>
          </a:prstGeom>
          <a:noFill/>
          <a:ln/>
        </p:spPr>
        <p:txBody>
          <a:bodyPr wrap="square" lIns="0" tIns="0" rIns="0" bIns="0" rtlCol="0" anchor="ctr">
            <a:normAutofit/>
          </a:bodyPr>
          <a:lstStyle/>
          <a:p>
            <a:pPr marL="0" indent="0" algn="ctr">
              <a:buNone/>
            </a:pPr>
            <a:r>
              <a:rPr lang="en-US" sz="850" dirty="0">
                <a:solidFill>
                  <a:srgbClr val="506173"/>
                </a:solidFill>
                <a:latin typeface="Aptos" pitchFamily="34" charset="0"/>
                <a:ea typeface="Aptos" pitchFamily="34" charset="-122"/>
                <a:cs typeface="Aptos" pitchFamily="34" charset="-120"/>
              </a:rPr>
              <a:t>PNG slices</a:t>
            </a:r>
            <a:endParaRPr lang="en-US" sz="850" dirty="0"/>
          </a:p>
        </p:txBody>
      </p:sp>
      <p:sp>
        <p:nvSpPr>
          <p:cNvPr id="7" name="Shape 5"/>
          <p:cNvSpPr/>
          <p:nvPr/>
        </p:nvSpPr>
        <p:spPr>
          <a:xfrm>
            <a:off x="2724912" y="1225296"/>
            <a:ext cx="2011680" cy="859536"/>
          </a:xfrm>
          <a:prstGeom prst="roundRect">
            <a:avLst>
              <a:gd name="adj" fmla="val 12766"/>
            </a:avLst>
          </a:prstGeom>
          <a:solidFill>
            <a:srgbClr val="E7EFFC"/>
          </a:solidFill>
          <a:ln w="12700">
            <a:solidFill>
              <a:srgbClr val="D7E0EA"/>
            </a:solidFill>
            <a:prstDash val="solid"/>
          </a:ln>
        </p:spPr>
        <p:txBody>
          <a:bodyPr/>
          <a:lstStyle/>
          <a:p>
            <a:endParaRPr lang="de-DE"/>
          </a:p>
        </p:txBody>
      </p:sp>
      <p:sp>
        <p:nvSpPr>
          <p:cNvPr id="8" name="Text 6"/>
          <p:cNvSpPr/>
          <p:nvPr/>
        </p:nvSpPr>
        <p:spPr>
          <a:xfrm>
            <a:off x="2862072" y="1335024"/>
            <a:ext cx="1737360" cy="320040"/>
          </a:xfrm>
          <a:prstGeom prst="rect">
            <a:avLst/>
          </a:prstGeom>
          <a:noFill/>
          <a:ln/>
        </p:spPr>
        <p:txBody>
          <a:bodyPr wrap="square" lIns="0" tIns="0" rIns="0" bIns="0" rtlCol="0" anchor="ctr">
            <a:normAutofit/>
          </a:bodyPr>
          <a:lstStyle/>
          <a:p>
            <a:pPr marL="0" indent="0" algn="ctr">
              <a:buNone/>
            </a:pPr>
            <a:r>
              <a:rPr lang="en-US" sz="2200" b="1" dirty="0">
                <a:solidFill>
                  <a:srgbClr val="14304A"/>
                </a:solidFill>
                <a:latin typeface="Aptos" pitchFamily="34" charset="0"/>
                <a:ea typeface="Aptos" pitchFamily="34" charset="-122"/>
                <a:cs typeface="Aptos" pitchFamily="34" charset="-120"/>
              </a:rPr>
              <a:t>6</a:t>
            </a:r>
            <a:endParaRPr lang="en-US" sz="2200" dirty="0"/>
          </a:p>
        </p:txBody>
      </p:sp>
      <p:sp>
        <p:nvSpPr>
          <p:cNvPr id="9" name="Text 7"/>
          <p:cNvSpPr/>
          <p:nvPr/>
        </p:nvSpPr>
        <p:spPr>
          <a:xfrm>
            <a:off x="2816352" y="1700784"/>
            <a:ext cx="1828800" cy="201168"/>
          </a:xfrm>
          <a:prstGeom prst="rect">
            <a:avLst/>
          </a:prstGeom>
          <a:noFill/>
          <a:ln/>
        </p:spPr>
        <p:txBody>
          <a:bodyPr wrap="square" lIns="0" tIns="0" rIns="0" bIns="0" rtlCol="0" anchor="ctr">
            <a:normAutofit/>
          </a:bodyPr>
          <a:lstStyle/>
          <a:p>
            <a:pPr marL="0" indent="0" algn="ctr">
              <a:buNone/>
            </a:pPr>
            <a:r>
              <a:rPr lang="en-US" sz="850" dirty="0">
                <a:solidFill>
                  <a:srgbClr val="506173"/>
                </a:solidFill>
                <a:latin typeface="Aptos" pitchFamily="34" charset="0"/>
                <a:ea typeface="Aptos" pitchFamily="34" charset="-122"/>
                <a:cs typeface="Aptos" pitchFamily="34" charset="-120"/>
              </a:rPr>
              <a:t>study groups</a:t>
            </a:r>
            <a:endParaRPr lang="en-US" sz="850" dirty="0"/>
          </a:p>
        </p:txBody>
      </p:sp>
      <p:sp>
        <p:nvSpPr>
          <p:cNvPr id="10" name="Shape 8"/>
          <p:cNvSpPr/>
          <p:nvPr/>
        </p:nvSpPr>
        <p:spPr>
          <a:xfrm>
            <a:off x="4901184" y="1225296"/>
            <a:ext cx="2011680" cy="859536"/>
          </a:xfrm>
          <a:prstGeom prst="roundRect">
            <a:avLst>
              <a:gd name="adj" fmla="val 12766"/>
            </a:avLst>
          </a:prstGeom>
          <a:solidFill>
            <a:srgbClr val="DFF4F7"/>
          </a:solidFill>
          <a:ln w="12700">
            <a:solidFill>
              <a:srgbClr val="D7E0EA"/>
            </a:solidFill>
            <a:prstDash val="solid"/>
          </a:ln>
        </p:spPr>
        <p:txBody>
          <a:bodyPr/>
          <a:lstStyle/>
          <a:p>
            <a:endParaRPr lang="de-DE"/>
          </a:p>
        </p:txBody>
      </p:sp>
      <p:sp>
        <p:nvSpPr>
          <p:cNvPr id="11" name="Text 9"/>
          <p:cNvSpPr/>
          <p:nvPr/>
        </p:nvSpPr>
        <p:spPr>
          <a:xfrm>
            <a:off x="5038344" y="1335024"/>
            <a:ext cx="1737360" cy="320040"/>
          </a:xfrm>
          <a:prstGeom prst="rect">
            <a:avLst/>
          </a:prstGeom>
          <a:noFill/>
          <a:ln/>
        </p:spPr>
        <p:txBody>
          <a:bodyPr wrap="square" lIns="0" tIns="0" rIns="0" bIns="0" rtlCol="0" anchor="ctr">
            <a:normAutofit/>
          </a:bodyPr>
          <a:lstStyle/>
          <a:p>
            <a:pPr marL="0" indent="0" algn="ctr">
              <a:buNone/>
            </a:pPr>
            <a:r>
              <a:rPr lang="en-US" sz="2200" b="1" dirty="0">
                <a:solidFill>
                  <a:srgbClr val="14304A"/>
                </a:solidFill>
                <a:latin typeface="Aptos" pitchFamily="34" charset="0"/>
                <a:ea typeface="Aptos" pitchFamily="34" charset="-122"/>
                <a:cs typeface="Aptos" pitchFamily="34" charset="-120"/>
              </a:rPr>
              <a:t>3</a:t>
            </a:r>
            <a:endParaRPr lang="en-US" sz="2200" dirty="0"/>
          </a:p>
        </p:txBody>
      </p:sp>
      <p:sp>
        <p:nvSpPr>
          <p:cNvPr id="12" name="Text 10"/>
          <p:cNvSpPr/>
          <p:nvPr/>
        </p:nvSpPr>
        <p:spPr>
          <a:xfrm>
            <a:off x="4992624" y="1700784"/>
            <a:ext cx="1828800" cy="201168"/>
          </a:xfrm>
          <a:prstGeom prst="rect">
            <a:avLst/>
          </a:prstGeom>
          <a:noFill/>
          <a:ln/>
        </p:spPr>
        <p:txBody>
          <a:bodyPr wrap="square" lIns="0" tIns="0" rIns="0" bIns="0" rtlCol="0" anchor="ctr">
            <a:normAutofit/>
          </a:bodyPr>
          <a:lstStyle/>
          <a:p>
            <a:pPr marL="0" indent="0" algn="ctr">
              <a:buNone/>
            </a:pPr>
            <a:r>
              <a:rPr lang="en-US" sz="850" dirty="0">
                <a:solidFill>
                  <a:srgbClr val="506173"/>
                </a:solidFill>
                <a:latin typeface="Aptos" pitchFamily="34" charset="0"/>
                <a:ea typeface="Aptos" pitchFamily="34" charset="-122"/>
                <a:cs typeface="Aptos" pitchFamily="34" charset="-120"/>
              </a:rPr>
              <a:t>planes: axial • coronal • sagittal</a:t>
            </a:r>
            <a:endParaRPr lang="en-US" sz="850" dirty="0"/>
          </a:p>
        </p:txBody>
      </p:sp>
      <p:sp>
        <p:nvSpPr>
          <p:cNvPr id="13" name="Shape 11"/>
          <p:cNvSpPr/>
          <p:nvPr/>
        </p:nvSpPr>
        <p:spPr>
          <a:xfrm>
            <a:off x="7077456" y="1225296"/>
            <a:ext cx="2011680" cy="859536"/>
          </a:xfrm>
          <a:prstGeom prst="roundRect">
            <a:avLst>
              <a:gd name="adj" fmla="val 12766"/>
            </a:avLst>
          </a:prstGeom>
          <a:solidFill>
            <a:srgbClr val="FFF4D6"/>
          </a:solidFill>
          <a:ln w="12700">
            <a:solidFill>
              <a:srgbClr val="D7E0EA"/>
            </a:solidFill>
            <a:prstDash val="solid"/>
          </a:ln>
        </p:spPr>
        <p:txBody>
          <a:bodyPr/>
          <a:lstStyle/>
          <a:p>
            <a:endParaRPr lang="de-DE"/>
          </a:p>
        </p:txBody>
      </p:sp>
      <p:sp>
        <p:nvSpPr>
          <p:cNvPr id="14" name="Text 12"/>
          <p:cNvSpPr/>
          <p:nvPr/>
        </p:nvSpPr>
        <p:spPr>
          <a:xfrm>
            <a:off x="7214616" y="1335024"/>
            <a:ext cx="1737360" cy="320040"/>
          </a:xfrm>
          <a:prstGeom prst="rect">
            <a:avLst/>
          </a:prstGeom>
          <a:noFill/>
          <a:ln/>
        </p:spPr>
        <p:txBody>
          <a:bodyPr wrap="square" lIns="0" tIns="0" rIns="0" bIns="0" rtlCol="0" anchor="ctr">
            <a:normAutofit/>
          </a:bodyPr>
          <a:lstStyle/>
          <a:p>
            <a:pPr marL="0" indent="0" algn="ctr">
              <a:buNone/>
            </a:pPr>
            <a:r>
              <a:rPr lang="en-US" sz="2200" b="1" dirty="0">
                <a:solidFill>
                  <a:srgbClr val="14304A"/>
                </a:solidFill>
                <a:latin typeface="Aptos" pitchFamily="34" charset="0"/>
                <a:ea typeface="Aptos" pitchFamily="34" charset="-122"/>
                <a:cs typeface="Aptos" pitchFamily="34" charset="-120"/>
              </a:rPr>
              <a:t>1</a:t>
            </a:r>
            <a:endParaRPr lang="en-US" sz="2200" dirty="0"/>
          </a:p>
        </p:txBody>
      </p:sp>
      <p:sp>
        <p:nvSpPr>
          <p:cNvPr id="15" name="Text 13"/>
          <p:cNvSpPr/>
          <p:nvPr/>
        </p:nvSpPr>
        <p:spPr>
          <a:xfrm>
            <a:off x="7168896" y="1700784"/>
            <a:ext cx="1828800" cy="201168"/>
          </a:xfrm>
          <a:prstGeom prst="rect">
            <a:avLst/>
          </a:prstGeom>
          <a:noFill/>
          <a:ln/>
        </p:spPr>
        <p:txBody>
          <a:bodyPr wrap="square" lIns="0" tIns="0" rIns="0" bIns="0" rtlCol="0" anchor="ctr">
            <a:normAutofit/>
          </a:bodyPr>
          <a:lstStyle/>
          <a:p>
            <a:pPr marL="0" indent="0" algn="ctr">
              <a:buNone/>
            </a:pPr>
            <a:r>
              <a:rPr lang="en-US" sz="850" dirty="0">
                <a:solidFill>
                  <a:srgbClr val="506173"/>
                </a:solidFill>
                <a:latin typeface="Aptos" pitchFamily="34" charset="0"/>
                <a:ea typeface="Aptos" pitchFamily="34" charset="-122"/>
                <a:cs typeface="Aptos" pitchFamily="34" charset="-120"/>
              </a:rPr>
              <a:t>diagnosis per patient</a:t>
            </a:r>
            <a:endParaRPr lang="en-US" sz="850" dirty="0"/>
          </a:p>
        </p:txBody>
      </p:sp>
      <p:sp>
        <p:nvSpPr>
          <p:cNvPr id="16" name="Shape 14"/>
          <p:cNvSpPr/>
          <p:nvPr/>
        </p:nvSpPr>
        <p:spPr>
          <a:xfrm>
            <a:off x="548640" y="2404872"/>
            <a:ext cx="6400800" cy="3566160"/>
          </a:xfrm>
          <a:prstGeom prst="roundRect">
            <a:avLst>
              <a:gd name="adj" fmla="val 3077"/>
            </a:avLst>
          </a:prstGeom>
          <a:solidFill>
            <a:srgbClr val="FFFFFF"/>
          </a:solidFill>
          <a:ln w="12700">
            <a:solidFill>
              <a:srgbClr val="D7E0EA"/>
            </a:solidFill>
            <a:prstDash val="solid"/>
          </a:ln>
        </p:spPr>
        <p:txBody>
          <a:bodyPr/>
          <a:lstStyle/>
          <a:p>
            <a:endParaRPr lang="de-DE"/>
          </a:p>
        </p:txBody>
      </p:sp>
      <p:sp>
        <p:nvSpPr>
          <p:cNvPr id="17" name="Text 15"/>
          <p:cNvSpPr/>
          <p:nvPr/>
        </p:nvSpPr>
        <p:spPr>
          <a:xfrm>
            <a:off x="813816" y="2660904"/>
            <a:ext cx="3383280" cy="320040"/>
          </a:xfrm>
          <a:prstGeom prst="rect">
            <a:avLst/>
          </a:prstGeom>
          <a:noFill/>
          <a:ln/>
        </p:spPr>
        <p:txBody>
          <a:bodyPr wrap="square" lIns="0" tIns="0" rIns="0" bIns="0" rtlCol="0" anchor="ctr">
            <a:normAutofit/>
          </a:bodyPr>
          <a:lstStyle/>
          <a:p>
            <a:pPr marL="0" indent="0" algn="l">
              <a:buNone/>
            </a:pPr>
            <a:r>
              <a:rPr lang="en-US" sz="1500" b="1" dirty="0">
                <a:solidFill>
                  <a:srgbClr val="14304A"/>
                </a:solidFill>
                <a:latin typeface="Aptos" pitchFamily="34" charset="0"/>
                <a:ea typeface="Aptos" pitchFamily="34" charset="-122"/>
                <a:cs typeface="Aptos" pitchFamily="34" charset="-120"/>
              </a:rPr>
              <a:t>How the files are organized</a:t>
            </a:r>
            <a:endParaRPr lang="en-US" sz="1500" dirty="0"/>
          </a:p>
        </p:txBody>
      </p:sp>
      <p:sp>
        <p:nvSpPr>
          <p:cNvPr id="18" name="Shape 16"/>
          <p:cNvSpPr/>
          <p:nvPr/>
        </p:nvSpPr>
        <p:spPr>
          <a:xfrm>
            <a:off x="859536" y="3172968"/>
            <a:ext cx="987552" cy="502920"/>
          </a:xfrm>
          <a:prstGeom prst="roundRect">
            <a:avLst>
              <a:gd name="adj" fmla="val 21818"/>
            </a:avLst>
          </a:prstGeom>
          <a:solidFill>
            <a:srgbClr val="14304A"/>
          </a:solidFill>
          <a:ln w="12700">
            <a:solidFill>
              <a:srgbClr val="14304A"/>
            </a:solidFill>
            <a:prstDash val="solid"/>
          </a:ln>
        </p:spPr>
        <p:txBody>
          <a:bodyPr/>
          <a:lstStyle/>
          <a:p>
            <a:endParaRPr lang="de-DE"/>
          </a:p>
        </p:txBody>
      </p:sp>
      <p:sp>
        <p:nvSpPr>
          <p:cNvPr id="19" name="Text 17"/>
          <p:cNvSpPr/>
          <p:nvPr/>
        </p:nvSpPr>
        <p:spPr>
          <a:xfrm>
            <a:off x="859536" y="3273552"/>
            <a:ext cx="987552" cy="210312"/>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CLASS</a:t>
            </a:r>
            <a:endParaRPr lang="en-US" sz="900" dirty="0"/>
          </a:p>
        </p:txBody>
      </p:sp>
      <p:sp>
        <p:nvSpPr>
          <p:cNvPr id="20" name="Shape 18"/>
          <p:cNvSpPr/>
          <p:nvPr/>
        </p:nvSpPr>
        <p:spPr>
          <a:xfrm>
            <a:off x="1856232" y="3429000"/>
            <a:ext cx="566928" cy="0"/>
          </a:xfrm>
          <a:prstGeom prst="line">
            <a:avLst/>
          </a:prstGeom>
          <a:noFill/>
          <a:ln w="25400">
            <a:solidFill>
              <a:srgbClr val="0E7490"/>
            </a:solidFill>
            <a:prstDash val="solid"/>
            <a:headEnd type="none"/>
            <a:tailEnd type="triangle"/>
          </a:ln>
        </p:spPr>
        <p:txBody>
          <a:bodyPr/>
          <a:lstStyle/>
          <a:p>
            <a:endParaRPr lang="de-DE"/>
          </a:p>
        </p:txBody>
      </p:sp>
      <p:sp>
        <p:nvSpPr>
          <p:cNvPr id="21" name="Shape 19"/>
          <p:cNvSpPr/>
          <p:nvPr/>
        </p:nvSpPr>
        <p:spPr>
          <a:xfrm>
            <a:off x="2441448" y="3177540"/>
            <a:ext cx="1234440" cy="502920"/>
          </a:xfrm>
          <a:prstGeom prst="roundRect">
            <a:avLst>
              <a:gd name="adj" fmla="val 21818"/>
            </a:avLst>
          </a:prstGeom>
          <a:solidFill>
            <a:srgbClr val="DFF4F7"/>
          </a:solidFill>
          <a:ln w="12700">
            <a:solidFill>
              <a:srgbClr val="D7E0EA"/>
            </a:solidFill>
            <a:prstDash val="solid"/>
          </a:ln>
        </p:spPr>
        <p:txBody>
          <a:bodyPr/>
          <a:lstStyle/>
          <a:p>
            <a:endParaRPr lang="de-DE"/>
          </a:p>
        </p:txBody>
      </p:sp>
      <p:sp>
        <p:nvSpPr>
          <p:cNvPr id="22" name="Text 20"/>
          <p:cNvSpPr/>
          <p:nvPr/>
        </p:nvSpPr>
        <p:spPr>
          <a:xfrm>
            <a:off x="2427732" y="3329093"/>
            <a:ext cx="1234440" cy="210312"/>
          </a:xfrm>
          <a:prstGeom prst="rect">
            <a:avLst/>
          </a:prstGeom>
          <a:noFill/>
          <a:ln/>
        </p:spPr>
        <p:txBody>
          <a:bodyPr wrap="square" lIns="0" tIns="0" rIns="0" bIns="0" rtlCol="0" anchor="ctr">
            <a:normAutofit/>
          </a:bodyPr>
          <a:lstStyle/>
          <a:p>
            <a:pPr marL="0" indent="0" algn="ctr">
              <a:buNone/>
            </a:pPr>
            <a:r>
              <a:rPr lang="en-US" sz="900" b="1" dirty="0">
                <a:solidFill>
                  <a:srgbClr val="0E7490"/>
                </a:solidFill>
                <a:latin typeface="Aptos" pitchFamily="34" charset="0"/>
                <a:ea typeface="Aptos" pitchFamily="34" charset="-122"/>
                <a:cs typeface="Aptos" pitchFamily="34" charset="-120"/>
              </a:rPr>
              <a:t>PATIENT</a:t>
            </a:r>
            <a:endParaRPr lang="en-US" sz="900" dirty="0"/>
          </a:p>
        </p:txBody>
      </p:sp>
      <p:sp>
        <p:nvSpPr>
          <p:cNvPr id="23" name="Shape 21"/>
          <p:cNvSpPr/>
          <p:nvPr/>
        </p:nvSpPr>
        <p:spPr>
          <a:xfrm>
            <a:off x="3694176" y="3429000"/>
            <a:ext cx="566928" cy="0"/>
          </a:xfrm>
          <a:prstGeom prst="line">
            <a:avLst/>
          </a:prstGeom>
          <a:noFill/>
          <a:ln w="25400">
            <a:solidFill>
              <a:srgbClr val="0E7490"/>
            </a:solidFill>
            <a:prstDash val="solid"/>
            <a:headEnd type="none"/>
            <a:tailEnd type="triangle"/>
          </a:ln>
        </p:spPr>
        <p:txBody>
          <a:bodyPr/>
          <a:lstStyle/>
          <a:p>
            <a:endParaRPr lang="de-DE"/>
          </a:p>
        </p:txBody>
      </p:sp>
      <p:sp>
        <p:nvSpPr>
          <p:cNvPr id="24" name="Shape 22"/>
          <p:cNvSpPr/>
          <p:nvPr/>
        </p:nvSpPr>
        <p:spPr>
          <a:xfrm>
            <a:off x="4297680" y="2907792"/>
            <a:ext cx="1207008" cy="502920"/>
          </a:xfrm>
          <a:prstGeom prst="roundRect">
            <a:avLst>
              <a:gd name="adj" fmla="val 21818"/>
            </a:avLst>
          </a:prstGeom>
          <a:solidFill>
            <a:srgbClr val="E7EFFC"/>
          </a:solidFill>
          <a:ln w="12700">
            <a:solidFill>
              <a:srgbClr val="D7E0EA"/>
            </a:solidFill>
            <a:prstDash val="solid"/>
          </a:ln>
        </p:spPr>
        <p:txBody>
          <a:bodyPr/>
          <a:lstStyle/>
          <a:p>
            <a:endParaRPr lang="de-DE"/>
          </a:p>
        </p:txBody>
      </p:sp>
      <p:sp>
        <p:nvSpPr>
          <p:cNvPr id="25" name="Text 23"/>
          <p:cNvSpPr/>
          <p:nvPr/>
        </p:nvSpPr>
        <p:spPr>
          <a:xfrm>
            <a:off x="4297680" y="3008376"/>
            <a:ext cx="1207008" cy="210312"/>
          </a:xfrm>
          <a:prstGeom prst="rect">
            <a:avLst/>
          </a:prstGeom>
          <a:noFill/>
          <a:ln/>
        </p:spPr>
        <p:txBody>
          <a:bodyPr wrap="square" lIns="0" tIns="0" rIns="0" bIns="0" rtlCol="0" anchor="ctr">
            <a:normAutofit/>
          </a:bodyPr>
          <a:lstStyle/>
          <a:p>
            <a:pPr marL="0" indent="0" algn="ctr">
              <a:buNone/>
            </a:pPr>
            <a:r>
              <a:rPr lang="en-US" sz="900" b="1" dirty="0">
                <a:solidFill>
                  <a:srgbClr val="2563EB"/>
                </a:solidFill>
                <a:latin typeface="Aptos" pitchFamily="34" charset="0"/>
                <a:ea typeface="Aptos" pitchFamily="34" charset="-122"/>
                <a:cs typeface="Aptos" pitchFamily="34" charset="-120"/>
              </a:rPr>
              <a:t>SLICE</a:t>
            </a:r>
            <a:endParaRPr lang="en-US" sz="900" dirty="0"/>
          </a:p>
        </p:txBody>
      </p:sp>
      <p:sp>
        <p:nvSpPr>
          <p:cNvPr id="26" name="Shape 24"/>
          <p:cNvSpPr/>
          <p:nvPr/>
        </p:nvSpPr>
        <p:spPr>
          <a:xfrm>
            <a:off x="4919472" y="3410712"/>
            <a:ext cx="585216" cy="658368"/>
          </a:xfrm>
          <a:prstGeom prst="line">
            <a:avLst/>
          </a:prstGeom>
          <a:noFill/>
          <a:ln w="19050">
            <a:solidFill>
              <a:srgbClr val="0E7490"/>
            </a:solidFill>
            <a:prstDash val="solid"/>
            <a:headEnd type="none"/>
            <a:tailEnd type="triangle"/>
          </a:ln>
        </p:spPr>
        <p:txBody>
          <a:bodyPr/>
          <a:lstStyle/>
          <a:p>
            <a:endParaRPr lang="de-DE"/>
          </a:p>
        </p:txBody>
      </p:sp>
      <p:sp>
        <p:nvSpPr>
          <p:cNvPr id="27" name="Shape 25"/>
          <p:cNvSpPr/>
          <p:nvPr/>
        </p:nvSpPr>
        <p:spPr>
          <a:xfrm>
            <a:off x="4919472" y="3410712"/>
            <a:ext cx="585216" cy="0"/>
          </a:xfrm>
          <a:prstGeom prst="line">
            <a:avLst/>
          </a:prstGeom>
          <a:noFill/>
          <a:ln w="19050">
            <a:solidFill>
              <a:srgbClr val="0E7490"/>
            </a:solidFill>
            <a:prstDash val="solid"/>
            <a:headEnd type="none"/>
            <a:tailEnd type="triangle"/>
          </a:ln>
        </p:spPr>
        <p:txBody>
          <a:bodyPr/>
          <a:lstStyle/>
          <a:p>
            <a:endParaRPr lang="de-DE"/>
          </a:p>
        </p:txBody>
      </p:sp>
      <p:sp>
        <p:nvSpPr>
          <p:cNvPr id="28" name="Shape 26"/>
          <p:cNvSpPr/>
          <p:nvPr/>
        </p:nvSpPr>
        <p:spPr>
          <a:xfrm>
            <a:off x="5532120" y="2441448"/>
            <a:ext cx="1033272" cy="457200"/>
          </a:xfrm>
          <a:prstGeom prst="roundRect">
            <a:avLst>
              <a:gd name="adj" fmla="val 24000"/>
            </a:avLst>
          </a:prstGeom>
          <a:solidFill>
            <a:srgbClr val="F3F5F7"/>
          </a:solidFill>
          <a:ln w="12700">
            <a:solidFill>
              <a:srgbClr val="D7E0EA"/>
            </a:solidFill>
            <a:prstDash val="solid"/>
          </a:ln>
        </p:spPr>
        <p:txBody>
          <a:bodyPr/>
          <a:lstStyle/>
          <a:p>
            <a:endParaRPr lang="de-DE"/>
          </a:p>
        </p:txBody>
      </p:sp>
      <p:sp>
        <p:nvSpPr>
          <p:cNvPr id="29" name="Text 27"/>
          <p:cNvSpPr/>
          <p:nvPr/>
        </p:nvSpPr>
        <p:spPr>
          <a:xfrm>
            <a:off x="5532120" y="2532888"/>
            <a:ext cx="1033272" cy="164592"/>
          </a:xfrm>
          <a:prstGeom prst="rect">
            <a:avLst/>
          </a:prstGeom>
          <a:noFill/>
          <a:ln/>
        </p:spPr>
        <p:txBody>
          <a:bodyPr wrap="square" lIns="0" tIns="0" rIns="0" bIns="0" rtlCol="0" anchor="ctr">
            <a:normAutofit/>
          </a:bodyPr>
          <a:lstStyle/>
          <a:p>
            <a:pPr marL="0" indent="0" algn="ctr">
              <a:buNone/>
            </a:pPr>
            <a:r>
              <a:rPr lang="en-US" sz="820" b="1" dirty="0">
                <a:solidFill>
                  <a:srgbClr val="506173"/>
                </a:solidFill>
                <a:latin typeface="Aptos" pitchFamily="34" charset="0"/>
                <a:ea typeface="Aptos" pitchFamily="34" charset="-122"/>
                <a:cs typeface="Aptos" pitchFamily="34" charset="-120"/>
              </a:rPr>
              <a:t>sagittal</a:t>
            </a:r>
            <a:endParaRPr lang="en-US" sz="820" dirty="0"/>
          </a:p>
        </p:txBody>
      </p:sp>
      <p:sp>
        <p:nvSpPr>
          <p:cNvPr id="30" name="Shape 28"/>
          <p:cNvSpPr/>
          <p:nvPr/>
        </p:nvSpPr>
        <p:spPr>
          <a:xfrm>
            <a:off x="5532120" y="3904488"/>
            <a:ext cx="1033272" cy="457200"/>
          </a:xfrm>
          <a:prstGeom prst="roundRect">
            <a:avLst>
              <a:gd name="adj" fmla="val 24000"/>
            </a:avLst>
          </a:prstGeom>
          <a:solidFill>
            <a:srgbClr val="F3F5F7"/>
          </a:solidFill>
          <a:ln w="12700">
            <a:solidFill>
              <a:srgbClr val="D7E0EA"/>
            </a:solidFill>
            <a:prstDash val="solid"/>
          </a:ln>
        </p:spPr>
        <p:txBody>
          <a:bodyPr/>
          <a:lstStyle/>
          <a:p>
            <a:endParaRPr lang="de-DE"/>
          </a:p>
        </p:txBody>
      </p:sp>
      <p:sp>
        <p:nvSpPr>
          <p:cNvPr id="31" name="Text 29"/>
          <p:cNvSpPr/>
          <p:nvPr/>
        </p:nvSpPr>
        <p:spPr>
          <a:xfrm>
            <a:off x="5532120" y="3995928"/>
            <a:ext cx="1033272" cy="164592"/>
          </a:xfrm>
          <a:prstGeom prst="rect">
            <a:avLst/>
          </a:prstGeom>
          <a:noFill/>
          <a:ln/>
        </p:spPr>
        <p:txBody>
          <a:bodyPr wrap="square" lIns="0" tIns="0" rIns="0" bIns="0" rtlCol="0" anchor="ctr">
            <a:normAutofit/>
          </a:bodyPr>
          <a:lstStyle/>
          <a:p>
            <a:pPr marL="0" indent="0" algn="ctr">
              <a:buNone/>
            </a:pPr>
            <a:r>
              <a:rPr lang="en-US" sz="820" b="1" dirty="0">
                <a:solidFill>
                  <a:srgbClr val="506173"/>
                </a:solidFill>
                <a:latin typeface="Aptos" pitchFamily="34" charset="0"/>
                <a:ea typeface="Aptos" pitchFamily="34" charset="-122"/>
                <a:cs typeface="Aptos" pitchFamily="34" charset="-120"/>
              </a:rPr>
              <a:t>axial</a:t>
            </a:r>
            <a:endParaRPr lang="en-US" sz="820" dirty="0"/>
          </a:p>
        </p:txBody>
      </p:sp>
      <p:sp>
        <p:nvSpPr>
          <p:cNvPr id="32" name="Shape 30"/>
          <p:cNvSpPr/>
          <p:nvPr/>
        </p:nvSpPr>
        <p:spPr>
          <a:xfrm>
            <a:off x="4471416" y="4443984"/>
            <a:ext cx="1417320" cy="457200"/>
          </a:xfrm>
          <a:prstGeom prst="roundRect">
            <a:avLst>
              <a:gd name="adj" fmla="val 24000"/>
            </a:avLst>
          </a:prstGeom>
          <a:solidFill>
            <a:srgbClr val="F3F5F7"/>
          </a:solidFill>
          <a:ln w="12700">
            <a:solidFill>
              <a:srgbClr val="D7E0EA"/>
            </a:solidFill>
            <a:prstDash val="solid"/>
          </a:ln>
        </p:spPr>
        <p:txBody>
          <a:bodyPr/>
          <a:lstStyle/>
          <a:p>
            <a:endParaRPr lang="de-DE"/>
          </a:p>
        </p:txBody>
      </p:sp>
      <p:sp>
        <p:nvSpPr>
          <p:cNvPr id="33" name="Text 31"/>
          <p:cNvSpPr/>
          <p:nvPr/>
        </p:nvSpPr>
        <p:spPr>
          <a:xfrm>
            <a:off x="4471416" y="4535424"/>
            <a:ext cx="1417320" cy="164592"/>
          </a:xfrm>
          <a:prstGeom prst="rect">
            <a:avLst/>
          </a:prstGeom>
          <a:noFill/>
          <a:ln/>
        </p:spPr>
        <p:txBody>
          <a:bodyPr wrap="square" lIns="0" tIns="0" rIns="0" bIns="0" rtlCol="0" anchor="ctr">
            <a:normAutofit/>
          </a:bodyPr>
          <a:lstStyle/>
          <a:p>
            <a:pPr marL="0" indent="0" algn="ctr">
              <a:buNone/>
            </a:pPr>
            <a:r>
              <a:rPr lang="en-US" sz="820" b="1" dirty="0">
                <a:solidFill>
                  <a:srgbClr val="506173"/>
                </a:solidFill>
                <a:latin typeface="Aptos" pitchFamily="34" charset="0"/>
                <a:ea typeface="Aptos" pitchFamily="34" charset="-122"/>
                <a:cs typeface="Aptos" pitchFamily="34" charset="-120"/>
              </a:rPr>
              <a:t>coronal</a:t>
            </a:r>
            <a:endParaRPr lang="en-US" sz="820" dirty="0"/>
          </a:p>
        </p:txBody>
      </p:sp>
      <p:sp>
        <p:nvSpPr>
          <p:cNvPr id="34" name="Text 32"/>
          <p:cNvSpPr/>
          <p:nvPr/>
        </p:nvSpPr>
        <p:spPr>
          <a:xfrm>
            <a:off x="859536" y="5157216"/>
            <a:ext cx="5212080" cy="329184"/>
          </a:xfrm>
          <a:prstGeom prst="rect">
            <a:avLst/>
          </a:prstGeom>
          <a:noFill/>
          <a:ln/>
        </p:spPr>
        <p:txBody>
          <a:bodyPr wrap="square" lIns="0" tIns="0" rIns="0" bIns="0" rtlCol="0" anchor="ctr">
            <a:normAutofit/>
          </a:bodyPr>
          <a:lstStyle/>
          <a:p>
            <a:pPr marL="0" indent="0" algn="ctr">
              <a:buNone/>
            </a:pPr>
            <a:r>
              <a:rPr lang="en-US" sz="1050" b="1" dirty="0">
                <a:solidFill>
                  <a:srgbClr val="172635"/>
                </a:solidFill>
                <a:latin typeface="Aptos" pitchFamily="34" charset="0"/>
                <a:ea typeface="Aptos" pitchFamily="34" charset="-122"/>
                <a:cs typeface="Aptos" pitchFamily="34" charset="-120"/>
              </a:rPr>
              <a:t>Example:  SMC / 1306 / 1306_sagittal_slice_196.png</a:t>
            </a:r>
            <a:endParaRPr lang="en-US" sz="1050" dirty="0"/>
          </a:p>
        </p:txBody>
      </p:sp>
      <p:sp>
        <p:nvSpPr>
          <p:cNvPr id="35" name="Text 33"/>
          <p:cNvSpPr/>
          <p:nvPr/>
        </p:nvSpPr>
        <p:spPr>
          <a:xfrm>
            <a:off x="859536" y="5559552"/>
            <a:ext cx="5212080" cy="256032"/>
          </a:xfrm>
          <a:prstGeom prst="rect">
            <a:avLst/>
          </a:prstGeom>
          <a:noFill/>
          <a:ln/>
        </p:spPr>
        <p:txBody>
          <a:bodyPr wrap="square" lIns="0" tIns="0" rIns="0" bIns="0" rtlCol="0" anchor="ctr">
            <a:normAutofit/>
          </a:bodyPr>
          <a:lstStyle/>
          <a:p>
            <a:pPr marL="0" indent="0" algn="ctr">
              <a:buNone/>
            </a:pPr>
            <a:r>
              <a:rPr lang="en-US" sz="960" dirty="0">
                <a:solidFill>
                  <a:srgbClr val="506173"/>
                </a:solidFill>
                <a:latin typeface="Aptos" pitchFamily="34" charset="0"/>
                <a:ea typeface="Aptos" pitchFamily="34" charset="-122"/>
                <a:cs typeface="Aptos" pitchFamily="34" charset="-120"/>
              </a:rPr>
              <a:t>This metadata layer links image → patient → label → model output.</a:t>
            </a:r>
            <a:endParaRPr lang="en-US" sz="960" dirty="0"/>
          </a:p>
        </p:txBody>
      </p:sp>
      <p:sp>
        <p:nvSpPr>
          <p:cNvPr id="36" name="Shape 34"/>
          <p:cNvSpPr/>
          <p:nvPr/>
        </p:nvSpPr>
        <p:spPr>
          <a:xfrm>
            <a:off x="7178040" y="2404872"/>
            <a:ext cx="4471416" cy="3566160"/>
          </a:xfrm>
          <a:prstGeom prst="roundRect">
            <a:avLst>
              <a:gd name="adj" fmla="val 3077"/>
            </a:avLst>
          </a:prstGeom>
          <a:solidFill>
            <a:srgbClr val="FFFFFF"/>
          </a:solidFill>
          <a:ln w="12700">
            <a:solidFill>
              <a:srgbClr val="D7E0EA"/>
            </a:solidFill>
            <a:prstDash val="solid"/>
          </a:ln>
        </p:spPr>
        <p:txBody>
          <a:bodyPr/>
          <a:lstStyle/>
          <a:p>
            <a:endParaRPr lang="de-DE"/>
          </a:p>
        </p:txBody>
      </p:sp>
      <p:sp>
        <p:nvSpPr>
          <p:cNvPr id="37" name="Shape 35"/>
          <p:cNvSpPr/>
          <p:nvPr/>
        </p:nvSpPr>
        <p:spPr>
          <a:xfrm>
            <a:off x="7488936" y="2670048"/>
            <a:ext cx="1554480" cy="274320"/>
          </a:xfrm>
          <a:prstGeom prst="roundRect">
            <a:avLst>
              <a:gd name="adj" fmla="val 43333"/>
            </a:avLst>
          </a:prstGeom>
          <a:solidFill>
            <a:srgbClr val="FFF4D6"/>
          </a:solidFill>
          <a:ln w="12700">
            <a:solidFill>
              <a:srgbClr val="FFF4D6"/>
            </a:solidFill>
            <a:prstDash val="solid"/>
          </a:ln>
        </p:spPr>
        <p:txBody>
          <a:bodyPr/>
          <a:lstStyle/>
          <a:p>
            <a:endParaRPr lang="de-DE"/>
          </a:p>
        </p:txBody>
      </p:sp>
      <p:sp>
        <p:nvSpPr>
          <p:cNvPr id="38" name="Text 36"/>
          <p:cNvSpPr/>
          <p:nvPr/>
        </p:nvSpPr>
        <p:spPr>
          <a:xfrm>
            <a:off x="7488936" y="2679192"/>
            <a:ext cx="1554480" cy="237744"/>
          </a:xfrm>
          <a:prstGeom prst="rect">
            <a:avLst/>
          </a:prstGeom>
          <a:noFill/>
          <a:ln/>
        </p:spPr>
        <p:txBody>
          <a:bodyPr wrap="square" lIns="0" tIns="0" rIns="0" bIns="0" rtlCol="0" anchor="ctr">
            <a:normAutofit/>
          </a:bodyPr>
          <a:lstStyle/>
          <a:p>
            <a:pPr marL="0" indent="0" algn="ctr">
              <a:buNone/>
            </a:pPr>
            <a:r>
              <a:rPr lang="en-US" sz="820" b="1" dirty="0">
                <a:solidFill>
                  <a:srgbClr val="F59E0B"/>
                </a:solidFill>
                <a:latin typeface="Aptos" pitchFamily="34" charset="0"/>
                <a:ea typeface="Aptos" pitchFamily="34" charset="-122"/>
                <a:cs typeface="Aptos" pitchFamily="34" charset="-120"/>
              </a:rPr>
              <a:t>KEY DESIGN CHOICE</a:t>
            </a:r>
            <a:endParaRPr lang="en-US" sz="820" dirty="0"/>
          </a:p>
        </p:txBody>
      </p:sp>
      <p:sp>
        <p:nvSpPr>
          <p:cNvPr id="39" name="Text 37"/>
          <p:cNvSpPr/>
          <p:nvPr/>
        </p:nvSpPr>
        <p:spPr>
          <a:xfrm>
            <a:off x="7488936" y="3081528"/>
            <a:ext cx="3703320" cy="384048"/>
          </a:xfrm>
          <a:prstGeom prst="rect">
            <a:avLst/>
          </a:prstGeom>
          <a:noFill/>
          <a:ln/>
        </p:spPr>
        <p:txBody>
          <a:bodyPr wrap="square" lIns="0" tIns="0" rIns="0" bIns="0" rtlCol="0" anchor="ctr">
            <a:normAutofit/>
          </a:bodyPr>
          <a:lstStyle/>
          <a:p>
            <a:pPr marL="0" indent="0" algn="l">
              <a:buNone/>
            </a:pPr>
            <a:r>
              <a:rPr lang="en-US" sz="1800" b="1" dirty="0">
                <a:solidFill>
                  <a:srgbClr val="14304A"/>
                </a:solidFill>
                <a:latin typeface="Aptos" pitchFamily="34" charset="0"/>
                <a:ea typeface="Aptos" pitchFamily="34" charset="-122"/>
                <a:cs typeface="Aptos" pitchFamily="34" charset="-120"/>
              </a:rPr>
              <a:t>Patient is the unit of analysis</a:t>
            </a:r>
            <a:endParaRPr lang="en-US" sz="1800" dirty="0"/>
          </a:p>
        </p:txBody>
      </p:sp>
      <p:sp>
        <p:nvSpPr>
          <p:cNvPr id="40" name="Text 38"/>
          <p:cNvSpPr/>
          <p:nvPr/>
        </p:nvSpPr>
        <p:spPr>
          <a:xfrm>
            <a:off x="7488936" y="3657600"/>
            <a:ext cx="3611880" cy="969264"/>
          </a:xfrm>
          <a:prstGeom prst="rect">
            <a:avLst/>
          </a:prstGeom>
          <a:noFill/>
          <a:ln/>
        </p:spPr>
        <p:txBody>
          <a:bodyPr wrap="square" lIns="0" tIns="0" rIns="0" bIns="0" rtlCol="0" anchor="ctr">
            <a:normAutofit/>
          </a:bodyPr>
          <a:lstStyle/>
          <a:p>
            <a:pPr marL="0" indent="0" algn="l">
              <a:buNone/>
            </a:pPr>
            <a:r>
              <a:rPr lang="en-US" sz="1400" dirty="0">
                <a:solidFill>
                  <a:srgbClr val="172635"/>
                </a:solidFill>
                <a:latin typeface="Aptos" pitchFamily="34" charset="0"/>
                <a:ea typeface="Aptos" pitchFamily="34" charset="-122"/>
                <a:cs typeface="Aptos" pitchFamily="34" charset="-120"/>
              </a:rPr>
              <a:t>Many slices come from the same patient.</a:t>
            </a:r>
            <a:endParaRPr lang="en-US" sz="1400" dirty="0"/>
          </a:p>
          <a:p>
            <a:pPr marL="0" indent="0" algn="l">
              <a:buNone/>
            </a:pPr>
            <a:r>
              <a:rPr lang="en-US" sz="1400" dirty="0">
                <a:solidFill>
                  <a:srgbClr val="172635"/>
                </a:solidFill>
                <a:latin typeface="Aptos" pitchFamily="34" charset="0"/>
                <a:ea typeface="Aptos" pitchFamily="34" charset="-122"/>
                <a:cs typeface="Aptos" pitchFamily="34" charset="-120"/>
              </a:rPr>
              <a:t>So I must split patients—not slices—into</a:t>
            </a:r>
            <a:endParaRPr lang="en-US" sz="1400" dirty="0"/>
          </a:p>
          <a:p>
            <a:pPr marL="0" indent="0" algn="l">
              <a:buNone/>
            </a:pPr>
            <a:r>
              <a:rPr lang="en-US" sz="1400" dirty="0">
                <a:solidFill>
                  <a:srgbClr val="172635"/>
                </a:solidFill>
                <a:latin typeface="Aptos" pitchFamily="34" charset="0"/>
                <a:ea typeface="Aptos" pitchFamily="34" charset="-122"/>
                <a:cs typeface="Aptos" pitchFamily="34" charset="-120"/>
              </a:rPr>
              <a:t>train / validation / test sets.</a:t>
            </a:r>
            <a:endParaRPr lang="en-US" sz="1400" dirty="0"/>
          </a:p>
        </p:txBody>
      </p:sp>
      <p:sp>
        <p:nvSpPr>
          <p:cNvPr id="41" name="Shape 39"/>
          <p:cNvSpPr/>
          <p:nvPr/>
        </p:nvSpPr>
        <p:spPr>
          <a:xfrm>
            <a:off x="7488936" y="4910328"/>
            <a:ext cx="3547872" cy="640080"/>
          </a:xfrm>
          <a:prstGeom prst="roundRect">
            <a:avLst>
              <a:gd name="adj" fmla="val 17143"/>
            </a:avLst>
          </a:prstGeom>
          <a:solidFill>
            <a:srgbClr val="FDE8E8"/>
          </a:solidFill>
          <a:ln w="12700">
            <a:solidFill>
              <a:srgbClr val="B91C1C"/>
            </a:solidFill>
            <a:prstDash val="solid"/>
          </a:ln>
        </p:spPr>
        <p:txBody>
          <a:bodyPr/>
          <a:lstStyle/>
          <a:p>
            <a:endParaRPr lang="de-DE"/>
          </a:p>
        </p:txBody>
      </p:sp>
      <p:sp>
        <p:nvSpPr>
          <p:cNvPr id="42" name="Text 40"/>
          <p:cNvSpPr/>
          <p:nvPr/>
        </p:nvSpPr>
        <p:spPr>
          <a:xfrm>
            <a:off x="7616952" y="4992624"/>
            <a:ext cx="3291840" cy="438912"/>
          </a:xfrm>
          <a:prstGeom prst="rect">
            <a:avLst/>
          </a:prstGeom>
          <a:noFill/>
          <a:ln/>
        </p:spPr>
        <p:txBody>
          <a:bodyPr wrap="square" lIns="0" tIns="0" rIns="0" bIns="0" rtlCol="0" anchor="ctr">
            <a:normAutofit/>
          </a:bodyPr>
          <a:lstStyle/>
          <a:p>
            <a:pPr marL="0" indent="0" algn="ctr">
              <a:buNone/>
            </a:pPr>
            <a:r>
              <a:rPr lang="en-US" sz="960" b="1" dirty="0">
                <a:solidFill>
                  <a:srgbClr val="B91C1C"/>
                </a:solidFill>
                <a:latin typeface="Aptos" pitchFamily="34" charset="0"/>
                <a:ea typeface="Aptos" pitchFamily="34" charset="-122"/>
                <a:cs typeface="Aptos" pitchFamily="34" charset="-120"/>
              </a:rPr>
              <a:t>Why?  Slice-level splitting can leak</a:t>
            </a:r>
            <a:endParaRPr lang="en-US" sz="960" dirty="0"/>
          </a:p>
          <a:p>
            <a:pPr marL="0" indent="0" algn="ctr">
              <a:buNone/>
            </a:pPr>
            <a:r>
              <a:rPr lang="en-US" sz="960" b="1" dirty="0">
                <a:solidFill>
                  <a:srgbClr val="B91C1C"/>
                </a:solidFill>
                <a:latin typeface="Aptos" pitchFamily="34" charset="0"/>
                <a:ea typeface="Aptos" pitchFamily="34" charset="-122"/>
                <a:cs typeface="Aptos" pitchFamily="34" charset="-120"/>
              </a:rPr>
              <a:t>patient-specific information across sets.</a:t>
            </a:r>
            <a:endParaRPr lang="en-US" sz="960" dirty="0"/>
          </a:p>
        </p:txBody>
      </p:sp>
      <p:sp>
        <p:nvSpPr>
          <p:cNvPr id="43" name="Slide Number Placeholder 0"/>
          <p:cNvSpPr>
            <a:spLocks noGrp="1"/>
          </p:cNvSpPr>
          <p:nvPr>
            <p:ph type="sldNum" sz="quarter" idx="4294967295"/>
          </p:nvPr>
        </p:nvSpPr>
        <p:spPr>
          <a:xfrm>
            <a:off x="11841480" y="6601968"/>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5B6B7D"/>
                </a:solidFill>
                <a:latin typeface="Aptos"/>
                <a:ea typeface="Aptos"/>
                <a:cs typeface="Aptos"/>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47472"/>
            <a:ext cx="11064240" cy="429768"/>
          </a:xfrm>
          <a:prstGeom prst="rect">
            <a:avLst/>
          </a:prstGeom>
          <a:noFill/>
          <a:ln/>
        </p:spPr>
        <p:txBody>
          <a:bodyPr wrap="square" lIns="0" tIns="0" rIns="0" bIns="0" rtlCol="0" anchor="ctr"/>
          <a:lstStyle/>
          <a:p>
            <a:pPr marL="0" indent="0">
              <a:buNone/>
            </a:pPr>
            <a:r>
              <a:rPr lang="en-US" sz="2400" b="1" dirty="0">
                <a:solidFill>
                  <a:srgbClr val="14304A"/>
                </a:solidFill>
                <a:latin typeface="Aptos Display" pitchFamily="34" charset="0"/>
                <a:ea typeface="Aptos Display" pitchFamily="34" charset="-122"/>
                <a:cs typeface="Aptos Display" pitchFamily="34" charset="-120"/>
              </a:rPr>
              <a:t>From MRI slices to a patient representation</a:t>
            </a:r>
            <a:endParaRPr lang="en-US" sz="2400" dirty="0"/>
          </a:p>
        </p:txBody>
      </p:sp>
      <p:sp>
        <p:nvSpPr>
          <p:cNvPr id="3" name="Text 1"/>
          <p:cNvSpPr/>
          <p:nvPr/>
        </p:nvSpPr>
        <p:spPr>
          <a:xfrm>
            <a:off x="521208" y="841248"/>
            <a:ext cx="10698480" cy="256032"/>
          </a:xfrm>
          <a:prstGeom prst="rect">
            <a:avLst/>
          </a:prstGeom>
          <a:noFill/>
          <a:ln/>
        </p:spPr>
        <p:txBody>
          <a:bodyPr wrap="square" lIns="0" tIns="0" rIns="0" bIns="0" rtlCol="0" anchor="ctr"/>
          <a:lstStyle/>
          <a:p>
            <a:pPr marL="0" indent="0">
              <a:buNone/>
            </a:pPr>
            <a:r>
              <a:rPr lang="en-US" sz="1050" dirty="0">
                <a:solidFill>
                  <a:srgbClr val="506173"/>
                </a:solidFill>
              </a:rPr>
              <a:t>The foundation model is used first as a frozen representation engine.</a:t>
            </a:r>
            <a:endParaRPr lang="en-US" sz="1050" dirty="0"/>
          </a:p>
        </p:txBody>
      </p:sp>
      <p:sp>
        <p:nvSpPr>
          <p:cNvPr id="4" name="Shape 2"/>
          <p:cNvSpPr/>
          <p:nvPr/>
        </p:nvSpPr>
        <p:spPr>
          <a:xfrm>
            <a:off x="530352" y="1847088"/>
            <a:ext cx="1865376" cy="1417320"/>
          </a:xfrm>
          <a:prstGeom prst="roundRect">
            <a:avLst>
              <a:gd name="adj" fmla="val 7742"/>
            </a:avLst>
          </a:prstGeom>
          <a:solidFill>
            <a:srgbClr val="FFFFFF"/>
          </a:solidFill>
          <a:ln w="12700">
            <a:solidFill>
              <a:srgbClr val="D7E0EA"/>
            </a:solidFill>
            <a:prstDash val="solid"/>
          </a:ln>
        </p:spPr>
        <p:txBody>
          <a:bodyPr/>
          <a:lstStyle/>
          <a:p>
            <a:endParaRPr lang="de-DE"/>
          </a:p>
        </p:txBody>
      </p:sp>
      <p:sp>
        <p:nvSpPr>
          <p:cNvPr id="5" name="Shape 3"/>
          <p:cNvSpPr/>
          <p:nvPr/>
        </p:nvSpPr>
        <p:spPr>
          <a:xfrm>
            <a:off x="667512" y="1993392"/>
            <a:ext cx="429768" cy="429768"/>
          </a:xfrm>
          <a:prstGeom prst="ellipse">
            <a:avLst/>
          </a:prstGeom>
          <a:solidFill>
            <a:srgbClr val="2563EB"/>
          </a:solidFill>
          <a:ln w="12700">
            <a:solidFill>
              <a:srgbClr val="2563EB"/>
            </a:solidFill>
            <a:prstDash val="solid"/>
          </a:ln>
        </p:spPr>
        <p:txBody>
          <a:bodyPr/>
          <a:lstStyle/>
          <a:p>
            <a:endParaRPr lang="de-DE"/>
          </a:p>
        </p:txBody>
      </p:sp>
      <p:sp>
        <p:nvSpPr>
          <p:cNvPr id="6" name="Text 4"/>
          <p:cNvSpPr/>
          <p:nvPr/>
        </p:nvSpPr>
        <p:spPr>
          <a:xfrm>
            <a:off x="667512" y="2029968"/>
            <a:ext cx="429768" cy="228600"/>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Aptos" pitchFamily="34" charset="0"/>
                <a:ea typeface="Aptos" pitchFamily="34" charset="-122"/>
                <a:cs typeface="Aptos" pitchFamily="34" charset="-120"/>
              </a:rPr>
              <a:t>1</a:t>
            </a:r>
            <a:endParaRPr lang="en-US" sz="850" dirty="0"/>
          </a:p>
        </p:txBody>
      </p:sp>
      <p:sp>
        <p:nvSpPr>
          <p:cNvPr id="7" name="Text 5"/>
          <p:cNvSpPr/>
          <p:nvPr/>
        </p:nvSpPr>
        <p:spPr>
          <a:xfrm>
            <a:off x="1188720" y="2002536"/>
            <a:ext cx="1097280" cy="283464"/>
          </a:xfrm>
          <a:prstGeom prst="rect">
            <a:avLst/>
          </a:prstGeom>
          <a:noFill/>
          <a:ln/>
        </p:spPr>
        <p:txBody>
          <a:bodyPr wrap="square" lIns="0" tIns="0" rIns="0" bIns="0" rtlCol="0" anchor="ctr">
            <a:normAutofit/>
          </a:bodyPr>
          <a:lstStyle/>
          <a:p>
            <a:pPr marL="0" indent="0" algn="l">
              <a:buNone/>
            </a:pPr>
            <a:r>
              <a:rPr lang="en-US" sz="1320" b="1" dirty="0">
                <a:solidFill>
                  <a:srgbClr val="14304A"/>
                </a:solidFill>
                <a:latin typeface="Aptos" pitchFamily="34" charset="0"/>
                <a:ea typeface="Aptos" pitchFamily="34" charset="-122"/>
                <a:cs typeface="Aptos" pitchFamily="34" charset="-120"/>
              </a:rPr>
              <a:t>MRI slice</a:t>
            </a:r>
            <a:endParaRPr lang="en-US" sz="1320" dirty="0"/>
          </a:p>
        </p:txBody>
      </p:sp>
      <p:sp>
        <p:nvSpPr>
          <p:cNvPr id="8" name="Text 6"/>
          <p:cNvSpPr/>
          <p:nvPr/>
        </p:nvSpPr>
        <p:spPr>
          <a:xfrm>
            <a:off x="694944" y="2468880"/>
            <a:ext cx="1536192" cy="530352"/>
          </a:xfrm>
          <a:prstGeom prst="rect">
            <a:avLst/>
          </a:prstGeom>
          <a:noFill/>
          <a:ln/>
        </p:spPr>
        <p:txBody>
          <a:bodyPr wrap="square" lIns="0" tIns="0" rIns="0" bIns="0" rtlCol="0" anchor="ctr">
            <a:normAutofit/>
          </a:bodyPr>
          <a:lstStyle/>
          <a:p>
            <a:pPr marL="0" indent="0" algn="ctr">
              <a:buNone/>
            </a:pPr>
            <a:r>
              <a:rPr lang="en-US" sz="1020" dirty="0">
                <a:solidFill>
                  <a:srgbClr val="506173"/>
                </a:solidFill>
                <a:latin typeface="Aptos" pitchFamily="34" charset="0"/>
                <a:ea typeface="Aptos" pitchFamily="34" charset="-122"/>
                <a:cs typeface="Aptos" pitchFamily="34" charset="-120"/>
              </a:rPr>
              <a:t>2D preprocessed</a:t>
            </a:r>
            <a:endParaRPr lang="en-US" sz="1020" dirty="0"/>
          </a:p>
          <a:p>
            <a:pPr marL="0" indent="0" algn="ctr">
              <a:buNone/>
            </a:pPr>
            <a:r>
              <a:rPr lang="en-US" sz="1020" dirty="0">
                <a:solidFill>
                  <a:srgbClr val="506173"/>
                </a:solidFill>
                <a:latin typeface="Aptos" pitchFamily="34" charset="0"/>
                <a:ea typeface="Aptos" pitchFamily="34" charset="-122"/>
                <a:cs typeface="Aptos" pitchFamily="34" charset="-120"/>
              </a:rPr>
              <a:t>PNG</a:t>
            </a:r>
            <a:endParaRPr lang="en-US" sz="1020" dirty="0"/>
          </a:p>
        </p:txBody>
      </p:sp>
      <p:sp>
        <p:nvSpPr>
          <p:cNvPr id="9" name="Shape 7"/>
          <p:cNvSpPr/>
          <p:nvPr/>
        </p:nvSpPr>
        <p:spPr>
          <a:xfrm>
            <a:off x="2395728" y="2560320"/>
            <a:ext cx="274320" cy="0"/>
          </a:xfrm>
          <a:prstGeom prst="line">
            <a:avLst/>
          </a:prstGeom>
          <a:noFill/>
          <a:ln w="21590">
            <a:solidFill>
              <a:srgbClr val="0E7490"/>
            </a:solidFill>
            <a:prstDash val="solid"/>
            <a:headEnd type="none"/>
            <a:tailEnd type="triangle"/>
          </a:ln>
        </p:spPr>
        <p:txBody>
          <a:bodyPr/>
          <a:lstStyle/>
          <a:p>
            <a:endParaRPr lang="de-DE"/>
          </a:p>
        </p:txBody>
      </p:sp>
      <p:sp>
        <p:nvSpPr>
          <p:cNvPr id="10" name="Shape 8"/>
          <p:cNvSpPr/>
          <p:nvPr/>
        </p:nvSpPr>
        <p:spPr>
          <a:xfrm>
            <a:off x="2670048" y="1847088"/>
            <a:ext cx="1865376" cy="1417320"/>
          </a:xfrm>
          <a:prstGeom prst="roundRect">
            <a:avLst>
              <a:gd name="adj" fmla="val 7742"/>
            </a:avLst>
          </a:prstGeom>
          <a:solidFill>
            <a:srgbClr val="FFFFFF"/>
          </a:solidFill>
          <a:ln w="12700">
            <a:solidFill>
              <a:srgbClr val="D7E0EA"/>
            </a:solidFill>
            <a:prstDash val="solid"/>
          </a:ln>
        </p:spPr>
        <p:txBody>
          <a:bodyPr/>
          <a:lstStyle/>
          <a:p>
            <a:endParaRPr lang="de-DE"/>
          </a:p>
        </p:txBody>
      </p:sp>
      <p:sp>
        <p:nvSpPr>
          <p:cNvPr id="11" name="Shape 9"/>
          <p:cNvSpPr/>
          <p:nvPr/>
        </p:nvSpPr>
        <p:spPr>
          <a:xfrm>
            <a:off x="2807208" y="1993392"/>
            <a:ext cx="429768" cy="429768"/>
          </a:xfrm>
          <a:prstGeom prst="ellipse">
            <a:avLst/>
          </a:prstGeom>
          <a:solidFill>
            <a:srgbClr val="0E7490"/>
          </a:solidFill>
          <a:ln w="12700">
            <a:solidFill>
              <a:srgbClr val="0E7490"/>
            </a:solidFill>
            <a:prstDash val="solid"/>
          </a:ln>
        </p:spPr>
        <p:txBody>
          <a:bodyPr/>
          <a:lstStyle/>
          <a:p>
            <a:endParaRPr lang="de-DE"/>
          </a:p>
        </p:txBody>
      </p:sp>
      <p:sp>
        <p:nvSpPr>
          <p:cNvPr id="12" name="Text 10"/>
          <p:cNvSpPr/>
          <p:nvPr/>
        </p:nvSpPr>
        <p:spPr>
          <a:xfrm>
            <a:off x="2807208" y="2029968"/>
            <a:ext cx="429768" cy="228600"/>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Aptos" pitchFamily="34" charset="0"/>
                <a:ea typeface="Aptos" pitchFamily="34" charset="-122"/>
                <a:cs typeface="Aptos" pitchFamily="34" charset="-120"/>
              </a:rPr>
              <a:t>2</a:t>
            </a:r>
            <a:endParaRPr lang="en-US" sz="850" dirty="0"/>
          </a:p>
        </p:txBody>
      </p:sp>
      <p:sp>
        <p:nvSpPr>
          <p:cNvPr id="13" name="Text 11"/>
          <p:cNvSpPr/>
          <p:nvPr/>
        </p:nvSpPr>
        <p:spPr>
          <a:xfrm>
            <a:off x="3328416" y="2002536"/>
            <a:ext cx="1097280" cy="283464"/>
          </a:xfrm>
          <a:prstGeom prst="rect">
            <a:avLst/>
          </a:prstGeom>
          <a:noFill/>
          <a:ln/>
        </p:spPr>
        <p:txBody>
          <a:bodyPr wrap="square" lIns="0" tIns="0" rIns="0" bIns="0" rtlCol="0" anchor="ctr">
            <a:normAutofit/>
          </a:bodyPr>
          <a:lstStyle/>
          <a:p>
            <a:pPr marL="0" indent="0" algn="l">
              <a:buNone/>
            </a:pPr>
            <a:r>
              <a:rPr lang="en-US" sz="1320" b="1" dirty="0">
                <a:solidFill>
                  <a:srgbClr val="14304A"/>
                </a:solidFill>
                <a:latin typeface="Aptos" pitchFamily="34" charset="0"/>
                <a:ea typeface="Aptos" pitchFamily="34" charset="-122"/>
                <a:cs typeface="Aptos" pitchFamily="34" charset="-120"/>
              </a:rPr>
              <a:t>Input transform</a:t>
            </a:r>
            <a:endParaRPr lang="en-US" sz="1320" dirty="0"/>
          </a:p>
        </p:txBody>
      </p:sp>
      <p:sp>
        <p:nvSpPr>
          <p:cNvPr id="14" name="Text 12"/>
          <p:cNvSpPr/>
          <p:nvPr/>
        </p:nvSpPr>
        <p:spPr>
          <a:xfrm>
            <a:off x="2834640" y="2468880"/>
            <a:ext cx="1536192" cy="530352"/>
          </a:xfrm>
          <a:prstGeom prst="rect">
            <a:avLst/>
          </a:prstGeom>
          <a:noFill/>
          <a:ln/>
        </p:spPr>
        <p:txBody>
          <a:bodyPr wrap="square" lIns="0" tIns="0" rIns="0" bIns="0" rtlCol="0" anchor="ctr">
            <a:normAutofit/>
          </a:bodyPr>
          <a:lstStyle/>
          <a:p>
            <a:pPr marL="0" indent="0" algn="ctr">
              <a:buNone/>
            </a:pPr>
            <a:r>
              <a:rPr lang="en-US" sz="1020" dirty="0">
                <a:solidFill>
                  <a:srgbClr val="506173"/>
                </a:solidFill>
                <a:latin typeface="Aptos" pitchFamily="34" charset="0"/>
                <a:ea typeface="Aptos" pitchFamily="34" charset="-122"/>
                <a:cs typeface="Aptos" pitchFamily="34" charset="-120"/>
              </a:rPr>
              <a:t>Resize • channels •</a:t>
            </a:r>
            <a:endParaRPr lang="en-US" sz="1020" dirty="0"/>
          </a:p>
          <a:p>
            <a:pPr marL="0" indent="0" algn="ctr">
              <a:buNone/>
            </a:pPr>
            <a:r>
              <a:rPr lang="en-US" sz="1020" dirty="0">
                <a:solidFill>
                  <a:srgbClr val="506173"/>
                </a:solidFill>
                <a:latin typeface="Aptos" pitchFamily="34" charset="0"/>
                <a:ea typeface="Aptos" pitchFamily="34" charset="-122"/>
                <a:cs typeface="Aptos" pitchFamily="34" charset="-120"/>
              </a:rPr>
              <a:t>model-specific normalization</a:t>
            </a:r>
            <a:endParaRPr lang="en-US" sz="1020" dirty="0"/>
          </a:p>
        </p:txBody>
      </p:sp>
      <p:sp>
        <p:nvSpPr>
          <p:cNvPr id="15" name="Shape 13"/>
          <p:cNvSpPr/>
          <p:nvPr/>
        </p:nvSpPr>
        <p:spPr>
          <a:xfrm>
            <a:off x="4535424" y="2560320"/>
            <a:ext cx="292608" cy="0"/>
          </a:xfrm>
          <a:prstGeom prst="line">
            <a:avLst/>
          </a:prstGeom>
          <a:noFill/>
          <a:ln w="21590">
            <a:solidFill>
              <a:srgbClr val="0E7490"/>
            </a:solidFill>
            <a:prstDash val="solid"/>
            <a:headEnd type="none"/>
            <a:tailEnd type="triangle"/>
          </a:ln>
        </p:spPr>
        <p:txBody>
          <a:bodyPr/>
          <a:lstStyle/>
          <a:p>
            <a:endParaRPr lang="de-DE"/>
          </a:p>
        </p:txBody>
      </p:sp>
      <p:sp>
        <p:nvSpPr>
          <p:cNvPr id="16" name="Shape 14"/>
          <p:cNvSpPr/>
          <p:nvPr/>
        </p:nvSpPr>
        <p:spPr>
          <a:xfrm>
            <a:off x="4828032" y="1847088"/>
            <a:ext cx="1865376" cy="1417320"/>
          </a:xfrm>
          <a:prstGeom prst="roundRect">
            <a:avLst>
              <a:gd name="adj" fmla="val 7742"/>
            </a:avLst>
          </a:prstGeom>
          <a:solidFill>
            <a:srgbClr val="FFFFFF"/>
          </a:solidFill>
          <a:ln w="12700">
            <a:solidFill>
              <a:srgbClr val="D7E0EA"/>
            </a:solidFill>
            <a:prstDash val="solid"/>
          </a:ln>
        </p:spPr>
        <p:txBody>
          <a:bodyPr/>
          <a:lstStyle/>
          <a:p>
            <a:endParaRPr lang="de-DE"/>
          </a:p>
        </p:txBody>
      </p:sp>
      <p:sp>
        <p:nvSpPr>
          <p:cNvPr id="17" name="Shape 15"/>
          <p:cNvSpPr/>
          <p:nvPr/>
        </p:nvSpPr>
        <p:spPr>
          <a:xfrm>
            <a:off x="4965192" y="1993392"/>
            <a:ext cx="429768" cy="429768"/>
          </a:xfrm>
          <a:prstGeom prst="ellipse">
            <a:avLst/>
          </a:prstGeom>
          <a:solidFill>
            <a:srgbClr val="6D28D9"/>
          </a:solidFill>
          <a:ln w="12700">
            <a:solidFill>
              <a:srgbClr val="6D28D9"/>
            </a:solidFill>
            <a:prstDash val="solid"/>
          </a:ln>
        </p:spPr>
        <p:txBody>
          <a:bodyPr/>
          <a:lstStyle/>
          <a:p>
            <a:endParaRPr lang="de-DE"/>
          </a:p>
        </p:txBody>
      </p:sp>
      <p:sp>
        <p:nvSpPr>
          <p:cNvPr id="18" name="Text 16"/>
          <p:cNvSpPr/>
          <p:nvPr/>
        </p:nvSpPr>
        <p:spPr>
          <a:xfrm>
            <a:off x="4965192" y="2029968"/>
            <a:ext cx="429768" cy="228600"/>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Aptos" pitchFamily="34" charset="0"/>
                <a:ea typeface="Aptos" pitchFamily="34" charset="-122"/>
                <a:cs typeface="Aptos" pitchFamily="34" charset="-120"/>
              </a:rPr>
              <a:t>3</a:t>
            </a:r>
            <a:endParaRPr lang="en-US" sz="850" dirty="0"/>
          </a:p>
        </p:txBody>
      </p:sp>
      <p:sp>
        <p:nvSpPr>
          <p:cNvPr id="19" name="Text 17"/>
          <p:cNvSpPr/>
          <p:nvPr/>
        </p:nvSpPr>
        <p:spPr>
          <a:xfrm>
            <a:off x="5486400" y="2002536"/>
            <a:ext cx="1097280" cy="283464"/>
          </a:xfrm>
          <a:prstGeom prst="rect">
            <a:avLst/>
          </a:prstGeom>
          <a:noFill/>
          <a:ln/>
        </p:spPr>
        <p:txBody>
          <a:bodyPr wrap="square" lIns="0" tIns="0" rIns="0" bIns="0" rtlCol="0" anchor="ctr">
            <a:normAutofit/>
          </a:bodyPr>
          <a:lstStyle/>
          <a:p>
            <a:pPr marL="0" indent="0" algn="l">
              <a:buNone/>
            </a:pPr>
            <a:r>
              <a:rPr lang="en-US" sz="1320" b="1" dirty="0">
                <a:solidFill>
                  <a:srgbClr val="14304A"/>
                </a:solidFill>
                <a:latin typeface="Aptos" pitchFamily="34" charset="0"/>
                <a:ea typeface="Aptos" pitchFamily="34" charset="-122"/>
                <a:cs typeface="Aptos" pitchFamily="34" charset="-120"/>
              </a:rPr>
              <a:t>Foundation model</a:t>
            </a:r>
            <a:endParaRPr lang="en-US" sz="1320" dirty="0"/>
          </a:p>
        </p:txBody>
      </p:sp>
      <p:sp>
        <p:nvSpPr>
          <p:cNvPr id="20" name="Text 18"/>
          <p:cNvSpPr/>
          <p:nvPr/>
        </p:nvSpPr>
        <p:spPr>
          <a:xfrm>
            <a:off x="4992624" y="2468880"/>
            <a:ext cx="1536192" cy="530352"/>
          </a:xfrm>
          <a:prstGeom prst="rect">
            <a:avLst/>
          </a:prstGeom>
          <a:noFill/>
          <a:ln/>
        </p:spPr>
        <p:txBody>
          <a:bodyPr wrap="square" lIns="0" tIns="0" rIns="0" bIns="0" rtlCol="0" anchor="ctr">
            <a:normAutofit/>
          </a:bodyPr>
          <a:lstStyle/>
          <a:p>
            <a:pPr marL="0" indent="0" algn="ctr">
              <a:buNone/>
            </a:pPr>
            <a:r>
              <a:rPr lang="en-US" sz="1020" dirty="0">
                <a:solidFill>
                  <a:srgbClr val="506173"/>
                </a:solidFill>
                <a:latin typeface="Aptos" pitchFamily="34" charset="0"/>
                <a:ea typeface="Aptos" pitchFamily="34" charset="-122"/>
                <a:cs typeface="Aptos" pitchFamily="34" charset="-120"/>
              </a:rPr>
              <a:t>Frozen encoder</a:t>
            </a:r>
            <a:endParaRPr lang="en-US" sz="1020" dirty="0"/>
          </a:p>
          <a:p>
            <a:pPr marL="0" indent="0" algn="ctr">
              <a:buNone/>
            </a:pPr>
            <a:r>
              <a:rPr lang="en-US" sz="1020" dirty="0">
                <a:solidFill>
                  <a:srgbClr val="506173"/>
                </a:solidFill>
                <a:latin typeface="Aptos" pitchFamily="34" charset="0"/>
                <a:ea typeface="Aptos" pitchFamily="34" charset="-122"/>
                <a:cs typeface="Aptos" pitchFamily="34" charset="-120"/>
              </a:rPr>
              <a:t>→ embedding vector</a:t>
            </a:r>
            <a:endParaRPr lang="en-US" sz="1020" dirty="0"/>
          </a:p>
        </p:txBody>
      </p:sp>
      <p:sp>
        <p:nvSpPr>
          <p:cNvPr id="21" name="Shape 19"/>
          <p:cNvSpPr/>
          <p:nvPr/>
        </p:nvSpPr>
        <p:spPr>
          <a:xfrm>
            <a:off x="6693408" y="2560320"/>
            <a:ext cx="292608" cy="0"/>
          </a:xfrm>
          <a:prstGeom prst="line">
            <a:avLst/>
          </a:prstGeom>
          <a:noFill/>
          <a:ln w="21590">
            <a:solidFill>
              <a:srgbClr val="0E7490"/>
            </a:solidFill>
            <a:prstDash val="solid"/>
            <a:headEnd type="none"/>
            <a:tailEnd type="triangle"/>
          </a:ln>
        </p:spPr>
        <p:txBody>
          <a:bodyPr/>
          <a:lstStyle/>
          <a:p>
            <a:endParaRPr lang="de-DE"/>
          </a:p>
        </p:txBody>
      </p:sp>
      <p:sp>
        <p:nvSpPr>
          <p:cNvPr id="22" name="Shape 20"/>
          <p:cNvSpPr/>
          <p:nvPr/>
        </p:nvSpPr>
        <p:spPr>
          <a:xfrm>
            <a:off x="6986016" y="1847088"/>
            <a:ext cx="1865376" cy="1417320"/>
          </a:xfrm>
          <a:prstGeom prst="roundRect">
            <a:avLst>
              <a:gd name="adj" fmla="val 7742"/>
            </a:avLst>
          </a:prstGeom>
          <a:solidFill>
            <a:srgbClr val="FFFFFF"/>
          </a:solidFill>
          <a:ln w="12700">
            <a:solidFill>
              <a:srgbClr val="D7E0EA"/>
            </a:solidFill>
            <a:prstDash val="solid"/>
          </a:ln>
        </p:spPr>
        <p:txBody>
          <a:bodyPr/>
          <a:lstStyle/>
          <a:p>
            <a:endParaRPr lang="de-DE"/>
          </a:p>
        </p:txBody>
      </p:sp>
      <p:sp>
        <p:nvSpPr>
          <p:cNvPr id="23" name="Shape 21"/>
          <p:cNvSpPr/>
          <p:nvPr/>
        </p:nvSpPr>
        <p:spPr>
          <a:xfrm>
            <a:off x="7123176" y="1993392"/>
            <a:ext cx="429768" cy="429768"/>
          </a:xfrm>
          <a:prstGeom prst="ellipse">
            <a:avLst/>
          </a:prstGeom>
          <a:solidFill>
            <a:srgbClr val="F59E0B"/>
          </a:solidFill>
          <a:ln w="12700">
            <a:solidFill>
              <a:srgbClr val="F59E0B"/>
            </a:solidFill>
            <a:prstDash val="solid"/>
          </a:ln>
        </p:spPr>
        <p:txBody>
          <a:bodyPr/>
          <a:lstStyle/>
          <a:p>
            <a:endParaRPr lang="de-DE"/>
          </a:p>
        </p:txBody>
      </p:sp>
      <p:sp>
        <p:nvSpPr>
          <p:cNvPr id="24" name="Text 22"/>
          <p:cNvSpPr/>
          <p:nvPr/>
        </p:nvSpPr>
        <p:spPr>
          <a:xfrm>
            <a:off x="7123176" y="2029968"/>
            <a:ext cx="429768" cy="228600"/>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Aptos" pitchFamily="34" charset="0"/>
                <a:ea typeface="Aptos" pitchFamily="34" charset="-122"/>
                <a:cs typeface="Aptos" pitchFamily="34" charset="-120"/>
              </a:rPr>
              <a:t>4</a:t>
            </a:r>
            <a:endParaRPr lang="en-US" sz="850" dirty="0"/>
          </a:p>
        </p:txBody>
      </p:sp>
      <p:sp>
        <p:nvSpPr>
          <p:cNvPr id="25" name="Text 23"/>
          <p:cNvSpPr/>
          <p:nvPr/>
        </p:nvSpPr>
        <p:spPr>
          <a:xfrm>
            <a:off x="7644384" y="2002536"/>
            <a:ext cx="1097280" cy="283464"/>
          </a:xfrm>
          <a:prstGeom prst="rect">
            <a:avLst/>
          </a:prstGeom>
          <a:noFill/>
          <a:ln/>
        </p:spPr>
        <p:txBody>
          <a:bodyPr wrap="square" lIns="0" tIns="0" rIns="0" bIns="0" rtlCol="0" anchor="ctr">
            <a:normAutofit/>
          </a:bodyPr>
          <a:lstStyle/>
          <a:p>
            <a:pPr marL="0" indent="0" algn="l">
              <a:buNone/>
            </a:pPr>
            <a:r>
              <a:rPr lang="en-US" sz="1320" b="1" dirty="0">
                <a:solidFill>
                  <a:srgbClr val="14304A"/>
                </a:solidFill>
                <a:latin typeface="Aptos" pitchFamily="34" charset="0"/>
                <a:ea typeface="Aptos" pitchFamily="34" charset="-122"/>
                <a:cs typeface="Aptos" pitchFamily="34" charset="-120"/>
              </a:rPr>
              <a:t>Patient aggregation</a:t>
            </a:r>
            <a:endParaRPr lang="en-US" sz="1320" dirty="0"/>
          </a:p>
        </p:txBody>
      </p:sp>
      <p:sp>
        <p:nvSpPr>
          <p:cNvPr id="26" name="Text 24"/>
          <p:cNvSpPr/>
          <p:nvPr/>
        </p:nvSpPr>
        <p:spPr>
          <a:xfrm>
            <a:off x="7150608" y="2468880"/>
            <a:ext cx="1536192" cy="530352"/>
          </a:xfrm>
          <a:prstGeom prst="rect">
            <a:avLst/>
          </a:prstGeom>
          <a:noFill/>
          <a:ln/>
        </p:spPr>
        <p:txBody>
          <a:bodyPr wrap="square" lIns="0" tIns="0" rIns="0" bIns="0" rtlCol="0" anchor="ctr">
            <a:normAutofit/>
          </a:bodyPr>
          <a:lstStyle/>
          <a:p>
            <a:pPr marL="0" indent="0" algn="ctr">
              <a:buNone/>
            </a:pPr>
            <a:r>
              <a:rPr lang="en-US" sz="1020" dirty="0">
                <a:solidFill>
                  <a:srgbClr val="506173"/>
                </a:solidFill>
                <a:latin typeface="Aptos" pitchFamily="34" charset="0"/>
                <a:ea typeface="Aptos" pitchFamily="34" charset="-122"/>
                <a:cs typeface="Aptos" pitchFamily="34" charset="-120"/>
              </a:rPr>
              <a:t>Mean pooling by</a:t>
            </a:r>
            <a:endParaRPr lang="en-US" sz="1020" dirty="0"/>
          </a:p>
          <a:p>
            <a:pPr marL="0" indent="0" algn="ctr">
              <a:buNone/>
            </a:pPr>
            <a:r>
              <a:rPr lang="en-US" sz="1020" dirty="0">
                <a:solidFill>
                  <a:srgbClr val="506173"/>
                </a:solidFill>
                <a:latin typeface="Aptos" pitchFamily="34" charset="0"/>
                <a:ea typeface="Aptos" pitchFamily="34" charset="-122"/>
                <a:cs typeface="Aptos" pitchFamily="34" charset="-120"/>
              </a:rPr>
              <a:t>orientation</a:t>
            </a:r>
            <a:endParaRPr lang="en-US" sz="1020" dirty="0"/>
          </a:p>
        </p:txBody>
      </p:sp>
      <p:sp>
        <p:nvSpPr>
          <p:cNvPr id="27" name="Shape 25"/>
          <p:cNvSpPr/>
          <p:nvPr/>
        </p:nvSpPr>
        <p:spPr>
          <a:xfrm>
            <a:off x="8851392" y="2560320"/>
            <a:ext cx="292608" cy="0"/>
          </a:xfrm>
          <a:prstGeom prst="line">
            <a:avLst/>
          </a:prstGeom>
          <a:noFill/>
          <a:ln w="21590">
            <a:solidFill>
              <a:srgbClr val="0E7490"/>
            </a:solidFill>
            <a:prstDash val="solid"/>
            <a:headEnd type="none"/>
            <a:tailEnd type="triangle"/>
          </a:ln>
        </p:spPr>
        <p:txBody>
          <a:bodyPr/>
          <a:lstStyle/>
          <a:p>
            <a:endParaRPr lang="de-DE"/>
          </a:p>
        </p:txBody>
      </p:sp>
      <p:sp>
        <p:nvSpPr>
          <p:cNvPr id="28" name="Shape 26"/>
          <p:cNvSpPr/>
          <p:nvPr/>
        </p:nvSpPr>
        <p:spPr>
          <a:xfrm>
            <a:off x="9144000" y="1847088"/>
            <a:ext cx="1865376" cy="1417320"/>
          </a:xfrm>
          <a:prstGeom prst="roundRect">
            <a:avLst>
              <a:gd name="adj" fmla="val 7742"/>
            </a:avLst>
          </a:prstGeom>
          <a:solidFill>
            <a:srgbClr val="FFFFFF"/>
          </a:solidFill>
          <a:ln w="12700">
            <a:solidFill>
              <a:srgbClr val="D7E0EA"/>
            </a:solidFill>
            <a:prstDash val="solid"/>
          </a:ln>
        </p:spPr>
        <p:txBody>
          <a:bodyPr/>
          <a:lstStyle/>
          <a:p>
            <a:endParaRPr lang="de-DE"/>
          </a:p>
        </p:txBody>
      </p:sp>
      <p:sp>
        <p:nvSpPr>
          <p:cNvPr id="29" name="Shape 27"/>
          <p:cNvSpPr/>
          <p:nvPr/>
        </p:nvSpPr>
        <p:spPr>
          <a:xfrm>
            <a:off x="9281160" y="1993392"/>
            <a:ext cx="429768" cy="429768"/>
          </a:xfrm>
          <a:prstGeom prst="ellipse">
            <a:avLst/>
          </a:prstGeom>
          <a:solidFill>
            <a:srgbClr val="15803D"/>
          </a:solidFill>
          <a:ln w="12700">
            <a:solidFill>
              <a:srgbClr val="15803D"/>
            </a:solidFill>
            <a:prstDash val="solid"/>
          </a:ln>
        </p:spPr>
        <p:txBody>
          <a:bodyPr/>
          <a:lstStyle/>
          <a:p>
            <a:endParaRPr lang="de-DE"/>
          </a:p>
        </p:txBody>
      </p:sp>
      <p:sp>
        <p:nvSpPr>
          <p:cNvPr id="30" name="Text 28"/>
          <p:cNvSpPr/>
          <p:nvPr/>
        </p:nvSpPr>
        <p:spPr>
          <a:xfrm>
            <a:off x="9281160" y="2029968"/>
            <a:ext cx="429768" cy="228600"/>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Aptos" pitchFamily="34" charset="0"/>
                <a:ea typeface="Aptos" pitchFamily="34" charset="-122"/>
                <a:cs typeface="Aptos" pitchFamily="34" charset="-120"/>
              </a:rPr>
              <a:t>5</a:t>
            </a:r>
            <a:endParaRPr lang="en-US" sz="850" dirty="0"/>
          </a:p>
        </p:txBody>
      </p:sp>
      <p:sp>
        <p:nvSpPr>
          <p:cNvPr id="31" name="Text 29"/>
          <p:cNvSpPr/>
          <p:nvPr/>
        </p:nvSpPr>
        <p:spPr>
          <a:xfrm>
            <a:off x="9802368" y="2002536"/>
            <a:ext cx="1097280" cy="283464"/>
          </a:xfrm>
          <a:prstGeom prst="rect">
            <a:avLst/>
          </a:prstGeom>
          <a:noFill/>
          <a:ln/>
        </p:spPr>
        <p:txBody>
          <a:bodyPr wrap="square" lIns="0" tIns="0" rIns="0" bIns="0" rtlCol="0" anchor="ctr">
            <a:normAutofit/>
          </a:bodyPr>
          <a:lstStyle/>
          <a:p>
            <a:pPr marL="0" indent="0" algn="l">
              <a:buNone/>
            </a:pPr>
            <a:r>
              <a:rPr lang="en-US" sz="1320" b="1" dirty="0">
                <a:solidFill>
                  <a:srgbClr val="14304A"/>
                </a:solidFill>
                <a:latin typeface="Aptos" pitchFamily="34" charset="0"/>
                <a:ea typeface="Aptos" pitchFamily="34" charset="-122"/>
                <a:cs typeface="Aptos" pitchFamily="34" charset="-120"/>
              </a:rPr>
              <a:t>Classifier</a:t>
            </a:r>
            <a:endParaRPr lang="en-US" sz="1320" dirty="0"/>
          </a:p>
        </p:txBody>
      </p:sp>
      <p:sp>
        <p:nvSpPr>
          <p:cNvPr id="32" name="Text 30"/>
          <p:cNvSpPr/>
          <p:nvPr/>
        </p:nvSpPr>
        <p:spPr>
          <a:xfrm>
            <a:off x="9308592" y="2468880"/>
            <a:ext cx="1536192" cy="530352"/>
          </a:xfrm>
          <a:prstGeom prst="rect">
            <a:avLst/>
          </a:prstGeom>
          <a:noFill/>
          <a:ln/>
        </p:spPr>
        <p:txBody>
          <a:bodyPr wrap="square" lIns="0" tIns="0" rIns="0" bIns="0" rtlCol="0" anchor="ctr">
            <a:normAutofit/>
          </a:bodyPr>
          <a:lstStyle/>
          <a:p>
            <a:pPr marL="0" indent="0" algn="ctr">
              <a:buNone/>
            </a:pPr>
            <a:r>
              <a:rPr lang="en-US" sz="1020" dirty="0">
                <a:solidFill>
                  <a:srgbClr val="506173"/>
                </a:solidFill>
                <a:latin typeface="Aptos" pitchFamily="34" charset="0"/>
                <a:ea typeface="Aptos" pitchFamily="34" charset="-122"/>
                <a:cs typeface="Aptos" pitchFamily="34" charset="-120"/>
              </a:rPr>
              <a:t>Patient vector</a:t>
            </a:r>
            <a:endParaRPr lang="en-US" sz="1020" dirty="0"/>
          </a:p>
          <a:p>
            <a:pPr marL="0" indent="0" algn="ctr">
              <a:buNone/>
            </a:pPr>
            <a:r>
              <a:rPr lang="en-US" sz="1020" dirty="0">
                <a:solidFill>
                  <a:srgbClr val="506173"/>
                </a:solidFill>
                <a:latin typeface="Aptos" pitchFamily="34" charset="0"/>
                <a:ea typeface="Aptos" pitchFamily="34" charset="-122"/>
                <a:cs typeface="Aptos" pitchFamily="34" charset="-120"/>
              </a:rPr>
              <a:t>→ six-class prediction</a:t>
            </a:r>
            <a:endParaRPr lang="en-US" sz="1020" dirty="0"/>
          </a:p>
        </p:txBody>
      </p:sp>
      <p:sp>
        <p:nvSpPr>
          <p:cNvPr id="33" name="Shape 31"/>
          <p:cNvSpPr/>
          <p:nvPr/>
        </p:nvSpPr>
        <p:spPr>
          <a:xfrm>
            <a:off x="548640" y="3767328"/>
            <a:ext cx="11082528" cy="1691640"/>
          </a:xfrm>
          <a:prstGeom prst="roundRect">
            <a:avLst>
              <a:gd name="adj" fmla="val 6486"/>
            </a:avLst>
          </a:prstGeom>
          <a:solidFill>
            <a:srgbClr val="14304A"/>
          </a:solidFill>
          <a:ln w="12700">
            <a:solidFill>
              <a:srgbClr val="14304A"/>
            </a:solidFill>
            <a:prstDash val="solid"/>
          </a:ln>
        </p:spPr>
        <p:txBody>
          <a:bodyPr/>
          <a:lstStyle/>
          <a:p>
            <a:endParaRPr lang="de-DE"/>
          </a:p>
        </p:txBody>
      </p:sp>
      <p:sp>
        <p:nvSpPr>
          <p:cNvPr id="34" name="Text 32"/>
          <p:cNvSpPr/>
          <p:nvPr/>
        </p:nvSpPr>
        <p:spPr>
          <a:xfrm>
            <a:off x="841248" y="4059936"/>
            <a:ext cx="1920240" cy="292608"/>
          </a:xfrm>
          <a:prstGeom prst="rect">
            <a:avLst/>
          </a:prstGeom>
          <a:noFill/>
          <a:ln/>
        </p:spPr>
        <p:txBody>
          <a:bodyPr wrap="square" lIns="0" tIns="0" rIns="0" bIns="0" rtlCol="0" anchor="ctr">
            <a:normAutofit/>
          </a:bodyPr>
          <a:lstStyle/>
          <a:p>
            <a:pPr marL="0" indent="0" algn="l">
              <a:buNone/>
            </a:pPr>
            <a:r>
              <a:rPr lang="en-US" sz="1600" b="1" dirty="0">
                <a:solidFill>
                  <a:srgbClr val="FFFFFF"/>
                </a:solidFill>
                <a:latin typeface="Aptos" pitchFamily="34" charset="0"/>
                <a:ea typeface="Aptos" pitchFamily="34" charset="-122"/>
                <a:cs typeface="Aptos" pitchFamily="34" charset="-120"/>
              </a:rPr>
              <a:t>Why start frozen?</a:t>
            </a:r>
            <a:endParaRPr lang="en-US" sz="1600" dirty="0"/>
          </a:p>
        </p:txBody>
      </p:sp>
      <p:sp>
        <p:nvSpPr>
          <p:cNvPr id="35" name="Text 33"/>
          <p:cNvSpPr/>
          <p:nvPr/>
        </p:nvSpPr>
        <p:spPr>
          <a:xfrm>
            <a:off x="841248" y="4425696"/>
            <a:ext cx="1965960" cy="228600"/>
          </a:xfrm>
          <a:prstGeom prst="rect">
            <a:avLst/>
          </a:prstGeom>
          <a:noFill/>
          <a:ln/>
        </p:spPr>
        <p:txBody>
          <a:bodyPr wrap="square" lIns="0" tIns="0" rIns="0" bIns="0" rtlCol="0" anchor="ctr">
            <a:normAutofit/>
          </a:bodyPr>
          <a:lstStyle/>
          <a:p>
            <a:pPr marL="0" indent="0" algn="l">
              <a:buNone/>
            </a:pPr>
            <a:r>
              <a:rPr lang="en-US" sz="950" dirty="0">
                <a:solidFill>
                  <a:srgbClr val="CDEEF2"/>
                </a:solidFill>
                <a:latin typeface="Aptos" pitchFamily="34" charset="0"/>
                <a:ea typeface="Aptos" pitchFamily="34" charset="-122"/>
                <a:cs typeface="Aptos" pitchFamily="34" charset="-120"/>
              </a:rPr>
              <a:t>It separates two questions:</a:t>
            </a:r>
            <a:endParaRPr lang="en-US" sz="950" dirty="0"/>
          </a:p>
        </p:txBody>
      </p:sp>
      <p:sp>
        <p:nvSpPr>
          <p:cNvPr id="36" name="Text 34"/>
          <p:cNvSpPr/>
          <p:nvPr/>
        </p:nvSpPr>
        <p:spPr>
          <a:xfrm>
            <a:off x="2743200" y="4160520"/>
            <a:ext cx="8183880" cy="64008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① Are the pretrained representations useful for this task?    ② Does task-specific fine-tuning add value?</a:t>
            </a:r>
            <a:endParaRPr lang="en-US" sz="1500" dirty="0"/>
          </a:p>
        </p:txBody>
      </p:sp>
      <p:sp>
        <p:nvSpPr>
          <p:cNvPr id="37" name="Text 35"/>
          <p:cNvSpPr/>
          <p:nvPr/>
        </p:nvSpPr>
        <p:spPr>
          <a:xfrm>
            <a:off x="2743200" y="4901184"/>
            <a:ext cx="8183880" cy="237744"/>
          </a:xfrm>
          <a:prstGeom prst="rect">
            <a:avLst/>
          </a:prstGeom>
          <a:noFill/>
          <a:ln/>
        </p:spPr>
        <p:txBody>
          <a:bodyPr wrap="square" lIns="0" tIns="0" rIns="0" bIns="0" rtlCol="0" anchor="ctr">
            <a:normAutofit/>
          </a:bodyPr>
          <a:lstStyle/>
          <a:p>
            <a:pPr marL="0" indent="0" algn="ctr">
              <a:buNone/>
            </a:pPr>
            <a:r>
              <a:rPr lang="en-US" sz="980" dirty="0">
                <a:solidFill>
                  <a:srgbClr val="B9CDD8"/>
                </a:solidFill>
                <a:latin typeface="Aptos" pitchFamily="34" charset="0"/>
                <a:ea typeface="Aptos" pitchFamily="34" charset="-122"/>
                <a:cs typeface="Aptos" pitchFamily="34" charset="-120"/>
              </a:rPr>
              <a:t>This makes the first experiment simpler, faster and easier to interpret.</a:t>
            </a:r>
            <a:endParaRPr lang="en-US" sz="980" dirty="0"/>
          </a:p>
        </p:txBody>
      </p:sp>
      <p:sp>
        <p:nvSpPr>
          <p:cNvPr id="38" name="Slide Number Placeholder 0"/>
          <p:cNvSpPr>
            <a:spLocks noGrp="1"/>
          </p:cNvSpPr>
          <p:nvPr>
            <p:ph type="sldNum" sz="quarter" idx="4294967295"/>
          </p:nvPr>
        </p:nvSpPr>
        <p:spPr>
          <a:xfrm>
            <a:off x="11841480" y="6601968"/>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5B6B7D"/>
                </a:solidFill>
                <a:latin typeface="Aptos"/>
                <a:ea typeface="Aptos"/>
                <a:cs typeface="Aptos"/>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347472"/>
            <a:ext cx="11064240" cy="429768"/>
          </a:xfrm>
          <a:prstGeom prst="rect">
            <a:avLst/>
          </a:prstGeom>
          <a:noFill/>
          <a:ln/>
        </p:spPr>
        <p:txBody>
          <a:bodyPr wrap="square" lIns="0" tIns="0" rIns="0" bIns="0" rtlCol="0" anchor="ctr"/>
          <a:lstStyle/>
          <a:p>
            <a:pPr marL="0" indent="0">
              <a:buNone/>
            </a:pPr>
            <a:r>
              <a:rPr lang="en-US" sz="2400" b="1" dirty="0">
                <a:solidFill>
                  <a:srgbClr val="14304A"/>
                </a:solidFill>
                <a:latin typeface="Aptos Display" pitchFamily="34" charset="0"/>
                <a:ea typeface="Aptos Display" pitchFamily="34" charset="-122"/>
                <a:cs typeface="Aptos Display" pitchFamily="34" charset="-120"/>
              </a:rPr>
              <a:t>How I will test the approach</a:t>
            </a:r>
            <a:endParaRPr lang="en-US" sz="2400" dirty="0"/>
          </a:p>
        </p:txBody>
      </p:sp>
      <p:sp>
        <p:nvSpPr>
          <p:cNvPr id="3" name="Text 1"/>
          <p:cNvSpPr/>
          <p:nvPr/>
        </p:nvSpPr>
        <p:spPr>
          <a:xfrm>
            <a:off x="521208" y="841248"/>
            <a:ext cx="10698480" cy="256032"/>
          </a:xfrm>
          <a:prstGeom prst="rect">
            <a:avLst/>
          </a:prstGeom>
          <a:noFill/>
          <a:ln/>
        </p:spPr>
        <p:txBody>
          <a:bodyPr wrap="square" lIns="0" tIns="0" rIns="0" bIns="0" rtlCol="0" anchor="ctr"/>
          <a:lstStyle/>
          <a:p>
            <a:pPr marL="0" indent="0">
              <a:buNone/>
            </a:pPr>
            <a:r>
              <a:rPr lang="en-US" sz="1050" dirty="0">
                <a:solidFill>
                  <a:srgbClr val="506173"/>
                </a:solidFill>
              </a:rPr>
              <a:t>The main methodological priority is a leakage-safe patient-level evaluation.</a:t>
            </a:r>
            <a:endParaRPr lang="en-US" sz="1050" dirty="0"/>
          </a:p>
        </p:txBody>
      </p:sp>
      <p:sp>
        <p:nvSpPr>
          <p:cNvPr id="4" name="Shape 2"/>
          <p:cNvSpPr/>
          <p:nvPr/>
        </p:nvSpPr>
        <p:spPr>
          <a:xfrm>
            <a:off x="548640" y="1325880"/>
            <a:ext cx="6720840" cy="4544568"/>
          </a:xfrm>
          <a:prstGeom prst="roundRect">
            <a:avLst>
              <a:gd name="adj" fmla="val 2414"/>
            </a:avLst>
          </a:prstGeom>
          <a:solidFill>
            <a:srgbClr val="FFFFFF"/>
          </a:solidFill>
          <a:ln w="12700">
            <a:solidFill>
              <a:srgbClr val="D7E0EA"/>
            </a:solidFill>
            <a:prstDash val="solid"/>
          </a:ln>
        </p:spPr>
        <p:txBody>
          <a:bodyPr/>
          <a:lstStyle/>
          <a:p>
            <a:endParaRPr lang="de-DE"/>
          </a:p>
        </p:txBody>
      </p:sp>
      <p:sp>
        <p:nvSpPr>
          <p:cNvPr id="5" name="Text 3"/>
          <p:cNvSpPr/>
          <p:nvPr/>
        </p:nvSpPr>
        <p:spPr>
          <a:xfrm>
            <a:off x="822960" y="1600200"/>
            <a:ext cx="2560320" cy="310896"/>
          </a:xfrm>
          <a:prstGeom prst="rect">
            <a:avLst/>
          </a:prstGeom>
          <a:noFill/>
          <a:ln/>
        </p:spPr>
        <p:txBody>
          <a:bodyPr wrap="square" lIns="0" tIns="0" rIns="0" bIns="0" rtlCol="0" anchor="ctr">
            <a:normAutofit/>
          </a:bodyPr>
          <a:lstStyle/>
          <a:p>
            <a:pPr marL="0" indent="0" algn="l">
              <a:buNone/>
            </a:pPr>
            <a:r>
              <a:rPr lang="en-US" sz="1500" b="1" dirty="0">
                <a:solidFill>
                  <a:srgbClr val="14304A"/>
                </a:solidFill>
                <a:latin typeface="Aptos" pitchFamily="34" charset="0"/>
                <a:ea typeface="Aptos" pitchFamily="34" charset="-122"/>
                <a:cs typeface="Aptos" pitchFamily="34" charset="-120"/>
              </a:rPr>
              <a:t>Experimental split</a:t>
            </a:r>
            <a:endParaRPr lang="en-US" sz="1500" dirty="0"/>
          </a:p>
        </p:txBody>
      </p:sp>
      <p:sp>
        <p:nvSpPr>
          <p:cNvPr id="6" name="Shape 4"/>
          <p:cNvSpPr/>
          <p:nvPr/>
        </p:nvSpPr>
        <p:spPr>
          <a:xfrm>
            <a:off x="5440680" y="1572768"/>
            <a:ext cx="1371600" cy="274320"/>
          </a:xfrm>
          <a:prstGeom prst="roundRect">
            <a:avLst>
              <a:gd name="adj" fmla="val 43333"/>
            </a:avLst>
          </a:prstGeom>
          <a:solidFill>
            <a:srgbClr val="DFF4F7"/>
          </a:solidFill>
          <a:ln w="12700">
            <a:solidFill>
              <a:srgbClr val="DFF4F7"/>
            </a:solidFill>
            <a:prstDash val="solid"/>
          </a:ln>
        </p:spPr>
        <p:txBody>
          <a:bodyPr/>
          <a:lstStyle/>
          <a:p>
            <a:endParaRPr lang="de-DE"/>
          </a:p>
        </p:txBody>
      </p:sp>
      <p:sp>
        <p:nvSpPr>
          <p:cNvPr id="7" name="Text 5"/>
          <p:cNvSpPr/>
          <p:nvPr/>
        </p:nvSpPr>
        <p:spPr>
          <a:xfrm>
            <a:off x="5440680" y="1581912"/>
            <a:ext cx="1371600" cy="237744"/>
          </a:xfrm>
          <a:prstGeom prst="rect">
            <a:avLst/>
          </a:prstGeom>
          <a:noFill/>
          <a:ln/>
        </p:spPr>
        <p:txBody>
          <a:bodyPr wrap="square" lIns="0" tIns="0" rIns="0" bIns="0" rtlCol="0" anchor="ctr">
            <a:normAutofit/>
          </a:bodyPr>
          <a:lstStyle/>
          <a:p>
            <a:pPr marL="0" indent="0" algn="ctr">
              <a:buNone/>
            </a:pPr>
            <a:r>
              <a:rPr lang="en-US" sz="820" b="1" dirty="0">
                <a:solidFill>
                  <a:srgbClr val="0E7490"/>
                </a:solidFill>
                <a:latin typeface="Aptos" pitchFamily="34" charset="0"/>
                <a:ea typeface="Aptos" pitchFamily="34" charset="-122"/>
                <a:cs typeface="Aptos" pitchFamily="34" charset="-120"/>
              </a:rPr>
              <a:t>PATIENT-LEVEL</a:t>
            </a:r>
            <a:endParaRPr lang="en-US" sz="820" dirty="0"/>
          </a:p>
        </p:txBody>
      </p:sp>
      <p:sp>
        <p:nvSpPr>
          <p:cNvPr id="8" name="Shape 6"/>
          <p:cNvSpPr/>
          <p:nvPr/>
        </p:nvSpPr>
        <p:spPr>
          <a:xfrm>
            <a:off x="841248" y="2313432"/>
            <a:ext cx="1572768" cy="1225296"/>
          </a:xfrm>
          <a:prstGeom prst="roundRect">
            <a:avLst>
              <a:gd name="adj" fmla="val 8955"/>
            </a:avLst>
          </a:prstGeom>
          <a:solidFill>
            <a:srgbClr val="E7EFFC"/>
          </a:solidFill>
          <a:ln w="12700">
            <a:solidFill>
              <a:srgbClr val="2563EB"/>
            </a:solidFill>
            <a:prstDash val="solid"/>
          </a:ln>
        </p:spPr>
        <p:txBody>
          <a:bodyPr/>
          <a:lstStyle/>
          <a:p>
            <a:endParaRPr lang="de-DE"/>
          </a:p>
        </p:txBody>
      </p:sp>
      <p:sp>
        <p:nvSpPr>
          <p:cNvPr id="9" name="Text 7"/>
          <p:cNvSpPr/>
          <p:nvPr/>
        </p:nvSpPr>
        <p:spPr>
          <a:xfrm>
            <a:off x="932688" y="2468880"/>
            <a:ext cx="1389888" cy="237744"/>
          </a:xfrm>
          <a:prstGeom prst="rect">
            <a:avLst/>
          </a:prstGeom>
          <a:noFill/>
          <a:ln/>
        </p:spPr>
        <p:txBody>
          <a:bodyPr wrap="square" lIns="0" tIns="0" rIns="0" bIns="0" rtlCol="0" anchor="ctr">
            <a:normAutofit/>
          </a:bodyPr>
          <a:lstStyle/>
          <a:p>
            <a:pPr marL="0" indent="0" algn="ctr">
              <a:buNone/>
            </a:pPr>
            <a:r>
              <a:rPr lang="en-US" sz="1200" b="1" dirty="0">
                <a:solidFill>
                  <a:srgbClr val="14304A"/>
                </a:solidFill>
                <a:latin typeface="Aptos" pitchFamily="34" charset="0"/>
                <a:ea typeface="Aptos" pitchFamily="34" charset="-122"/>
                <a:cs typeface="Aptos" pitchFamily="34" charset="-120"/>
              </a:rPr>
              <a:t>Development</a:t>
            </a:r>
            <a:endParaRPr lang="en-US" sz="1200" dirty="0"/>
          </a:p>
        </p:txBody>
      </p:sp>
      <p:sp>
        <p:nvSpPr>
          <p:cNvPr id="10" name="Text 8"/>
          <p:cNvSpPr/>
          <p:nvPr/>
        </p:nvSpPr>
        <p:spPr>
          <a:xfrm>
            <a:off x="950976" y="2798064"/>
            <a:ext cx="1353312" cy="484632"/>
          </a:xfrm>
          <a:prstGeom prst="rect">
            <a:avLst/>
          </a:prstGeom>
          <a:noFill/>
          <a:ln/>
        </p:spPr>
        <p:txBody>
          <a:bodyPr wrap="square" lIns="0" tIns="0" rIns="0" bIns="0" rtlCol="0" anchor="ctr">
            <a:normAutofit/>
          </a:bodyPr>
          <a:lstStyle/>
          <a:p>
            <a:pPr marL="0" indent="0" algn="ctr">
              <a:buNone/>
            </a:pPr>
            <a:r>
              <a:rPr lang="en-US" sz="1000" dirty="0">
                <a:solidFill>
                  <a:srgbClr val="506173"/>
                </a:solidFill>
                <a:latin typeface="Aptos" pitchFamily="34" charset="0"/>
                <a:ea typeface="Aptos" pitchFamily="34" charset="-122"/>
                <a:cs typeface="Aptos" pitchFamily="34" charset="-120"/>
              </a:rPr>
              <a:t>Train +</a:t>
            </a:r>
            <a:endParaRPr lang="en-US" sz="1000" dirty="0"/>
          </a:p>
          <a:p>
            <a:pPr marL="0" indent="0" algn="ctr">
              <a:buNone/>
            </a:pPr>
            <a:r>
              <a:rPr lang="en-US" sz="1000" dirty="0">
                <a:solidFill>
                  <a:srgbClr val="506173"/>
                </a:solidFill>
                <a:latin typeface="Aptos" pitchFamily="34" charset="0"/>
                <a:ea typeface="Aptos" pitchFamily="34" charset="-122"/>
                <a:cs typeface="Aptos" pitchFamily="34" charset="-120"/>
              </a:rPr>
              <a:t>validation</a:t>
            </a:r>
            <a:endParaRPr lang="en-US" sz="1000" dirty="0"/>
          </a:p>
        </p:txBody>
      </p:sp>
      <p:sp>
        <p:nvSpPr>
          <p:cNvPr id="11" name="Shape 9"/>
          <p:cNvSpPr/>
          <p:nvPr/>
        </p:nvSpPr>
        <p:spPr>
          <a:xfrm>
            <a:off x="2414016" y="2926080"/>
            <a:ext cx="310896" cy="0"/>
          </a:xfrm>
          <a:prstGeom prst="line">
            <a:avLst/>
          </a:prstGeom>
          <a:noFill/>
          <a:ln w="21590">
            <a:solidFill>
              <a:srgbClr val="0E7490"/>
            </a:solidFill>
            <a:prstDash val="solid"/>
            <a:headEnd type="none"/>
            <a:tailEnd type="triangle"/>
          </a:ln>
        </p:spPr>
        <p:txBody>
          <a:bodyPr/>
          <a:lstStyle/>
          <a:p>
            <a:endParaRPr lang="de-DE"/>
          </a:p>
        </p:txBody>
      </p:sp>
      <p:sp>
        <p:nvSpPr>
          <p:cNvPr id="12" name="Shape 10"/>
          <p:cNvSpPr/>
          <p:nvPr/>
        </p:nvSpPr>
        <p:spPr>
          <a:xfrm>
            <a:off x="2724912" y="2313432"/>
            <a:ext cx="1572768" cy="1225296"/>
          </a:xfrm>
          <a:prstGeom prst="roundRect">
            <a:avLst>
              <a:gd name="adj" fmla="val 8955"/>
            </a:avLst>
          </a:prstGeom>
          <a:solidFill>
            <a:srgbClr val="EEE7FF"/>
          </a:solidFill>
          <a:ln w="12700">
            <a:solidFill>
              <a:srgbClr val="6D28D9"/>
            </a:solidFill>
            <a:prstDash val="solid"/>
          </a:ln>
        </p:spPr>
        <p:txBody>
          <a:bodyPr/>
          <a:lstStyle/>
          <a:p>
            <a:endParaRPr lang="de-DE"/>
          </a:p>
        </p:txBody>
      </p:sp>
      <p:sp>
        <p:nvSpPr>
          <p:cNvPr id="13" name="Text 11"/>
          <p:cNvSpPr/>
          <p:nvPr/>
        </p:nvSpPr>
        <p:spPr>
          <a:xfrm>
            <a:off x="2816352" y="2468880"/>
            <a:ext cx="1389888" cy="237744"/>
          </a:xfrm>
          <a:prstGeom prst="rect">
            <a:avLst/>
          </a:prstGeom>
          <a:noFill/>
          <a:ln/>
        </p:spPr>
        <p:txBody>
          <a:bodyPr wrap="square" lIns="0" tIns="0" rIns="0" bIns="0" rtlCol="0" anchor="ctr">
            <a:normAutofit/>
          </a:bodyPr>
          <a:lstStyle/>
          <a:p>
            <a:pPr marL="0" indent="0" algn="ctr">
              <a:buNone/>
            </a:pPr>
            <a:r>
              <a:rPr lang="en-US" sz="1200" b="1" dirty="0">
                <a:solidFill>
                  <a:srgbClr val="14304A"/>
                </a:solidFill>
                <a:latin typeface="Aptos" pitchFamily="34" charset="0"/>
                <a:ea typeface="Aptos" pitchFamily="34" charset="-122"/>
                <a:cs typeface="Aptos" pitchFamily="34" charset="-120"/>
              </a:rPr>
              <a:t>Group-aware CV</a:t>
            </a:r>
            <a:endParaRPr lang="en-US" sz="1200" dirty="0"/>
          </a:p>
        </p:txBody>
      </p:sp>
      <p:sp>
        <p:nvSpPr>
          <p:cNvPr id="14" name="Text 12"/>
          <p:cNvSpPr/>
          <p:nvPr/>
        </p:nvSpPr>
        <p:spPr>
          <a:xfrm>
            <a:off x="2834640" y="2798064"/>
            <a:ext cx="1353312" cy="484632"/>
          </a:xfrm>
          <a:prstGeom prst="rect">
            <a:avLst/>
          </a:prstGeom>
          <a:noFill/>
          <a:ln/>
        </p:spPr>
        <p:txBody>
          <a:bodyPr wrap="square" lIns="0" tIns="0" rIns="0" bIns="0" rtlCol="0" anchor="ctr">
            <a:normAutofit/>
          </a:bodyPr>
          <a:lstStyle/>
          <a:p>
            <a:pPr marL="0" indent="0" algn="ctr">
              <a:buNone/>
            </a:pPr>
            <a:r>
              <a:rPr lang="en-US" sz="1000" dirty="0">
                <a:solidFill>
                  <a:srgbClr val="506173"/>
                </a:solidFill>
                <a:latin typeface="Aptos" pitchFamily="34" charset="0"/>
                <a:ea typeface="Aptos" pitchFamily="34" charset="-122"/>
                <a:cs typeface="Aptos" pitchFamily="34" charset="-120"/>
              </a:rPr>
              <a:t>Tune models</a:t>
            </a:r>
            <a:endParaRPr lang="en-US" sz="1000" dirty="0"/>
          </a:p>
          <a:p>
            <a:pPr marL="0" indent="0" algn="ctr">
              <a:buNone/>
            </a:pPr>
            <a:r>
              <a:rPr lang="en-US" sz="1000" dirty="0">
                <a:solidFill>
                  <a:srgbClr val="506173"/>
                </a:solidFill>
                <a:latin typeface="Aptos" pitchFamily="34" charset="0"/>
                <a:ea typeface="Aptos" pitchFamily="34" charset="-122"/>
                <a:cs typeface="Aptos" pitchFamily="34" charset="-120"/>
              </a:rPr>
              <a:t>without leakage</a:t>
            </a:r>
            <a:endParaRPr lang="en-US" sz="1000" dirty="0"/>
          </a:p>
        </p:txBody>
      </p:sp>
      <p:sp>
        <p:nvSpPr>
          <p:cNvPr id="15" name="Shape 13"/>
          <p:cNvSpPr/>
          <p:nvPr/>
        </p:nvSpPr>
        <p:spPr>
          <a:xfrm>
            <a:off x="4297680" y="2926080"/>
            <a:ext cx="310896" cy="0"/>
          </a:xfrm>
          <a:prstGeom prst="line">
            <a:avLst/>
          </a:prstGeom>
          <a:noFill/>
          <a:ln w="21590">
            <a:solidFill>
              <a:srgbClr val="0E7490"/>
            </a:solidFill>
            <a:prstDash val="solid"/>
            <a:headEnd type="none"/>
            <a:tailEnd type="triangle"/>
          </a:ln>
        </p:spPr>
        <p:txBody>
          <a:bodyPr/>
          <a:lstStyle/>
          <a:p>
            <a:endParaRPr lang="de-DE"/>
          </a:p>
        </p:txBody>
      </p:sp>
      <p:sp>
        <p:nvSpPr>
          <p:cNvPr id="16" name="Shape 14"/>
          <p:cNvSpPr/>
          <p:nvPr/>
        </p:nvSpPr>
        <p:spPr>
          <a:xfrm>
            <a:off x="4608576" y="2313432"/>
            <a:ext cx="1572768" cy="1225296"/>
          </a:xfrm>
          <a:prstGeom prst="roundRect">
            <a:avLst>
              <a:gd name="adj" fmla="val 8955"/>
            </a:avLst>
          </a:prstGeom>
          <a:solidFill>
            <a:srgbClr val="E5F5E9"/>
          </a:solidFill>
          <a:ln w="12700">
            <a:solidFill>
              <a:srgbClr val="15803D"/>
            </a:solidFill>
            <a:prstDash val="solid"/>
          </a:ln>
        </p:spPr>
        <p:txBody>
          <a:bodyPr/>
          <a:lstStyle/>
          <a:p>
            <a:endParaRPr lang="de-DE"/>
          </a:p>
        </p:txBody>
      </p:sp>
      <p:sp>
        <p:nvSpPr>
          <p:cNvPr id="17" name="Text 15"/>
          <p:cNvSpPr/>
          <p:nvPr/>
        </p:nvSpPr>
        <p:spPr>
          <a:xfrm>
            <a:off x="4700016" y="2468880"/>
            <a:ext cx="1389888" cy="237744"/>
          </a:xfrm>
          <a:prstGeom prst="rect">
            <a:avLst/>
          </a:prstGeom>
          <a:noFill/>
          <a:ln/>
        </p:spPr>
        <p:txBody>
          <a:bodyPr wrap="square" lIns="0" tIns="0" rIns="0" bIns="0" rtlCol="0" anchor="ctr">
            <a:normAutofit/>
          </a:bodyPr>
          <a:lstStyle/>
          <a:p>
            <a:pPr marL="0" indent="0" algn="ctr">
              <a:buNone/>
            </a:pPr>
            <a:r>
              <a:rPr lang="en-US" sz="1200" b="1" dirty="0">
                <a:solidFill>
                  <a:srgbClr val="14304A"/>
                </a:solidFill>
                <a:latin typeface="Aptos" pitchFamily="34" charset="0"/>
                <a:ea typeface="Aptos" pitchFamily="34" charset="-122"/>
                <a:cs typeface="Aptos" pitchFamily="34" charset="-120"/>
              </a:rPr>
              <a:t>Held-out test</a:t>
            </a:r>
            <a:endParaRPr lang="en-US" sz="1200" dirty="0"/>
          </a:p>
        </p:txBody>
      </p:sp>
      <p:sp>
        <p:nvSpPr>
          <p:cNvPr id="18" name="Text 16"/>
          <p:cNvSpPr/>
          <p:nvPr/>
        </p:nvSpPr>
        <p:spPr>
          <a:xfrm>
            <a:off x="4718304" y="2798064"/>
            <a:ext cx="1353312" cy="484632"/>
          </a:xfrm>
          <a:prstGeom prst="rect">
            <a:avLst/>
          </a:prstGeom>
          <a:noFill/>
          <a:ln/>
        </p:spPr>
        <p:txBody>
          <a:bodyPr wrap="square" lIns="0" tIns="0" rIns="0" bIns="0" rtlCol="0" anchor="ctr">
            <a:normAutofit/>
          </a:bodyPr>
          <a:lstStyle/>
          <a:p>
            <a:pPr marL="0" indent="0" algn="ctr">
              <a:buNone/>
            </a:pPr>
            <a:r>
              <a:rPr lang="en-US" sz="1000" dirty="0">
                <a:solidFill>
                  <a:srgbClr val="506173"/>
                </a:solidFill>
                <a:latin typeface="Aptos" pitchFamily="34" charset="0"/>
                <a:ea typeface="Aptos" pitchFamily="34" charset="-122"/>
                <a:cs typeface="Aptos" pitchFamily="34" charset="-120"/>
              </a:rPr>
              <a:t>Final estimate</a:t>
            </a:r>
            <a:endParaRPr lang="en-US" sz="1000" dirty="0"/>
          </a:p>
          <a:p>
            <a:pPr marL="0" indent="0" algn="ctr">
              <a:buNone/>
            </a:pPr>
            <a:r>
              <a:rPr lang="en-US" sz="1000" dirty="0">
                <a:solidFill>
                  <a:srgbClr val="506173"/>
                </a:solidFill>
                <a:latin typeface="Aptos" pitchFamily="34" charset="0"/>
                <a:ea typeface="Aptos" pitchFamily="34" charset="-122"/>
                <a:cs typeface="Aptos" pitchFamily="34" charset="-120"/>
              </a:rPr>
              <a:t>of generalization</a:t>
            </a:r>
            <a:endParaRPr lang="en-US" sz="1000" dirty="0"/>
          </a:p>
        </p:txBody>
      </p:sp>
      <p:sp>
        <p:nvSpPr>
          <p:cNvPr id="19" name="Shape 17"/>
          <p:cNvSpPr/>
          <p:nvPr/>
        </p:nvSpPr>
        <p:spPr>
          <a:xfrm>
            <a:off x="841248" y="3922776"/>
            <a:ext cx="5916168" cy="1417320"/>
          </a:xfrm>
          <a:prstGeom prst="roundRect">
            <a:avLst>
              <a:gd name="adj" fmla="val 7742"/>
            </a:avLst>
          </a:prstGeom>
          <a:solidFill>
            <a:srgbClr val="F9FBFD"/>
          </a:solidFill>
          <a:ln w="12700">
            <a:solidFill>
              <a:srgbClr val="D7E0EA"/>
            </a:solidFill>
            <a:prstDash val="solid"/>
          </a:ln>
        </p:spPr>
        <p:txBody>
          <a:bodyPr/>
          <a:lstStyle/>
          <a:p>
            <a:endParaRPr lang="de-DE"/>
          </a:p>
        </p:txBody>
      </p:sp>
      <p:sp>
        <p:nvSpPr>
          <p:cNvPr id="20" name="Text 18"/>
          <p:cNvSpPr/>
          <p:nvPr/>
        </p:nvSpPr>
        <p:spPr>
          <a:xfrm>
            <a:off x="1078992" y="4187952"/>
            <a:ext cx="1417320" cy="228600"/>
          </a:xfrm>
          <a:prstGeom prst="rect">
            <a:avLst/>
          </a:prstGeom>
          <a:noFill/>
          <a:ln/>
        </p:spPr>
        <p:txBody>
          <a:bodyPr wrap="square" lIns="0" tIns="0" rIns="0" bIns="0" rtlCol="0" anchor="ctr">
            <a:normAutofit/>
          </a:bodyPr>
          <a:lstStyle/>
          <a:p>
            <a:pPr marL="0" indent="0" algn="l">
              <a:buNone/>
            </a:pPr>
            <a:r>
              <a:rPr lang="en-US" sz="1050" b="1" dirty="0">
                <a:solidFill>
                  <a:srgbClr val="506173"/>
                </a:solidFill>
                <a:latin typeface="Aptos" pitchFamily="34" charset="0"/>
                <a:ea typeface="Aptos" pitchFamily="34" charset="-122"/>
                <a:cs typeface="Aptos" pitchFamily="34" charset="-120"/>
              </a:rPr>
              <a:t>Primary metrics</a:t>
            </a:r>
            <a:endParaRPr lang="en-US" sz="1050" dirty="0"/>
          </a:p>
        </p:txBody>
      </p:sp>
      <p:sp>
        <p:nvSpPr>
          <p:cNvPr id="21" name="Text 19"/>
          <p:cNvSpPr/>
          <p:nvPr/>
        </p:nvSpPr>
        <p:spPr>
          <a:xfrm>
            <a:off x="1078992" y="4507992"/>
            <a:ext cx="5120640" cy="246888"/>
          </a:xfrm>
          <a:prstGeom prst="rect">
            <a:avLst/>
          </a:prstGeom>
          <a:noFill/>
          <a:ln/>
        </p:spPr>
        <p:txBody>
          <a:bodyPr wrap="square" lIns="0" tIns="0" rIns="0" bIns="0" rtlCol="0" anchor="ctr">
            <a:normAutofit/>
          </a:bodyPr>
          <a:lstStyle/>
          <a:p>
            <a:pPr marL="0" indent="0" algn="ctr">
              <a:buNone/>
            </a:pPr>
            <a:r>
              <a:rPr lang="en-US" sz="1320" b="1" dirty="0">
                <a:solidFill>
                  <a:srgbClr val="14304A"/>
                </a:solidFill>
                <a:latin typeface="Aptos" pitchFamily="34" charset="0"/>
                <a:ea typeface="Aptos" pitchFamily="34" charset="-122"/>
                <a:cs typeface="Aptos" pitchFamily="34" charset="-120"/>
              </a:rPr>
              <a:t>Balanced accuracy   •   Macro F1   •   Per-class recall</a:t>
            </a:r>
            <a:endParaRPr lang="en-US" sz="1320" dirty="0"/>
          </a:p>
        </p:txBody>
      </p:sp>
      <p:sp>
        <p:nvSpPr>
          <p:cNvPr id="22" name="Text 20"/>
          <p:cNvSpPr/>
          <p:nvPr/>
        </p:nvSpPr>
        <p:spPr>
          <a:xfrm>
            <a:off x="1078992" y="4882896"/>
            <a:ext cx="5120640" cy="246888"/>
          </a:xfrm>
          <a:prstGeom prst="rect">
            <a:avLst/>
          </a:prstGeom>
          <a:noFill/>
          <a:ln/>
        </p:spPr>
        <p:txBody>
          <a:bodyPr wrap="square" lIns="0" tIns="0" rIns="0" bIns="0" rtlCol="0" anchor="ctr">
            <a:normAutofit/>
          </a:bodyPr>
          <a:lstStyle/>
          <a:p>
            <a:pPr marL="0" indent="0" algn="ctr">
              <a:buNone/>
            </a:pPr>
            <a:r>
              <a:rPr lang="en-US" sz="1120" dirty="0">
                <a:solidFill>
                  <a:srgbClr val="506173"/>
                </a:solidFill>
                <a:latin typeface="Aptos" pitchFamily="34" charset="0"/>
                <a:ea typeface="Aptos" pitchFamily="34" charset="-122"/>
                <a:cs typeface="Aptos" pitchFamily="34" charset="-120"/>
              </a:rPr>
              <a:t>Confusion matrix   •   one-vs-rest ROC-AUC</a:t>
            </a:r>
            <a:endParaRPr lang="en-US" sz="1120" dirty="0"/>
          </a:p>
        </p:txBody>
      </p:sp>
      <p:sp>
        <p:nvSpPr>
          <p:cNvPr id="23" name="Shape 21"/>
          <p:cNvSpPr/>
          <p:nvPr/>
        </p:nvSpPr>
        <p:spPr>
          <a:xfrm>
            <a:off x="7534656" y="1325880"/>
            <a:ext cx="4114800" cy="4544568"/>
          </a:xfrm>
          <a:prstGeom prst="roundRect">
            <a:avLst>
              <a:gd name="adj" fmla="val 2667"/>
            </a:avLst>
          </a:prstGeom>
          <a:solidFill>
            <a:srgbClr val="FDE8E8"/>
          </a:solidFill>
          <a:ln w="12700">
            <a:solidFill>
              <a:srgbClr val="B91C1C"/>
            </a:solidFill>
            <a:prstDash val="solid"/>
          </a:ln>
        </p:spPr>
        <p:txBody>
          <a:bodyPr/>
          <a:lstStyle/>
          <a:p>
            <a:endParaRPr lang="de-DE"/>
          </a:p>
        </p:txBody>
      </p:sp>
      <p:sp>
        <p:nvSpPr>
          <p:cNvPr id="24" name="Shape 22"/>
          <p:cNvSpPr/>
          <p:nvPr/>
        </p:nvSpPr>
        <p:spPr>
          <a:xfrm>
            <a:off x="7845552" y="1591056"/>
            <a:ext cx="1417320" cy="274320"/>
          </a:xfrm>
          <a:prstGeom prst="roundRect">
            <a:avLst>
              <a:gd name="adj" fmla="val 43333"/>
            </a:avLst>
          </a:prstGeom>
          <a:solidFill>
            <a:srgbClr val="FFFFFF"/>
          </a:solidFill>
          <a:ln w="12700">
            <a:solidFill>
              <a:srgbClr val="FFFFFF"/>
            </a:solidFill>
            <a:prstDash val="solid"/>
          </a:ln>
        </p:spPr>
        <p:txBody>
          <a:bodyPr/>
          <a:lstStyle/>
          <a:p>
            <a:endParaRPr lang="de-DE"/>
          </a:p>
        </p:txBody>
      </p:sp>
      <p:sp>
        <p:nvSpPr>
          <p:cNvPr id="25" name="Text 23"/>
          <p:cNvSpPr/>
          <p:nvPr/>
        </p:nvSpPr>
        <p:spPr>
          <a:xfrm>
            <a:off x="7845552" y="1600200"/>
            <a:ext cx="1417320" cy="237744"/>
          </a:xfrm>
          <a:prstGeom prst="rect">
            <a:avLst/>
          </a:prstGeom>
          <a:noFill/>
          <a:ln/>
        </p:spPr>
        <p:txBody>
          <a:bodyPr wrap="square" lIns="0" tIns="0" rIns="0" bIns="0" rtlCol="0" anchor="ctr">
            <a:normAutofit/>
          </a:bodyPr>
          <a:lstStyle/>
          <a:p>
            <a:pPr marL="0" indent="0" algn="ctr">
              <a:buNone/>
            </a:pPr>
            <a:r>
              <a:rPr lang="en-US" sz="820" b="1" dirty="0">
                <a:solidFill>
                  <a:srgbClr val="B91C1C"/>
                </a:solidFill>
                <a:latin typeface="Aptos" pitchFamily="34" charset="0"/>
                <a:ea typeface="Aptos" pitchFamily="34" charset="-122"/>
                <a:cs typeface="Aptos" pitchFamily="34" charset="-120"/>
              </a:rPr>
              <a:t>LEAKAGE CONTROL</a:t>
            </a:r>
            <a:endParaRPr lang="en-US" sz="820" dirty="0"/>
          </a:p>
        </p:txBody>
      </p:sp>
      <p:sp>
        <p:nvSpPr>
          <p:cNvPr id="26" name="Text 24"/>
          <p:cNvSpPr/>
          <p:nvPr/>
        </p:nvSpPr>
        <p:spPr>
          <a:xfrm>
            <a:off x="7845552" y="2029968"/>
            <a:ext cx="2011680" cy="292608"/>
          </a:xfrm>
          <a:prstGeom prst="rect">
            <a:avLst/>
          </a:prstGeom>
          <a:noFill/>
          <a:ln/>
        </p:spPr>
        <p:txBody>
          <a:bodyPr wrap="square" lIns="0" tIns="0" rIns="0" bIns="0" rtlCol="0" anchor="ctr">
            <a:normAutofit/>
          </a:bodyPr>
          <a:lstStyle/>
          <a:p>
            <a:pPr marL="0" indent="0" algn="l">
              <a:buNone/>
            </a:pPr>
            <a:r>
              <a:rPr lang="en-US" sz="1600" b="1" dirty="0">
                <a:solidFill>
                  <a:srgbClr val="B91C1C"/>
                </a:solidFill>
                <a:latin typeface="Aptos" pitchFamily="34" charset="0"/>
                <a:ea typeface="Aptos" pitchFamily="34" charset="-122"/>
                <a:cs typeface="Aptos" pitchFamily="34" charset="-120"/>
              </a:rPr>
              <a:t>What I avoid</a:t>
            </a:r>
            <a:endParaRPr lang="en-US" sz="1600" dirty="0"/>
          </a:p>
        </p:txBody>
      </p:sp>
      <p:sp>
        <p:nvSpPr>
          <p:cNvPr id="27" name="Shape 25"/>
          <p:cNvSpPr/>
          <p:nvPr/>
        </p:nvSpPr>
        <p:spPr>
          <a:xfrm>
            <a:off x="7863840" y="2578608"/>
            <a:ext cx="310896" cy="310896"/>
          </a:xfrm>
          <a:prstGeom prst="ellipse">
            <a:avLst/>
          </a:prstGeom>
          <a:solidFill>
            <a:srgbClr val="B91C1C"/>
          </a:solidFill>
          <a:ln w="12700">
            <a:solidFill>
              <a:srgbClr val="B91C1C"/>
            </a:solidFill>
            <a:prstDash val="solid"/>
          </a:ln>
        </p:spPr>
        <p:txBody>
          <a:bodyPr/>
          <a:lstStyle/>
          <a:p>
            <a:endParaRPr lang="de-DE"/>
          </a:p>
        </p:txBody>
      </p:sp>
      <p:sp>
        <p:nvSpPr>
          <p:cNvPr id="28" name="Text 26"/>
          <p:cNvSpPr/>
          <p:nvPr/>
        </p:nvSpPr>
        <p:spPr>
          <a:xfrm>
            <a:off x="7863840" y="2606040"/>
            <a:ext cx="310896" cy="210312"/>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a:t>
            </a:r>
            <a:endParaRPr lang="en-US" sz="1100" dirty="0"/>
          </a:p>
        </p:txBody>
      </p:sp>
      <p:sp>
        <p:nvSpPr>
          <p:cNvPr id="29" name="Text 27"/>
          <p:cNvSpPr/>
          <p:nvPr/>
        </p:nvSpPr>
        <p:spPr>
          <a:xfrm>
            <a:off x="8339328" y="2478024"/>
            <a:ext cx="2852928" cy="512064"/>
          </a:xfrm>
          <a:prstGeom prst="rect">
            <a:avLst/>
          </a:prstGeom>
          <a:noFill/>
          <a:ln/>
        </p:spPr>
        <p:txBody>
          <a:bodyPr wrap="square" lIns="0" tIns="0" rIns="0" bIns="0" rtlCol="0" anchor="ctr">
            <a:normAutofit/>
          </a:bodyPr>
          <a:lstStyle/>
          <a:p>
            <a:pPr marL="0" indent="0" algn="l">
              <a:buNone/>
            </a:pPr>
            <a:r>
              <a:rPr lang="en-US" sz="1100" dirty="0">
                <a:solidFill>
                  <a:srgbClr val="172635"/>
                </a:solidFill>
                <a:latin typeface="Aptos" pitchFamily="34" charset="0"/>
                <a:ea typeface="Aptos" pitchFamily="34" charset="-122"/>
                <a:cs typeface="Aptos" pitchFamily="34" charset="-120"/>
              </a:rPr>
              <a:t>Splitting individual slices across train and test</a:t>
            </a:r>
            <a:endParaRPr lang="en-US" sz="1100" dirty="0"/>
          </a:p>
        </p:txBody>
      </p:sp>
      <p:sp>
        <p:nvSpPr>
          <p:cNvPr id="30" name="Shape 28"/>
          <p:cNvSpPr/>
          <p:nvPr/>
        </p:nvSpPr>
        <p:spPr>
          <a:xfrm>
            <a:off x="7863840" y="3383280"/>
            <a:ext cx="310896" cy="310896"/>
          </a:xfrm>
          <a:prstGeom prst="ellipse">
            <a:avLst/>
          </a:prstGeom>
          <a:solidFill>
            <a:srgbClr val="B91C1C"/>
          </a:solidFill>
          <a:ln w="12700">
            <a:solidFill>
              <a:srgbClr val="B91C1C"/>
            </a:solidFill>
            <a:prstDash val="solid"/>
          </a:ln>
        </p:spPr>
        <p:txBody>
          <a:bodyPr/>
          <a:lstStyle/>
          <a:p>
            <a:endParaRPr lang="de-DE"/>
          </a:p>
        </p:txBody>
      </p:sp>
      <p:sp>
        <p:nvSpPr>
          <p:cNvPr id="31" name="Text 29"/>
          <p:cNvSpPr/>
          <p:nvPr/>
        </p:nvSpPr>
        <p:spPr>
          <a:xfrm>
            <a:off x="7863840" y="3410712"/>
            <a:ext cx="310896" cy="210312"/>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a:t>
            </a:r>
            <a:endParaRPr lang="en-US" sz="1100" dirty="0"/>
          </a:p>
        </p:txBody>
      </p:sp>
      <p:sp>
        <p:nvSpPr>
          <p:cNvPr id="32" name="Text 30"/>
          <p:cNvSpPr/>
          <p:nvPr/>
        </p:nvSpPr>
        <p:spPr>
          <a:xfrm>
            <a:off x="8339328" y="3282696"/>
            <a:ext cx="2852928" cy="512064"/>
          </a:xfrm>
          <a:prstGeom prst="rect">
            <a:avLst/>
          </a:prstGeom>
          <a:noFill/>
          <a:ln/>
        </p:spPr>
        <p:txBody>
          <a:bodyPr wrap="square" lIns="0" tIns="0" rIns="0" bIns="0" rtlCol="0" anchor="ctr">
            <a:normAutofit/>
          </a:bodyPr>
          <a:lstStyle/>
          <a:p>
            <a:pPr marL="0" indent="0" algn="l">
              <a:buNone/>
            </a:pPr>
            <a:r>
              <a:rPr lang="en-US" sz="1100" dirty="0">
                <a:solidFill>
                  <a:srgbClr val="172635"/>
                </a:solidFill>
                <a:latin typeface="Aptos" pitchFamily="34" charset="0"/>
                <a:ea typeface="Aptos" pitchFamily="34" charset="-122"/>
                <a:cs typeface="Aptos" pitchFamily="34" charset="-120"/>
              </a:rPr>
              <a:t>Fitting scaling / feature selection on all data</a:t>
            </a:r>
            <a:endParaRPr lang="en-US" sz="1100" dirty="0"/>
          </a:p>
        </p:txBody>
      </p:sp>
      <p:sp>
        <p:nvSpPr>
          <p:cNvPr id="33" name="Shape 31"/>
          <p:cNvSpPr/>
          <p:nvPr/>
        </p:nvSpPr>
        <p:spPr>
          <a:xfrm>
            <a:off x="7863840" y="4187952"/>
            <a:ext cx="310896" cy="310896"/>
          </a:xfrm>
          <a:prstGeom prst="ellipse">
            <a:avLst/>
          </a:prstGeom>
          <a:solidFill>
            <a:srgbClr val="B91C1C"/>
          </a:solidFill>
          <a:ln w="12700">
            <a:solidFill>
              <a:srgbClr val="B91C1C"/>
            </a:solidFill>
            <a:prstDash val="solid"/>
          </a:ln>
        </p:spPr>
        <p:txBody>
          <a:bodyPr/>
          <a:lstStyle/>
          <a:p>
            <a:endParaRPr lang="de-DE"/>
          </a:p>
        </p:txBody>
      </p:sp>
      <p:sp>
        <p:nvSpPr>
          <p:cNvPr id="34" name="Text 32"/>
          <p:cNvSpPr/>
          <p:nvPr/>
        </p:nvSpPr>
        <p:spPr>
          <a:xfrm>
            <a:off x="7863840" y="4215384"/>
            <a:ext cx="310896" cy="210312"/>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a:t>
            </a:r>
            <a:endParaRPr lang="en-US" sz="1100" dirty="0"/>
          </a:p>
        </p:txBody>
      </p:sp>
      <p:sp>
        <p:nvSpPr>
          <p:cNvPr id="35" name="Text 33"/>
          <p:cNvSpPr/>
          <p:nvPr/>
        </p:nvSpPr>
        <p:spPr>
          <a:xfrm>
            <a:off x="8339328" y="4087368"/>
            <a:ext cx="2852928" cy="512064"/>
          </a:xfrm>
          <a:prstGeom prst="rect">
            <a:avLst/>
          </a:prstGeom>
          <a:noFill/>
          <a:ln/>
        </p:spPr>
        <p:txBody>
          <a:bodyPr wrap="square" lIns="0" tIns="0" rIns="0" bIns="0" rtlCol="0" anchor="ctr">
            <a:normAutofit/>
          </a:bodyPr>
          <a:lstStyle/>
          <a:p>
            <a:pPr marL="0" indent="0" algn="l">
              <a:buNone/>
            </a:pPr>
            <a:r>
              <a:rPr lang="en-US" sz="1100" dirty="0">
                <a:solidFill>
                  <a:srgbClr val="172635"/>
                </a:solidFill>
                <a:latin typeface="Aptos" pitchFamily="34" charset="0"/>
                <a:ea typeface="Aptos" pitchFamily="34" charset="-122"/>
                <a:cs typeface="Aptos" pitchFamily="34" charset="-120"/>
              </a:rPr>
              <a:t>Applying resampling before patient-level aggregation</a:t>
            </a:r>
            <a:endParaRPr lang="en-US" sz="1100" dirty="0"/>
          </a:p>
        </p:txBody>
      </p:sp>
      <p:sp>
        <p:nvSpPr>
          <p:cNvPr id="36" name="Text 34"/>
          <p:cNvSpPr/>
          <p:nvPr/>
        </p:nvSpPr>
        <p:spPr>
          <a:xfrm>
            <a:off x="7863840" y="5157216"/>
            <a:ext cx="3401568" cy="384048"/>
          </a:xfrm>
          <a:prstGeom prst="rect">
            <a:avLst/>
          </a:prstGeom>
          <a:noFill/>
          <a:ln/>
        </p:spPr>
        <p:txBody>
          <a:bodyPr wrap="square" lIns="0" tIns="0" rIns="0" bIns="0" rtlCol="0" anchor="ctr">
            <a:normAutofit/>
          </a:bodyPr>
          <a:lstStyle/>
          <a:p>
            <a:pPr marL="0" indent="0" algn="ctr">
              <a:buNone/>
            </a:pPr>
            <a:r>
              <a:rPr lang="en-US" sz="1050" b="1" dirty="0">
                <a:solidFill>
                  <a:srgbClr val="B91C1C"/>
                </a:solidFill>
                <a:latin typeface="Aptos" pitchFamily="34" charset="0"/>
                <a:ea typeface="Aptos" pitchFamily="34" charset="-122"/>
                <a:cs typeface="Aptos" pitchFamily="34" charset="-120"/>
              </a:rPr>
              <a:t>The test patients stay untouched until the final evaluation.</a:t>
            </a:r>
            <a:endParaRPr lang="en-US" sz="1050" dirty="0"/>
          </a:p>
        </p:txBody>
      </p:sp>
      <p:sp>
        <p:nvSpPr>
          <p:cNvPr id="37" name="Slide Number Placeholder 0"/>
          <p:cNvSpPr>
            <a:spLocks noGrp="1"/>
          </p:cNvSpPr>
          <p:nvPr>
            <p:ph type="sldNum" sz="quarter" idx="4294967295"/>
          </p:nvPr>
        </p:nvSpPr>
        <p:spPr>
          <a:xfrm>
            <a:off x="11841480" y="6601968"/>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5B6B7D"/>
                </a:solidFill>
                <a:latin typeface="Aptos"/>
                <a:ea typeface="Aptos"/>
                <a:cs typeface="Aptos"/>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347472"/>
            <a:ext cx="11064240" cy="429768"/>
          </a:xfrm>
          <a:prstGeom prst="rect">
            <a:avLst/>
          </a:prstGeom>
          <a:noFill/>
          <a:ln/>
        </p:spPr>
        <p:txBody>
          <a:bodyPr wrap="square" lIns="0" tIns="0" rIns="0" bIns="0" rtlCol="0" anchor="ctr"/>
          <a:lstStyle/>
          <a:p>
            <a:pPr marL="0" indent="0">
              <a:buNone/>
            </a:pPr>
            <a:r>
              <a:rPr lang="en-US" sz="2400" b="1" dirty="0">
                <a:solidFill>
                  <a:srgbClr val="14304A"/>
                </a:solidFill>
                <a:latin typeface="Aptos Display" pitchFamily="34" charset="0"/>
                <a:ea typeface="Aptos Display" pitchFamily="34" charset="-122"/>
                <a:cs typeface="Aptos Display" pitchFamily="34" charset="-120"/>
              </a:rPr>
              <a:t>What I want to find out</a:t>
            </a:r>
            <a:endParaRPr lang="en-US" sz="2400" dirty="0"/>
          </a:p>
        </p:txBody>
      </p:sp>
      <p:sp>
        <p:nvSpPr>
          <p:cNvPr id="3" name="Text 1"/>
          <p:cNvSpPr/>
          <p:nvPr/>
        </p:nvSpPr>
        <p:spPr>
          <a:xfrm>
            <a:off x="521208" y="841248"/>
            <a:ext cx="10698480" cy="256032"/>
          </a:xfrm>
          <a:prstGeom prst="rect">
            <a:avLst/>
          </a:prstGeom>
          <a:noFill/>
          <a:ln/>
        </p:spPr>
        <p:txBody>
          <a:bodyPr wrap="square" lIns="0" tIns="0" rIns="0" bIns="0" rtlCol="0" anchor="ctr"/>
          <a:lstStyle/>
          <a:p>
            <a:pPr marL="0" indent="0">
              <a:buNone/>
            </a:pPr>
            <a:r>
              <a:rPr lang="en-US" sz="1050" dirty="0">
                <a:solidFill>
                  <a:srgbClr val="506173"/>
                </a:solidFill>
              </a:rPr>
              <a:t>The first baseline is intentionally simple; the later experiments test where performance comes from.</a:t>
            </a:r>
            <a:endParaRPr lang="en-US" sz="1050" dirty="0"/>
          </a:p>
        </p:txBody>
      </p:sp>
      <p:sp>
        <p:nvSpPr>
          <p:cNvPr id="4" name="Shape 2"/>
          <p:cNvSpPr/>
          <p:nvPr/>
        </p:nvSpPr>
        <p:spPr>
          <a:xfrm>
            <a:off x="548640" y="1371600"/>
            <a:ext cx="2523744" cy="1865376"/>
          </a:xfrm>
          <a:prstGeom prst="roundRect">
            <a:avLst>
              <a:gd name="adj" fmla="val 5882"/>
            </a:avLst>
          </a:prstGeom>
          <a:solidFill>
            <a:srgbClr val="FFFFFF"/>
          </a:solidFill>
          <a:ln w="12700">
            <a:solidFill>
              <a:srgbClr val="D7E0EA"/>
            </a:solidFill>
            <a:prstDash val="solid"/>
          </a:ln>
        </p:spPr>
        <p:txBody>
          <a:bodyPr/>
          <a:lstStyle/>
          <a:p>
            <a:endParaRPr lang="de-DE"/>
          </a:p>
        </p:txBody>
      </p:sp>
      <p:sp>
        <p:nvSpPr>
          <p:cNvPr id="5" name="Shape 3"/>
          <p:cNvSpPr/>
          <p:nvPr/>
        </p:nvSpPr>
        <p:spPr>
          <a:xfrm>
            <a:off x="713232" y="1563624"/>
            <a:ext cx="457200" cy="457200"/>
          </a:xfrm>
          <a:prstGeom prst="ellipse">
            <a:avLst/>
          </a:prstGeom>
          <a:solidFill>
            <a:srgbClr val="0E7490"/>
          </a:solidFill>
          <a:ln w="12700">
            <a:solidFill>
              <a:srgbClr val="0E7490"/>
            </a:solidFill>
            <a:prstDash val="solid"/>
          </a:ln>
        </p:spPr>
        <p:txBody>
          <a:bodyPr/>
          <a:lstStyle/>
          <a:p>
            <a:endParaRPr lang="de-DE"/>
          </a:p>
        </p:txBody>
      </p:sp>
      <p:sp>
        <p:nvSpPr>
          <p:cNvPr id="6" name="Text 4"/>
          <p:cNvSpPr/>
          <p:nvPr/>
        </p:nvSpPr>
        <p:spPr>
          <a:xfrm>
            <a:off x="713232" y="1645920"/>
            <a:ext cx="457200" cy="201168"/>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A</a:t>
            </a:r>
            <a:endParaRPr lang="en-US" sz="900" dirty="0"/>
          </a:p>
        </p:txBody>
      </p:sp>
      <p:sp>
        <p:nvSpPr>
          <p:cNvPr id="7" name="Text 5"/>
          <p:cNvSpPr/>
          <p:nvPr/>
        </p:nvSpPr>
        <p:spPr>
          <a:xfrm>
            <a:off x="1307592" y="1572768"/>
            <a:ext cx="1417320" cy="274320"/>
          </a:xfrm>
          <a:prstGeom prst="rect">
            <a:avLst/>
          </a:prstGeom>
          <a:noFill/>
          <a:ln/>
        </p:spPr>
        <p:txBody>
          <a:bodyPr wrap="square" lIns="0" tIns="0" rIns="0" bIns="0" rtlCol="0" anchor="ctr">
            <a:normAutofit/>
          </a:bodyPr>
          <a:lstStyle/>
          <a:p>
            <a:pPr marL="0" indent="0" algn="l">
              <a:buNone/>
            </a:pPr>
            <a:r>
              <a:rPr lang="en-US" sz="1400" b="1" dirty="0">
                <a:solidFill>
                  <a:srgbClr val="14304A"/>
                </a:solidFill>
                <a:latin typeface="Aptos" pitchFamily="34" charset="0"/>
                <a:ea typeface="Aptos" pitchFamily="34" charset="-122"/>
                <a:cs typeface="Aptos" pitchFamily="34" charset="-120"/>
              </a:rPr>
              <a:t>Representation</a:t>
            </a:r>
            <a:endParaRPr lang="en-US" sz="1400" dirty="0"/>
          </a:p>
        </p:txBody>
      </p:sp>
      <p:sp>
        <p:nvSpPr>
          <p:cNvPr id="8" name="Text 6"/>
          <p:cNvSpPr/>
          <p:nvPr/>
        </p:nvSpPr>
        <p:spPr>
          <a:xfrm>
            <a:off x="749808" y="2130552"/>
            <a:ext cx="2121408" cy="694944"/>
          </a:xfrm>
          <a:prstGeom prst="rect">
            <a:avLst/>
          </a:prstGeom>
          <a:noFill/>
          <a:ln/>
        </p:spPr>
        <p:txBody>
          <a:bodyPr wrap="square" lIns="0" tIns="0" rIns="0" bIns="0" rtlCol="0" anchor="ctr">
            <a:normAutofit/>
          </a:bodyPr>
          <a:lstStyle/>
          <a:p>
            <a:pPr marL="0" indent="0" algn="ctr">
              <a:buNone/>
            </a:pPr>
            <a:r>
              <a:rPr lang="en-US" sz="1100" dirty="0">
                <a:solidFill>
                  <a:srgbClr val="506173"/>
                </a:solidFill>
                <a:latin typeface="Aptos" pitchFamily="34" charset="0"/>
                <a:ea typeface="Aptos" pitchFamily="34" charset="-122"/>
                <a:cs typeface="Aptos" pitchFamily="34" charset="-120"/>
              </a:rPr>
              <a:t>Medical foundation model</a:t>
            </a:r>
            <a:endParaRPr lang="en-US" sz="1100" dirty="0"/>
          </a:p>
          <a:p>
            <a:pPr marL="0" indent="0" algn="ctr">
              <a:buNone/>
            </a:pPr>
            <a:r>
              <a:rPr lang="en-US" sz="1100" dirty="0">
                <a:solidFill>
                  <a:srgbClr val="506173"/>
                </a:solidFill>
                <a:latin typeface="Aptos" pitchFamily="34" charset="0"/>
                <a:ea typeface="Aptos" pitchFamily="34" charset="-122"/>
                <a:cs typeface="Aptos" pitchFamily="34" charset="-120"/>
              </a:rPr>
              <a:t>vs general vision model</a:t>
            </a:r>
            <a:endParaRPr lang="en-US" sz="1100" dirty="0"/>
          </a:p>
        </p:txBody>
      </p:sp>
      <p:sp>
        <p:nvSpPr>
          <p:cNvPr id="9" name="Shape 7"/>
          <p:cNvSpPr/>
          <p:nvPr/>
        </p:nvSpPr>
        <p:spPr>
          <a:xfrm>
            <a:off x="941832" y="2779776"/>
            <a:ext cx="1737360" cy="274320"/>
          </a:xfrm>
          <a:prstGeom prst="roundRect">
            <a:avLst>
              <a:gd name="adj" fmla="val 43333"/>
            </a:avLst>
          </a:prstGeom>
          <a:solidFill>
            <a:srgbClr val="DFF4F7"/>
          </a:solidFill>
          <a:ln w="12700">
            <a:solidFill>
              <a:srgbClr val="DFF4F7"/>
            </a:solidFill>
            <a:prstDash val="solid"/>
          </a:ln>
        </p:spPr>
        <p:txBody>
          <a:bodyPr/>
          <a:lstStyle/>
          <a:p>
            <a:endParaRPr lang="de-DE"/>
          </a:p>
        </p:txBody>
      </p:sp>
      <p:sp>
        <p:nvSpPr>
          <p:cNvPr id="10" name="Text 8"/>
          <p:cNvSpPr/>
          <p:nvPr/>
        </p:nvSpPr>
        <p:spPr>
          <a:xfrm>
            <a:off x="941832" y="2788920"/>
            <a:ext cx="1737360" cy="237744"/>
          </a:xfrm>
          <a:prstGeom prst="rect">
            <a:avLst/>
          </a:prstGeom>
          <a:noFill/>
          <a:ln/>
        </p:spPr>
        <p:txBody>
          <a:bodyPr wrap="square" lIns="0" tIns="0" rIns="0" bIns="0" rtlCol="0" anchor="ctr">
            <a:normAutofit/>
          </a:bodyPr>
          <a:lstStyle/>
          <a:p>
            <a:pPr marL="0" indent="0" algn="ctr">
              <a:buNone/>
            </a:pPr>
            <a:r>
              <a:rPr lang="en-US" sz="820" b="1" dirty="0">
                <a:solidFill>
                  <a:srgbClr val="0E7490"/>
                </a:solidFill>
                <a:latin typeface="Aptos" pitchFamily="34" charset="0"/>
                <a:ea typeface="Aptos" pitchFamily="34" charset="-122"/>
                <a:cs typeface="Aptos" pitchFamily="34" charset="-120"/>
              </a:rPr>
              <a:t>CONTROLLED COMPARISON</a:t>
            </a:r>
            <a:endParaRPr lang="en-US" sz="820" dirty="0"/>
          </a:p>
        </p:txBody>
      </p:sp>
      <p:sp>
        <p:nvSpPr>
          <p:cNvPr id="11" name="Shape 9"/>
          <p:cNvSpPr/>
          <p:nvPr/>
        </p:nvSpPr>
        <p:spPr>
          <a:xfrm>
            <a:off x="3346704" y="1371600"/>
            <a:ext cx="2523744" cy="1865376"/>
          </a:xfrm>
          <a:prstGeom prst="roundRect">
            <a:avLst>
              <a:gd name="adj" fmla="val 5882"/>
            </a:avLst>
          </a:prstGeom>
          <a:solidFill>
            <a:srgbClr val="FFFFFF"/>
          </a:solidFill>
          <a:ln w="12700">
            <a:solidFill>
              <a:srgbClr val="D7E0EA"/>
            </a:solidFill>
            <a:prstDash val="solid"/>
          </a:ln>
        </p:spPr>
        <p:txBody>
          <a:bodyPr/>
          <a:lstStyle/>
          <a:p>
            <a:endParaRPr lang="de-DE"/>
          </a:p>
        </p:txBody>
      </p:sp>
      <p:sp>
        <p:nvSpPr>
          <p:cNvPr id="12" name="Shape 10"/>
          <p:cNvSpPr/>
          <p:nvPr/>
        </p:nvSpPr>
        <p:spPr>
          <a:xfrm>
            <a:off x="3511296" y="1563624"/>
            <a:ext cx="457200" cy="457200"/>
          </a:xfrm>
          <a:prstGeom prst="ellipse">
            <a:avLst/>
          </a:prstGeom>
          <a:solidFill>
            <a:srgbClr val="2563EB"/>
          </a:solidFill>
          <a:ln w="12700">
            <a:solidFill>
              <a:srgbClr val="2563EB"/>
            </a:solidFill>
            <a:prstDash val="solid"/>
          </a:ln>
        </p:spPr>
        <p:txBody>
          <a:bodyPr/>
          <a:lstStyle/>
          <a:p>
            <a:endParaRPr lang="de-DE"/>
          </a:p>
        </p:txBody>
      </p:sp>
      <p:sp>
        <p:nvSpPr>
          <p:cNvPr id="13" name="Text 11"/>
          <p:cNvSpPr/>
          <p:nvPr/>
        </p:nvSpPr>
        <p:spPr>
          <a:xfrm>
            <a:off x="3511296" y="1645920"/>
            <a:ext cx="457200" cy="201168"/>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B</a:t>
            </a:r>
            <a:endParaRPr lang="en-US" sz="900" dirty="0"/>
          </a:p>
        </p:txBody>
      </p:sp>
      <p:sp>
        <p:nvSpPr>
          <p:cNvPr id="14" name="Text 12"/>
          <p:cNvSpPr/>
          <p:nvPr/>
        </p:nvSpPr>
        <p:spPr>
          <a:xfrm>
            <a:off x="4105656" y="1572768"/>
            <a:ext cx="1417320" cy="274320"/>
          </a:xfrm>
          <a:prstGeom prst="rect">
            <a:avLst/>
          </a:prstGeom>
          <a:noFill/>
          <a:ln/>
        </p:spPr>
        <p:txBody>
          <a:bodyPr wrap="square" lIns="0" tIns="0" rIns="0" bIns="0" rtlCol="0" anchor="ctr">
            <a:normAutofit/>
          </a:bodyPr>
          <a:lstStyle/>
          <a:p>
            <a:pPr marL="0" indent="0" algn="l">
              <a:buNone/>
            </a:pPr>
            <a:r>
              <a:rPr lang="en-US" sz="1400" b="1" dirty="0">
                <a:solidFill>
                  <a:srgbClr val="14304A"/>
                </a:solidFill>
                <a:latin typeface="Aptos" pitchFamily="34" charset="0"/>
                <a:ea typeface="Aptos" pitchFamily="34" charset="-122"/>
                <a:cs typeface="Aptos" pitchFamily="34" charset="-120"/>
              </a:rPr>
              <a:t>Anatomy</a:t>
            </a:r>
            <a:endParaRPr lang="en-US" sz="1400" dirty="0"/>
          </a:p>
        </p:txBody>
      </p:sp>
      <p:sp>
        <p:nvSpPr>
          <p:cNvPr id="15" name="Text 13"/>
          <p:cNvSpPr/>
          <p:nvPr/>
        </p:nvSpPr>
        <p:spPr>
          <a:xfrm>
            <a:off x="3547872" y="2130552"/>
            <a:ext cx="2121408" cy="694944"/>
          </a:xfrm>
          <a:prstGeom prst="rect">
            <a:avLst/>
          </a:prstGeom>
          <a:noFill/>
          <a:ln/>
        </p:spPr>
        <p:txBody>
          <a:bodyPr wrap="square" lIns="0" tIns="0" rIns="0" bIns="0" rtlCol="0" anchor="ctr">
            <a:normAutofit/>
          </a:bodyPr>
          <a:lstStyle/>
          <a:p>
            <a:pPr marL="0" indent="0" algn="ctr">
              <a:buNone/>
            </a:pPr>
            <a:r>
              <a:rPr lang="en-US" sz="1100" dirty="0">
                <a:solidFill>
                  <a:srgbClr val="506173"/>
                </a:solidFill>
                <a:latin typeface="Aptos" pitchFamily="34" charset="0"/>
                <a:ea typeface="Aptos" pitchFamily="34" charset="-122"/>
                <a:cs typeface="Aptos" pitchFamily="34" charset="-120"/>
              </a:rPr>
              <a:t>Axial vs coronal vs</a:t>
            </a:r>
            <a:endParaRPr lang="en-US" sz="1100" dirty="0"/>
          </a:p>
          <a:p>
            <a:pPr marL="0" indent="0" algn="ctr">
              <a:buNone/>
            </a:pPr>
            <a:r>
              <a:rPr lang="en-US" sz="1100" dirty="0">
                <a:solidFill>
                  <a:srgbClr val="506173"/>
                </a:solidFill>
                <a:latin typeface="Aptos" pitchFamily="34" charset="0"/>
                <a:ea typeface="Aptos" pitchFamily="34" charset="-122"/>
                <a:cs typeface="Aptos" pitchFamily="34" charset="-120"/>
              </a:rPr>
              <a:t>sagittal vs all planes</a:t>
            </a:r>
            <a:endParaRPr lang="en-US" sz="1100" dirty="0"/>
          </a:p>
        </p:txBody>
      </p:sp>
      <p:sp>
        <p:nvSpPr>
          <p:cNvPr id="16" name="Shape 14"/>
          <p:cNvSpPr/>
          <p:nvPr/>
        </p:nvSpPr>
        <p:spPr>
          <a:xfrm>
            <a:off x="3739896" y="2779776"/>
            <a:ext cx="1737360" cy="274320"/>
          </a:xfrm>
          <a:prstGeom prst="roundRect">
            <a:avLst>
              <a:gd name="adj" fmla="val 43333"/>
            </a:avLst>
          </a:prstGeom>
          <a:solidFill>
            <a:srgbClr val="E7EFFC"/>
          </a:solidFill>
          <a:ln w="12700">
            <a:solidFill>
              <a:srgbClr val="E7EFFC"/>
            </a:solidFill>
            <a:prstDash val="solid"/>
          </a:ln>
        </p:spPr>
        <p:txBody>
          <a:bodyPr/>
          <a:lstStyle/>
          <a:p>
            <a:endParaRPr lang="de-DE"/>
          </a:p>
        </p:txBody>
      </p:sp>
      <p:sp>
        <p:nvSpPr>
          <p:cNvPr id="17" name="Text 15"/>
          <p:cNvSpPr/>
          <p:nvPr/>
        </p:nvSpPr>
        <p:spPr>
          <a:xfrm>
            <a:off x="3739896" y="2788920"/>
            <a:ext cx="1737360" cy="237744"/>
          </a:xfrm>
          <a:prstGeom prst="rect">
            <a:avLst/>
          </a:prstGeom>
          <a:noFill/>
          <a:ln/>
        </p:spPr>
        <p:txBody>
          <a:bodyPr wrap="square" lIns="0" tIns="0" rIns="0" bIns="0" rtlCol="0" anchor="ctr">
            <a:normAutofit/>
          </a:bodyPr>
          <a:lstStyle/>
          <a:p>
            <a:pPr marL="0" indent="0" algn="ctr">
              <a:buNone/>
            </a:pPr>
            <a:r>
              <a:rPr lang="en-US" sz="820" b="1" dirty="0">
                <a:solidFill>
                  <a:srgbClr val="2563EB"/>
                </a:solidFill>
                <a:latin typeface="Aptos" pitchFamily="34" charset="0"/>
                <a:ea typeface="Aptos" pitchFamily="34" charset="-122"/>
                <a:cs typeface="Aptos" pitchFamily="34" charset="-120"/>
              </a:rPr>
              <a:t>CONTROLLED COMPARISON</a:t>
            </a:r>
            <a:endParaRPr lang="en-US" sz="820" dirty="0"/>
          </a:p>
        </p:txBody>
      </p:sp>
      <p:sp>
        <p:nvSpPr>
          <p:cNvPr id="18" name="Shape 16"/>
          <p:cNvSpPr/>
          <p:nvPr/>
        </p:nvSpPr>
        <p:spPr>
          <a:xfrm>
            <a:off x="6144768" y="1371600"/>
            <a:ext cx="2523744" cy="1865376"/>
          </a:xfrm>
          <a:prstGeom prst="roundRect">
            <a:avLst>
              <a:gd name="adj" fmla="val 5882"/>
            </a:avLst>
          </a:prstGeom>
          <a:solidFill>
            <a:srgbClr val="FFFFFF"/>
          </a:solidFill>
          <a:ln w="12700">
            <a:solidFill>
              <a:srgbClr val="D7E0EA"/>
            </a:solidFill>
            <a:prstDash val="solid"/>
          </a:ln>
        </p:spPr>
        <p:txBody>
          <a:bodyPr/>
          <a:lstStyle/>
          <a:p>
            <a:endParaRPr lang="de-DE"/>
          </a:p>
        </p:txBody>
      </p:sp>
      <p:sp>
        <p:nvSpPr>
          <p:cNvPr id="19" name="Shape 17"/>
          <p:cNvSpPr/>
          <p:nvPr/>
        </p:nvSpPr>
        <p:spPr>
          <a:xfrm>
            <a:off x="6309360" y="1563624"/>
            <a:ext cx="457200" cy="457200"/>
          </a:xfrm>
          <a:prstGeom prst="ellipse">
            <a:avLst/>
          </a:prstGeom>
          <a:solidFill>
            <a:srgbClr val="F59E0B"/>
          </a:solidFill>
          <a:ln w="12700">
            <a:solidFill>
              <a:srgbClr val="F59E0B"/>
            </a:solidFill>
            <a:prstDash val="solid"/>
          </a:ln>
        </p:spPr>
        <p:txBody>
          <a:bodyPr/>
          <a:lstStyle/>
          <a:p>
            <a:endParaRPr lang="de-DE"/>
          </a:p>
        </p:txBody>
      </p:sp>
      <p:sp>
        <p:nvSpPr>
          <p:cNvPr id="20" name="Text 18"/>
          <p:cNvSpPr/>
          <p:nvPr/>
        </p:nvSpPr>
        <p:spPr>
          <a:xfrm>
            <a:off x="6309360" y="1645920"/>
            <a:ext cx="457200" cy="201168"/>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C</a:t>
            </a:r>
            <a:endParaRPr lang="en-US" sz="900" dirty="0"/>
          </a:p>
        </p:txBody>
      </p:sp>
      <p:sp>
        <p:nvSpPr>
          <p:cNvPr id="21" name="Text 19"/>
          <p:cNvSpPr/>
          <p:nvPr/>
        </p:nvSpPr>
        <p:spPr>
          <a:xfrm>
            <a:off x="6903720" y="1572768"/>
            <a:ext cx="1417320" cy="274320"/>
          </a:xfrm>
          <a:prstGeom prst="rect">
            <a:avLst/>
          </a:prstGeom>
          <a:noFill/>
          <a:ln/>
        </p:spPr>
        <p:txBody>
          <a:bodyPr wrap="square" lIns="0" tIns="0" rIns="0" bIns="0" rtlCol="0" anchor="ctr">
            <a:normAutofit/>
          </a:bodyPr>
          <a:lstStyle/>
          <a:p>
            <a:pPr marL="0" indent="0" algn="l">
              <a:buNone/>
            </a:pPr>
            <a:r>
              <a:rPr lang="en-US" sz="1400" b="1" dirty="0">
                <a:solidFill>
                  <a:srgbClr val="14304A"/>
                </a:solidFill>
                <a:latin typeface="Aptos" pitchFamily="34" charset="0"/>
                <a:ea typeface="Aptos" pitchFamily="34" charset="-122"/>
                <a:cs typeface="Aptos" pitchFamily="34" charset="-120"/>
              </a:rPr>
              <a:t>Aggregation</a:t>
            </a:r>
            <a:endParaRPr lang="en-US" sz="1400" dirty="0"/>
          </a:p>
        </p:txBody>
      </p:sp>
      <p:sp>
        <p:nvSpPr>
          <p:cNvPr id="22" name="Text 20"/>
          <p:cNvSpPr/>
          <p:nvPr/>
        </p:nvSpPr>
        <p:spPr>
          <a:xfrm>
            <a:off x="6345936" y="2130552"/>
            <a:ext cx="2121408" cy="694944"/>
          </a:xfrm>
          <a:prstGeom prst="rect">
            <a:avLst/>
          </a:prstGeom>
          <a:noFill/>
          <a:ln/>
        </p:spPr>
        <p:txBody>
          <a:bodyPr wrap="square" lIns="0" tIns="0" rIns="0" bIns="0" rtlCol="0" anchor="ctr">
            <a:normAutofit/>
          </a:bodyPr>
          <a:lstStyle/>
          <a:p>
            <a:pPr marL="0" indent="0" algn="ctr">
              <a:buNone/>
            </a:pPr>
            <a:r>
              <a:rPr lang="en-US" sz="1100" dirty="0">
                <a:solidFill>
                  <a:srgbClr val="506173"/>
                </a:solidFill>
                <a:latin typeface="Aptos" pitchFamily="34" charset="0"/>
                <a:ea typeface="Aptos" pitchFamily="34" charset="-122"/>
                <a:cs typeface="Aptos" pitchFamily="34" charset="-120"/>
              </a:rPr>
              <a:t>Mean pooling vs richer</a:t>
            </a:r>
            <a:endParaRPr lang="en-US" sz="1100" dirty="0"/>
          </a:p>
          <a:p>
            <a:pPr marL="0" indent="0" algn="ctr">
              <a:buNone/>
            </a:pPr>
            <a:r>
              <a:rPr lang="en-US" sz="1100" dirty="0">
                <a:solidFill>
                  <a:srgbClr val="506173"/>
                </a:solidFill>
                <a:latin typeface="Aptos" pitchFamily="34" charset="0"/>
                <a:ea typeface="Aptos" pitchFamily="34" charset="-122"/>
                <a:cs typeface="Aptos" pitchFamily="34" charset="-120"/>
              </a:rPr>
              <a:t>patient summaries</a:t>
            </a:r>
            <a:endParaRPr lang="en-US" sz="1100" dirty="0"/>
          </a:p>
        </p:txBody>
      </p:sp>
      <p:sp>
        <p:nvSpPr>
          <p:cNvPr id="23" name="Shape 21"/>
          <p:cNvSpPr/>
          <p:nvPr/>
        </p:nvSpPr>
        <p:spPr>
          <a:xfrm>
            <a:off x="6537960" y="2779776"/>
            <a:ext cx="1737360" cy="274320"/>
          </a:xfrm>
          <a:prstGeom prst="roundRect">
            <a:avLst>
              <a:gd name="adj" fmla="val 43333"/>
            </a:avLst>
          </a:prstGeom>
          <a:solidFill>
            <a:srgbClr val="FFF4D6"/>
          </a:solidFill>
          <a:ln w="12700">
            <a:solidFill>
              <a:srgbClr val="FFF4D6"/>
            </a:solidFill>
            <a:prstDash val="solid"/>
          </a:ln>
        </p:spPr>
        <p:txBody>
          <a:bodyPr/>
          <a:lstStyle/>
          <a:p>
            <a:endParaRPr lang="de-DE"/>
          </a:p>
        </p:txBody>
      </p:sp>
      <p:sp>
        <p:nvSpPr>
          <p:cNvPr id="24" name="Text 22"/>
          <p:cNvSpPr/>
          <p:nvPr/>
        </p:nvSpPr>
        <p:spPr>
          <a:xfrm>
            <a:off x="6537960" y="2788920"/>
            <a:ext cx="1737360" cy="237744"/>
          </a:xfrm>
          <a:prstGeom prst="rect">
            <a:avLst/>
          </a:prstGeom>
          <a:noFill/>
          <a:ln/>
        </p:spPr>
        <p:txBody>
          <a:bodyPr wrap="square" lIns="0" tIns="0" rIns="0" bIns="0" rtlCol="0" anchor="ctr">
            <a:normAutofit/>
          </a:bodyPr>
          <a:lstStyle/>
          <a:p>
            <a:pPr marL="0" indent="0" algn="ctr">
              <a:buNone/>
            </a:pPr>
            <a:r>
              <a:rPr lang="en-US" sz="820" b="1" dirty="0">
                <a:solidFill>
                  <a:srgbClr val="F59E0B"/>
                </a:solidFill>
                <a:latin typeface="Aptos" pitchFamily="34" charset="0"/>
                <a:ea typeface="Aptos" pitchFamily="34" charset="-122"/>
                <a:cs typeface="Aptos" pitchFamily="34" charset="-120"/>
              </a:rPr>
              <a:t>CONTROLLED COMPARISON</a:t>
            </a:r>
            <a:endParaRPr lang="en-US" sz="820" dirty="0"/>
          </a:p>
        </p:txBody>
      </p:sp>
      <p:sp>
        <p:nvSpPr>
          <p:cNvPr id="25" name="Shape 23"/>
          <p:cNvSpPr/>
          <p:nvPr/>
        </p:nvSpPr>
        <p:spPr>
          <a:xfrm>
            <a:off x="8942832" y="1371600"/>
            <a:ext cx="2523744" cy="1865376"/>
          </a:xfrm>
          <a:prstGeom prst="roundRect">
            <a:avLst>
              <a:gd name="adj" fmla="val 5882"/>
            </a:avLst>
          </a:prstGeom>
          <a:solidFill>
            <a:srgbClr val="FFFFFF"/>
          </a:solidFill>
          <a:ln w="12700">
            <a:solidFill>
              <a:srgbClr val="D7E0EA"/>
            </a:solidFill>
            <a:prstDash val="solid"/>
          </a:ln>
        </p:spPr>
        <p:txBody>
          <a:bodyPr/>
          <a:lstStyle/>
          <a:p>
            <a:endParaRPr lang="de-DE"/>
          </a:p>
        </p:txBody>
      </p:sp>
      <p:sp>
        <p:nvSpPr>
          <p:cNvPr id="26" name="Shape 24"/>
          <p:cNvSpPr/>
          <p:nvPr/>
        </p:nvSpPr>
        <p:spPr>
          <a:xfrm>
            <a:off x="9107424" y="1563624"/>
            <a:ext cx="457200" cy="457200"/>
          </a:xfrm>
          <a:prstGeom prst="ellipse">
            <a:avLst/>
          </a:prstGeom>
          <a:solidFill>
            <a:srgbClr val="6D28D9"/>
          </a:solidFill>
          <a:ln w="12700">
            <a:solidFill>
              <a:srgbClr val="6D28D9"/>
            </a:solidFill>
            <a:prstDash val="solid"/>
          </a:ln>
        </p:spPr>
        <p:txBody>
          <a:bodyPr/>
          <a:lstStyle/>
          <a:p>
            <a:endParaRPr lang="de-DE"/>
          </a:p>
        </p:txBody>
      </p:sp>
      <p:sp>
        <p:nvSpPr>
          <p:cNvPr id="27" name="Text 25"/>
          <p:cNvSpPr/>
          <p:nvPr/>
        </p:nvSpPr>
        <p:spPr>
          <a:xfrm>
            <a:off x="9107424" y="1645920"/>
            <a:ext cx="457200" cy="201168"/>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D</a:t>
            </a:r>
            <a:endParaRPr lang="en-US" sz="900" dirty="0"/>
          </a:p>
        </p:txBody>
      </p:sp>
      <p:sp>
        <p:nvSpPr>
          <p:cNvPr id="28" name="Text 26"/>
          <p:cNvSpPr/>
          <p:nvPr/>
        </p:nvSpPr>
        <p:spPr>
          <a:xfrm>
            <a:off x="9701784" y="1572768"/>
            <a:ext cx="1417320" cy="274320"/>
          </a:xfrm>
          <a:prstGeom prst="rect">
            <a:avLst/>
          </a:prstGeom>
          <a:noFill/>
          <a:ln/>
        </p:spPr>
        <p:txBody>
          <a:bodyPr wrap="square" lIns="0" tIns="0" rIns="0" bIns="0" rtlCol="0" anchor="ctr">
            <a:normAutofit/>
          </a:bodyPr>
          <a:lstStyle/>
          <a:p>
            <a:pPr marL="0" indent="0" algn="l">
              <a:buNone/>
            </a:pPr>
            <a:r>
              <a:rPr lang="en-US" sz="1400" b="1" dirty="0">
                <a:solidFill>
                  <a:srgbClr val="14304A"/>
                </a:solidFill>
                <a:latin typeface="Aptos" pitchFamily="34" charset="0"/>
                <a:ea typeface="Aptos" pitchFamily="34" charset="-122"/>
                <a:cs typeface="Aptos" pitchFamily="34" charset="-120"/>
              </a:rPr>
              <a:t>Adaptation</a:t>
            </a:r>
            <a:endParaRPr lang="en-US" sz="1400" dirty="0"/>
          </a:p>
        </p:txBody>
      </p:sp>
      <p:sp>
        <p:nvSpPr>
          <p:cNvPr id="29" name="Text 27"/>
          <p:cNvSpPr/>
          <p:nvPr/>
        </p:nvSpPr>
        <p:spPr>
          <a:xfrm>
            <a:off x="9144000" y="2130552"/>
            <a:ext cx="2121408" cy="694944"/>
          </a:xfrm>
          <a:prstGeom prst="rect">
            <a:avLst/>
          </a:prstGeom>
          <a:noFill/>
          <a:ln/>
        </p:spPr>
        <p:txBody>
          <a:bodyPr wrap="square" lIns="0" tIns="0" rIns="0" bIns="0" rtlCol="0" anchor="ctr">
            <a:normAutofit/>
          </a:bodyPr>
          <a:lstStyle/>
          <a:p>
            <a:pPr marL="0" indent="0" algn="ctr">
              <a:buNone/>
            </a:pPr>
            <a:r>
              <a:rPr lang="en-US" sz="1100" dirty="0">
                <a:solidFill>
                  <a:srgbClr val="506173"/>
                </a:solidFill>
                <a:latin typeface="Aptos" pitchFamily="34" charset="0"/>
                <a:ea typeface="Aptos" pitchFamily="34" charset="-122"/>
                <a:cs typeface="Aptos" pitchFamily="34" charset="-120"/>
              </a:rPr>
              <a:t>Frozen encoder vs</a:t>
            </a:r>
            <a:endParaRPr lang="en-US" sz="1100" dirty="0"/>
          </a:p>
          <a:p>
            <a:pPr marL="0" indent="0" algn="ctr">
              <a:buNone/>
            </a:pPr>
            <a:r>
              <a:rPr lang="en-US" sz="1100" dirty="0">
                <a:solidFill>
                  <a:srgbClr val="506173"/>
                </a:solidFill>
                <a:latin typeface="Aptos" pitchFamily="34" charset="0"/>
                <a:ea typeface="Aptos" pitchFamily="34" charset="-122"/>
                <a:cs typeface="Aptos" pitchFamily="34" charset="-120"/>
              </a:rPr>
              <a:t>task-specific fine-tuning</a:t>
            </a:r>
            <a:endParaRPr lang="en-US" sz="1100" dirty="0"/>
          </a:p>
        </p:txBody>
      </p:sp>
      <p:sp>
        <p:nvSpPr>
          <p:cNvPr id="30" name="Shape 28"/>
          <p:cNvSpPr/>
          <p:nvPr/>
        </p:nvSpPr>
        <p:spPr>
          <a:xfrm>
            <a:off x="9336024" y="2779776"/>
            <a:ext cx="1737360" cy="274320"/>
          </a:xfrm>
          <a:prstGeom prst="roundRect">
            <a:avLst>
              <a:gd name="adj" fmla="val 43333"/>
            </a:avLst>
          </a:prstGeom>
          <a:solidFill>
            <a:srgbClr val="EEE7FF"/>
          </a:solidFill>
          <a:ln w="12700">
            <a:solidFill>
              <a:srgbClr val="EEE7FF"/>
            </a:solidFill>
            <a:prstDash val="solid"/>
          </a:ln>
        </p:spPr>
        <p:txBody>
          <a:bodyPr/>
          <a:lstStyle/>
          <a:p>
            <a:endParaRPr lang="de-DE"/>
          </a:p>
        </p:txBody>
      </p:sp>
      <p:sp>
        <p:nvSpPr>
          <p:cNvPr id="31" name="Text 29"/>
          <p:cNvSpPr/>
          <p:nvPr/>
        </p:nvSpPr>
        <p:spPr>
          <a:xfrm>
            <a:off x="9336024" y="2788920"/>
            <a:ext cx="1737360" cy="237744"/>
          </a:xfrm>
          <a:prstGeom prst="rect">
            <a:avLst/>
          </a:prstGeom>
          <a:noFill/>
          <a:ln/>
        </p:spPr>
        <p:txBody>
          <a:bodyPr wrap="square" lIns="0" tIns="0" rIns="0" bIns="0" rtlCol="0" anchor="ctr">
            <a:normAutofit/>
          </a:bodyPr>
          <a:lstStyle/>
          <a:p>
            <a:pPr marL="0" indent="0" algn="ctr">
              <a:buNone/>
            </a:pPr>
            <a:r>
              <a:rPr lang="en-US" sz="820" b="1" dirty="0">
                <a:solidFill>
                  <a:srgbClr val="6D28D9"/>
                </a:solidFill>
                <a:latin typeface="Aptos" pitchFamily="34" charset="0"/>
                <a:ea typeface="Aptos" pitchFamily="34" charset="-122"/>
                <a:cs typeface="Aptos" pitchFamily="34" charset="-120"/>
              </a:rPr>
              <a:t>CONTROLLED COMPARISON</a:t>
            </a:r>
            <a:endParaRPr lang="en-US" sz="820" dirty="0"/>
          </a:p>
        </p:txBody>
      </p:sp>
      <p:sp>
        <p:nvSpPr>
          <p:cNvPr id="32" name="Shape 30"/>
          <p:cNvSpPr/>
          <p:nvPr/>
        </p:nvSpPr>
        <p:spPr>
          <a:xfrm>
            <a:off x="548640" y="3675888"/>
            <a:ext cx="11091672" cy="2011680"/>
          </a:xfrm>
          <a:prstGeom prst="roundRect">
            <a:avLst>
              <a:gd name="adj" fmla="val 5455"/>
            </a:avLst>
          </a:prstGeom>
          <a:solidFill>
            <a:srgbClr val="14304A"/>
          </a:solidFill>
          <a:ln w="12700">
            <a:solidFill>
              <a:srgbClr val="14304A"/>
            </a:solidFill>
            <a:prstDash val="solid"/>
          </a:ln>
        </p:spPr>
        <p:txBody>
          <a:bodyPr/>
          <a:lstStyle/>
          <a:p>
            <a:endParaRPr lang="de-DE"/>
          </a:p>
        </p:txBody>
      </p:sp>
      <p:sp>
        <p:nvSpPr>
          <p:cNvPr id="33" name="Text 31"/>
          <p:cNvSpPr/>
          <p:nvPr/>
        </p:nvSpPr>
        <p:spPr>
          <a:xfrm>
            <a:off x="868680" y="4014216"/>
            <a:ext cx="2103120" cy="274320"/>
          </a:xfrm>
          <a:prstGeom prst="rect">
            <a:avLst/>
          </a:prstGeom>
          <a:noFill/>
          <a:ln/>
        </p:spPr>
        <p:txBody>
          <a:bodyPr wrap="square" lIns="0" tIns="0" rIns="0" bIns="0" rtlCol="0" anchor="ctr">
            <a:normAutofit/>
          </a:bodyPr>
          <a:lstStyle/>
          <a:p>
            <a:pPr marL="0" indent="0" algn="l">
              <a:buNone/>
            </a:pPr>
            <a:r>
              <a:rPr lang="en-US" sz="1600" b="1" dirty="0">
                <a:solidFill>
                  <a:srgbClr val="FFFFFF"/>
                </a:solidFill>
                <a:latin typeface="Aptos" pitchFamily="34" charset="0"/>
                <a:ea typeface="Aptos" pitchFamily="34" charset="-122"/>
                <a:cs typeface="Aptos" pitchFamily="34" charset="-120"/>
              </a:rPr>
              <a:t>Expected contribution</a:t>
            </a:r>
            <a:endParaRPr lang="en-US" sz="1600" dirty="0"/>
          </a:p>
        </p:txBody>
      </p:sp>
      <p:sp>
        <p:nvSpPr>
          <p:cNvPr id="34" name="Text 32"/>
          <p:cNvSpPr/>
          <p:nvPr/>
        </p:nvSpPr>
        <p:spPr>
          <a:xfrm>
            <a:off x="868680" y="4434840"/>
            <a:ext cx="6492240" cy="713232"/>
          </a:xfrm>
          <a:prstGeom prst="rect">
            <a:avLst/>
          </a:prstGeom>
          <a:noFill/>
          <a:ln/>
        </p:spPr>
        <p:txBody>
          <a:bodyPr wrap="square" lIns="0" tIns="0" rIns="0" bIns="0" rtlCol="0" anchor="ctr">
            <a:normAutofit/>
          </a:bodyPr>
          <a:lstStyle/>
          <a:p>
            <a:pPr marL="0" indent="0" algn="l">
              <a:buNone/>
            </a:pPr>
            <a:r>
              <a:rPr lang="en-US" sz="1700" b="1" dirty="0">
                <a:solidFill>
                  <a:srgbClr val="FFFFFF"/>
                </a:solidFill>
                <a:latin typeface="Aptos" pitchFamily="34" charset="0"/>
                <a:ea typeface="Aptos" pitchFamily="34" charset="-122"/>
                <a:cs typeface="Aptos" pitchFamily="34" charset="-120"/>
              </a:rPr>
              <a:t>A practical, interpretable test of whether foundation-model representations</a:t>
            </a:r>
            <a:endParaRPr lang="en-US" sz="1700" dirty="0"/>
          </a:p>
          <a:p>
            <a:pPr marL="0" indent="0" algn="l">
              <a:buNone/>
            </a:pPr>
            <a:r>
              <a:rPr lang="en-US" sz="1700" b="1" dirty="0">
                <a:solidFill>
                  <a:srgbClr val="FFFFFF"/>
                </a:solidFill>
                <a:latin typeface="Aptos" pitchFamily="34" charset="0"/>
                <a:ea typeface="Aptos" pitchFamily="34" charset="-122"/>
                <a:cs typeface="Aptos" pitchFamily="34" charset="-120"/>
              </a:rPr>
              <a:t>can support six-class structural-MRI staging at the patient level.</a:t>
            </a:r>
            <a:endParaRPr lang="en-US" sz="1700" dirty="0"/>
          </a:p>
        </p:txBody>
      </p:sp>
      <p:sp>
        <p:nvSpPr>
          <p:cNvPr id="35" name="Shape 33"/>
          <p:cNvSpPr/>
          <p:nvPr/>
        </p:nvSpPr>
        <p:spPr>
          <a:xfrm>
            <a:off x="7680960" y="4096512"/>
            <a:ext cx="1965960" cy="274320"/>
          </a:xfrm>
          <a:prstGeom prst="roundRect">
            <a:avLst>
              <a:gd name="adj" fmla="val 43333"/>
            </a:avLst>
          </a:prstGeom>
          <a:solidFill>
            <a:srgbClr val="FDE8E8"/>
          </a:solidFill>
          <a:ln w="12700">
            <a:solidFill>
              <a:srgbClr val="FDE8E8"/>
            </a:solidFill>
            <a:prstDash val="solid"/>
          </a:ln>
        </p:spPr>
        <p:txBody>
          <a:bodyPr/>
          <a:lstStyle/>
          <a:p>
            <a:endParaRPr lang="de-DE"/>
          </a:p>
        </p:txBody>
      </p:sp>
      <p:sp>
        <p:nvSpPr>
          <p:cNvPr id="36" name="Text 34"/>
          <p:cNvSpPr/>
          <p:nvPr/>
        </p:nvSpPr>
        <p:spPr>
          <a:xfrm>
            <a:off x="7680960" y="4105656"/>
            <a:ext cx="1965960" cy="237744"/>
          </a:xfrm>
          <a:prstGeom prst="rect">
            <a:avLst/>
          </a:prstGeom>
          <a:noFill/>
          <a:ln/>
        </p:spPr>
        <p:txBody>
          <a:bodyPr wrap="square" lIns="0" tIns="0" rIns="0" bIns="0" rtlCol="0" anchor="ctr">
            <a:normAutofit/>
          </a:bodyPr>
          <a:lstStyle/>
          <a:p>
            <a:pPr marL="0" indent="0" algn="ctr">
              <a:buNone/>
            </a:pPr>
            <a:r>
              <a:rPr lang="en-US" sz="820" b="1" dirty="0">
                <a:solidFill>
                  <a:srgbClr val="B91C1C"/>
                </a:solidFill>
                <a:latin typeface="Aptos" pitchFamily="34" charset="0"/>
                <a:ea typeface="Aptos" pitchFamily="34" charset="-122"/>
                <a:cs typeface="Aptos" pitchFamily="34" charset="-120"/>
              </a:rPr>
              <a:t>NO PERFORMANCE CLAIMS YET</a:t>
            </a:r>
            <a:endParaRPr lang="en-US" sz="820" dirty="0"/>
          </a:p>
        </p:txBody>
      </p:sp>
      <p:sp>
        <p:nvSpPr>
          <p:cNvPr id="37" name="Text 35"/>
          <p:cNvSpPr/>
          <p:nvPr/>
        </p:nvSpPr>
        <p:spPr>
          <a:xfrm>
            <a:off x="7589520" y="4773168"/>
            <a:ext cx="3246120" cy="457200"/>
          </a:xfrm>
          <a:prstGeom prst="rect">
            <a:avLst/>
          </a:prstGeom>
          <a:noFill/>
          <a:ln/>
        </p:spPr>
        <p:txBody>
          <a:bodyPr wrap="square" lIns="0" tIns="0" rIns="0" bIns="0" rtlCol="0" anchor="ctr">
            <a:normAutofit/>
          </a:bodyPr>
          <a:lstStyle/>
          <a:p>
            <a:pPr marL="0" indent="0" algn="ctr">
              <a:buNone/>
            </a:pPr>
            <a:r>
              <a:rPr lang="en-US" sz="1020" dirty="0">
                <a:solidFill>
                  <a:srgbClr val="CDEEF2"/>
                </a:solidFill>
                <a:latin typeface="Aptos" pitchFamily="34" charset="0"/>
                <a:ea typeface="Aptos" pitchFamily="34" charset="-122"/>
                <a:cs typeface="Aptos" pitchFamily="34" charset="-120"/>
              </a:rPr>
              <a:t>Current focus: metadata → QC → model input validation → embeddings.</a:t>
            </a:r>
            <a:endParaRPr lang="en-US" sz="1020" dirty="0"/>
          </a:p>
        </p:txBody>
      </p:sp>
      <p:sp>
        <p:nvSpPr>
          <p:cNvPr id="38" name="Text 36"/>
          <p:cNvSpPr/>
          <p:nvPr/>
        </p:nvSpPr>
        <p:spPr>
          <a:xfrm>
            <a:off x="7534656" y="5294376"/>
            <a:ext cx="3383280" cy="219456"/>
          </a:xfrm>
          <a:prstGeom prst="rect">
            <a:avLst/>
          </a:prstGeom>
          <a:noFill/>
          <a:ln/>
        </p:spPr>
        <p:txBody>
          <a:bodyPr wrap="square" lIns="0" tIns="0" rIns="0" bIns="0" rtlCol="0" anchor="ctr">
            <a:normAutofit/>
          </a:bodyPr>
          <a:lstStyle/>
          <a:p>
            <a:pPr marL="0" indent="0" algn="ctr">
              <a:buNone/>
            </a:pPr>
            <a:r>
              <a:rPr lang="en-US" sz="760" dirty="0">
                <a:solidFill>
                  <a:srgbClr val="9CB5C2"/>
                </a:solidFill>
                <a:latin typeface="Aptos" pitchFamily="34" charset="0"/>
                <a:ea typeface="Aptos" pitchFamily="34" charset="-122"/>
                <a:cs typeface="Aptos" pitchFamily="34" charset="-120"/>
              </a:rPr>
              <a:t>Methodological basis: project pipeline document + referenced foundation-model literature.</a:t>
            </a:r>
            <a:endParaRPr lang="en-US" sz="760" dirty="0"/>
          </a:p>
        </p:txBody>
      </p:sp>
      <p:sp>
        <p:nvSpPr>
          <p:cNvPr id="39" name="Slide Number Placeholder 0"/>
          <p:cNvSpPr>
            <a:spLocks noGrp="1"/>
          </p:cNvSpPr>
          <p:nvPr>
            <p:ph type="sldNum" sz="quarter" idx="4294967295"/>
          </p:nvPr>
        </p:nvSpPr>
        <p:spPr>
          <a:xfrm>
            <a:off x="11841480" y="6601968"/>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5B6B7D"/>
                </a:solidFill>
                <a:latin typeface="Aptos"/>
                <a:ea typeface="Aptos"/>
                <a:cs typeface="Aptos"/>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347472"/>
            <a:ext cx="11064240" cy="429768"/>
          </a:xfrm>
          <a:prstGeom prst="rect">
            <a:avLst/>
          </a:prstGeom>
          <a:noFill/>
          <a:ln/>
        </p:spPr>
        <p:txBody>
          <a:bodyPr wrap="square" lIns="0" tIns="0" rIns="0" bIns="0" rtlCol="0" anchor="ctr"/>
          <a:lstStyle/>
          <a:p>
            <a:pPr marL="0" indent="0">
              <a:buNone/>
            </a:pPr>
            <a:r>
              <a:rPr lang="en-US" sz="2400" b="1" dirty="0">
                <a:solidFill>
                  <a:srgbClr val="14304A"/>
                </a:solidFill>
                <a:latin typeface="Aptos Display" pitchFamily="34" charset="0"/>
                <a:ea typeface="Aptos Display" pitchFamily="34" charset="-122"/>
                <a:cs typeface="Aptos Display" pitchFamily="34" charset="-120"/>
              </a:rPr>
              <a:t>Appendix — methodological references</a:t>
            </a:r>
            <a:endParaRPr lang="en-US" sz="2400" dirty="0"/>
          </a:p>
        </p:txBody>
      </p:sp>
      <p:sp>
        <p:nvSpPr>
          <p:cNvPr id="3" name="Text 1"/>
          <p:cNvSpPr/>
          <p:nvPr/>
        </p:nvSpPr>
        <p:spPr>
          <a:xfrm>
            <a:off x="521208" y="841248"/>
            <a:ext cx="10698480" cy="256032"/>
          </a:xfrm>
          <a:prstGeom prst="rect">
            <a:avLst/>
          </a:prstGeom>
          <a:noFill/>
          <a:ln/>
        </p:spPr>
        <p:txBody>
          <a:bodyPr wrap="square" lIns="0" tIns="0" rIns="0" bIns="0" rtlCol="0" anchor="ctr"/>
          <a:lstStyle/>
          <a:p>
            <a:pPr marL="0" indent="0">
              <a:buNone/>
            </a:pPr>
            <a:r>
              <a:rPr lang="en-US" sz="1050" dirty="0">
                <a:solidFill>
                  <a:srgbClr val="506173"/>
                </a:solidFill>
              </a:rPr>
              <a:t>Included for follow-up discussion; not part of the 5-minute speaking flow.</a:t>
            </a:r>
            <a:endParaRPr lang="en-US" sz="1050" dirty="0"/>
          </a:p>
        </p:txBody>
      </p:sp>
      <p:sp>
        <p:nvSpPr>
          <p:cNvPr id="4" name="Shape 2"/>
          <p:cNvSpPr/>
          <p:nvPr/>
        </p:nvSpPr>
        <p:spPr>
          <a:xfrm>
            <a:off x="640080" y="1389888"/>
            <a:ext cx="10881360" cy="868680"/>
          </a:xfrm>
          <a:prstGeom prst="roundRect">
            <a:avLst>
              <a:gd name="adj" fmla="val 12632"/>
            </a:avLst>
          </a:prstGeom>
          <a:solidFill>
            <a:srgbClr val="FFFFFF"/>
          </a:solidFill>
          <a:ln w="12700">
            <a:solidFill>
              <a:srgbClr val="D7E0EA"/>
            </a:solidFill>
            <a:prstDash val="solid"/>
          </a:ln>
        </p:spPr>
        <p:txBody>
          <a:bodyPr/>
          <a:lstStyle/>
          <a:p>
            <a:endParaRPr lang="de-DE"/>
          </a:p>
        </p:txBody>
      </p:sp>
      <p:sp>
        <p:nvSpPr>
          <p:cNvPr id="5" name="Text 3"/>
          <p:cNvSpPr/>
          <p:nvPr/>
        </p:nvSpPr>
        <p:spPr>
          <a:xfrm>
            <a:off x="896112" y="1554480"/>
            <a:ext cx="2240280" cy="246888"/>
          </a:xfrm>
          <a:prstGeom prst="rect">
            <a:avLst/>
          </a:prstGeom>
          <a:noFill/>
          <a:ln/>
        </p:spPr>
        <p:txBody>
          <a:bodyPr wrap="square" lIns="0" tIns="0" rIns="0" bIns="0" rtlCol="0" anchor="ctr">
            <a:normAutofit/>
          </a:bodyPr>
          <a:lstStyle/>
          <a:p>
            <a:pPr marL="0" indent="0" algn="l">
              <a:buNone/>
            </a:pPr>
            <a:r>
              <a:rPr lang="en-US" sz="1250" b="1" dirty="0">
                <a:solidFill>
                  <a:srgbClr val="14304A"/>
                </a:solidFill>
                <a:latin typeface="Aptos" pitchFamily="34" charset="0"/>
                <a:ea typeface="Aptos" pitchFamily="34" charset="-122"/>
                <a:cs typeface="Aptos" pitchFamily="34" charset="-120"/>
              </a:rPr>
              <a:t>Menezes et al. (2026)</a:t>
            </a:r>
            <a:endParaRPr lang="en-US" sz="1250" dirty="0"/>
          </a:p>
        </p:txBody>
      </p:sp>
      <p:sp>
        <p:nvSpPr>
          <p:cNvPr id="6" name="Text 4"/>
          <p:cNvSpPr/>
          <p:nvPr/>
        </p:nvSpPr>
        <p:spPr>
          <a:xfrm>
            <a:off x="3017520" y="1481328"/>
            <a:ext cx="6217920" cy="512064"/>
          </a:xfrm>
          <a:prstGeom prst="rect">
            <a:avLst/>
          </a:prstGeom>
          <a:noFill/>
          <a:ln/>
        </p:spPr>
        <p:txBody>
          <a:bodyPr wrap="square" lIns="0" tIns="0" rIns="0" bIns="0" rtlCol="0" anchor="ctr">
            <a:normAutofit/>
          </a:bodyPr>
          <a:lstStyle/>
          <a:p>
            <a:pPr marL="0" indent="0" algn="l">
              <a:buNone/>
            </a:pPr>
            <a:r>
              <a:rPr lang="en-US" sz="920" dirty="0">
                <a:solidFill>
                  <a:srgbClr val="506173"/>
                </a:solidFill>
                <a:latin typeface="Aptos" pitchFamily="34" charset="0"/>
                <a:ea typeface="Aptos" pitchFamily="34" charset="-122"/>
                <a:cs typeface="Aptos" pitchFamily="34" charset="-120"/>
              </a:rPr>
              <a:t>beta-amyloid-stratified six-stage Alzheimer’s disease discrimination via multiband MRI histogram and GLCM features. Biomedical Signal Processing and Control 127, 111143.</a:t>
            </a:r>
            <a:endParaRPr lang="en-US" sz="920" dirty="0"/>
          </a:p>
        </p:txBody>
      </p:sp>
      <p:sp>
        <p:nvSpPr>
          <p:cNvPr id="7" name="Text 5"/>
          <p:cNvSpPr/>
          <p:nvPr/>
        </p:nvSpPr>
        <p:spPr>
          <a:xfrm>
            <a:off x="9345168" y="1554480"/>
            <a:ext cx="1810512" cy="411480"/>
          </a:xfrm>
          <a:prstGeom prst="rect">
            <a:avLst/>
          </a:prstGeom>
          <a:noFill/>
          <a:ln/>
        </p:spPr>
        <p:txBody>
          <a:bodyPr wrap="square" lIns="0" tIns="0" rIns="0" bIns="0" rtlCol="0" anchor="ctr">
            <a:normAutofit/>
          </a:bodyPr>
          <a:lstStyle/>
          <a:p>
            <a:pPr marL="0" indent="0" algn="r">
              <a:buNone/>
            </a:pPr>
            <a:r>
              <a:rPr lang="en-US" sz="810" dirty="0">
                <a:solidFill>
                  <a:srgbClr val="0E7490"/>
                </a:solidFill>
                <a:latin typeface="Aptos" pitchFamily="34" charset="0"/>
                <a:ea typeface="Aptos" pitchFamily="34" charset="-122"/>
                <a:cs typeface="Aptos" pitchFamily="34" charset="-120"/>
              </a:rPr>
              <a:t>10.1016/j.bspc.2026.111143</a:t>
            </a:r>
            <a:endParaRPr lang="en-US" sz="810" dirty="0"/>
          </a:p>
        </p:txBody>
      </p:sp>
      <p:sp>
        <p:nvSpPr>
          <p:cNvPr id="8" name="Shape 6"/>
          <p:cNvSpPr/>
          <p:nvPr/>
        </p:nvSpPr>
        <p:spPr>
          <a:xfrm>
            <a:off x="640080" y="2487168"/>
            <a:ext cx="10881360" cy="868680"/>
          </a:xfrm>
          <a:prstGeom prst="roundRect">
            <a:avLst>
              <a:gd name="adj" fmla="val 12632"/>
            </a:avLst>
          </a:prstGeom>
          <a:solidFill>
            <a:srgbClr val="FFFFFF"/>
          </a:solidFill>
          <a:ln w="12700">
            <a:solidFill>
              <a:srgbClr val="D7E0EA"/>
            </a:solidFill>
            <a:prstDash val="solid"/>
          </a:ln>
        </p:spPr>
        <p:txBody>
          <a:bodyPr/>
          <a:lstStyle/>
          <a:p>
            <a:endParaRPr lang="de-DE"/>
          </a:p>
        </p:txBody>
      </p:sp>
      <p:sp>
        <p:nvSpPr>
          <p:cNvPr id="9" name="Text 7"/>
          <p:cNvSpPr/>
          <p:nvPr/>
        </p:nvSpPr>
        <p:spPr>
          <a:xfrm>
            <a:off x="896112" y="2651760"/>
            <a:ext cx="2240280" cy="246888"/>
          </a:xfrm>
          <a:prstGeom prst="rect">
            <a:avLst/>
          </a:prstGeom>
          <a:noFill/>
          <a:ln/>
        </p:spPr>
        <p:txBody>
          <a:bodyPr wrap="square" lIns="0" tIns="0" rIns="0" bIns="0" rtlCol="0" anchor="ctr">
            <a:normAutofit/>
          </a:bodyPr>
          <a:lstStyle/>
          <a:p>
            <a:pPr marL="0" indent="0" algn="l">
              <a:buNone/>
            </a:pPr>
            <a:r>
              <a:rPr lang="en-US" sz="1250" b="1" dirty="0">
                <a:solidFill>
                  <a:srgbClr val="14304A"/>
                </a:solidFill>
                <a:latin typeface="Aptos" pitchFamily="34" charset="0"/>
                <a:ea typeface="Aptos" pitchFamily="34" charset="-122"/>
                <a:cs typeface="Aptos" pitchFamily="34" charset="-120"/>
              </a:rPr>
              <a:t>MedImageInsight</a:t>
            </a:r>
            <a:endParaRPr lang="en-US" sz="1250" dirty="0"/>
          </a:p>
        </p:txBody>
      </p:sp>
      <p:sp>
        <p:nvSpPr>
          <p:cNvPr id="10" name="Text 8"/>
          <p:cNvSpPr/>
          <p:nvPr/>
        </p:nvSpPr>
        <p:spPr>
          <a:xfrm>
            <a:off x="3017520" y="2578608"/>
            <a:ext cx="6217920" cy="512064"/>
          </a:xfrm>
          <a:prstGeom prst="rect">
            <a:avLst/>
          </a:prstGeom>
          <a:noFill/>
          <a:ln/>
        </p:spPr>
        <p:txBody>
          <a:bodyPr wrap="square" lIns="0" tIns="0" rIns="0" bIns="0" rtlCol="0" anchor="ctr">
            <a:normAutofit/>
          </a:bodyPr>
          <a:lstStyle/>
          <a:p>
            <a:pPr marL="0" indent="0" algn="l">
              <a:buNone/>
            </a:pPr>
            <a:r>
              <a:rPr lang="en-US" sz="920" dirty="0">
                <a:solidFill>
                  <a:srgbClr val="506173"/>
                </a:solidFill>
                <a:latin typeface="Aptos" pitchFamily="34" charset="0"/>
                <a:ea typeface="Aptos" pitchFamily="34" charset="-122"/>
                <a:cs typeface="Aptos" pitchFamily="34" charset="-120"/>
              </a:rPr>
              <a:t>Medical-image embedding model referenced as a primary candidate for the medical foundation-model branch.</a:t>
            </a:r>
            <a:endParaRPr lang="en-US" sz="920" dirty="0"/>
          </a:p>
        </p:txBody>
      </p:sp>
      <p:sp>
        <p:nvSpPr>
          <p:cNvPr id="11" name="Text 9"/>
          <p:cNvSpPr/>
          <p:nvPr/>
        </p:nvSpPr>
        <p:spPr>
          <a:xfrm>
            <a:off x="9345168" y="2651760"/>
            <a:ext cx="1810512" cy="411480"/>
          </a:xfrm>
          <a:prstGeom prst="rect">
            <a:avLst/>
          </a:prstGeom>
          <a:noFill/>
          <a:ln/>
        </p:spPr>
        <p:txBody>
          <a:bodyPr wrap="square" lIns="0" tIns="0" rIns="0" bIns="0" rtlCol="0" anchor="ctr">
            <a:normAutofit/>
          </a:bodyPr>
          <a:lstStyle/>
          <a:p>
            <a:pPr marL="0" indent="0" algn="r">
              <a:buNone/>
            </a:pPr>
            <a:r>
              <a:rPr lang="en-US" sz="810" dirty="0">
                <a:solidFill>
                  <a:srgbClr val="0E7490"/>
                </a:solidFill>
                <a:latin typeface="Aptos" pitchFamily="34" charset="0"/>
                <a:ea typeface="Aptos" pitchFamily="34" charset="-122"/>
                <a:cs typeface="Aptos" pitchFamily="34" charset="-120"/>
              </a:rPr>
              <a:t>Microsoft model catalog / arXiv:2410.06542</a:t>
            </a:r>
            <a:endParaRPr lang="en-US" sz="810" dirty="0"/>
          </a:p>
        </p:txBody>
      </p:sp>
      <p:sp>
        <p:nvSpPr>
          <p:cNvPr id="12" name="Shape 10"/>
          <p:cNvSpPr/>
          <p:nvPr/>
        </p:nvSpPr>
        <p:spPr>
          <a:xfrm>
            <a:off x="640080" y="3584448"/>
            <a:ext cx="10881360" cy="868680"/>
          </a:xfrm>
          <a:prstGeom prst="roundRect">
            <a:avLst>
              <a:gd name="adj" fmla="val 12632"/>
            </a:avLst>
          </a:prstGeom>
          <a:solidFill>
            <a:srgbClr val="FFFFFF"/>
          </a:solidFill>
          <a:ln w="12700">
            <a:solidFill>
              <a:srgbClr val="D7E0EA"/>
            </a:solidFill>
            <a:prstDash val="solid"/>
          </a:ln>
        </p:spPr>
        <p:txBody>
          <a:bodyPr/>
          <a:lstStyle/>
          <a:p>
            <a:endParaRPr lang="de-DE"/>
          </a:p>
        </p:txBody>
      </p:sp>
      <p:sp>
        <p:nvSpPr>
          <p:cNvPr id="13" name="Text 11"/>
          <p:cNvSpPr/>
          <p:nvPr/>
        </p:nvSpPr>
        <p:spPr>
          <a:xfrm>
            <a:off x="896112" y="3749040"/>
            <a:ext cx="2240280" cy="246888"/>
          </a:xfrm>
          <a:prstGeom prst="rect">
            <a:avLst/>
          </a:prstGeom>
          <a:noFill/>
          <a:ln/>
        </p:spPr>
        <p:txBody>
          <a:bodyPr wrap="square" lIns="0" tIns="0" rIns="0" bIns="0" rtlCol="0" anchor="ctr">
            <a:normAutofit/>
          </a:bodyPr>
          <a:lstStyle/>
          <a:p>
            <a:pPr marL="0" indent="0" algn="l">
              <a:buNone/>
            </a:pPr>
            <a:r>
              <a:rPr lang="en-US" sz="1250" b="1" dirty="0">
                <a:solidFill>
                  <a:srgbClr val="14304A"/>
                </a:solidFill>
                <a:latin typeface="Aptos" pitchFamily="34" charset="0"/>
                <a:ea typeface="Aptos" pitchFamily="34" charset="-122"/>
                <a:cs typeface="Aptos" pitchFamily="34" charset="-120"/>
              </a:rPr>
              <a:t>DINOv3</a:t>
            </a:r>
            <a:endParaRPr lang="en-US" sz="1250" dirty="0"/>
          </a:p>
        </p:txBody>
      </p:sp>
      <p:sp>
        <p:nvSpPr>
          <p:cNvPr id="14" name="Text 12"/>
          <p:cNvSpPr/>
          <p:nvPr/>
        </p:nvSpPr>
        <p:spPr>
          <a:xfrm>
            <a:off x="3017520" y="3675888"/>
            <a:ext cx="6217920" cy="512064"/>
          </a:xfrm>
          <a:prstGeom prst="rect">
            <a:avLst/>
          </a:prstGeom>
          <a:noFill/>
          <a:ln/>
        </p:spPr>
        <p:txBody>
          <a:bodyPr wrap="square" lIns="0" tIns="0" rIns="0" bIns="0" rtlCol="0" anchor="ctr">
            <a:normAutofit/>
          </a:bodyPr>
          <a:lstStyle/>
          <a:p>
            <a:pPr marL="0" indent="0" algn="l">
              <a:buNone/>
            </a:pPr>
            <a:r>
              <a:rPr lang="en-US" sz="920" dirty="0">
                <a:solidFill>
                  <a:srgbClr val="506173"/>
                </a:solidFill>
                <a:latin typeface="Aptos" pitchFamily="34" charset="0"/>
                <a:ea typeface="Aptos" pitchFamily="34" charset="-122"/>
                <a:cs typeface="Aptos" pitchFamily="34" charset="-120"/>
              </a:rPr>
              <a:t>General-vision foundation-model baseline for frozen-feature downstream classification.</a:t>
            </a:r>
            <a:endParaRPr lang="en-US" sz="920" dirty="0"/>
          </a:p>
        </p:txBody>
      </p:sp>
      <p:sp>
        <p:nvSpPr>
          <p:cNvPr id="15" name="Text 13"/>
          <p:cNvSpPr/>
          <p:nvPr/>
        </p:nvSpPr>
        <p:spPr>
          <a:xfrm>
            <a:off x="9345168" y="3749040"/>
            <a:ext cx="1810512" cy="411480"/>
          </a:xfrm>
          <a:prstGeom prst="rect">
            <a:avLst/>
          </a:prstGeom>
          <a:noFill/>
          <a:ln/>
        </p:spPr>
        <p:txBody>
          <a:bodyPr wrap="square" lIns="0" tIns="0" rIns="0" bIns="0" rtlCol="0" anchor="ctr">
            <a:normAutofit/>
          </a:bodyPr>
          <a:lstStyle/>
          <a:p>
            <a:pPr marL="0" indent="0" algn="r">
              <a:buNone/>
            </a:pPr>
            <a:r>
              <a:rPr lang="en-US" sz="810" dirty="0">
                <a:solidFill>
                  <a:srgbClr val="0E7490"/>
                </a:solidFill>
                <a:latin typeface="Aptos" pitchFamily="34" charset="0"/>
                <a:ea typeface="Aptos" pitchFamily="34" charset="-122"/>
                <a:cs typeface="Aptos" pitchFamily="34" charset="-120"/>
              </a:rPr>
              <a:t>Meta AI / facebookresearch</a:t>
            </a:r>
            <a:endParaRPr lang="en-US" sz="810" dirty="0"/>
          </a:p>
        </p:txBody>
      </p:sp>
      <p:sp>
        <p:nvSpPr>
          <p:cNvPr id="16" name="Shape 14"/>
          <p:cNvSpPr/>
          <p:nvPr/>
        </p:nvSpPr>
        <p:spPr>
          <a:xfrm>
            <a:off x="640080" y="4681728"/>
            <a:ext cx="10881360" cy="868680"/>
          </a:xfrm>
          <a:prstGeom prst="roundRect">
            <a:avLst>
              <a:gd name="adj" fmla="val 12632"/>
            </a:avLst>
          </a:prstGeom>
          <a:solidFill>
            <a:srgbClr val="FFFFFF"/>
          </a:solidFill>
          <a:ln w="12700">
            <a:solidFill>
              <a:srgbClr val="D7E0EA"/>
            </a:solidFill>
            <a:prstDash val="solid"/>
          </a:ln>
        </p:spPr>
        <p:txBody>
          <a:bodyPr/>
          <a:lstStyle/>
          <a:p>
            <a:endParaRPr lang="de-DE"/>
          </a:p>
        </p:txBody>
      </p:sp>
      <p:sp>
        <p:nvSpPr>
          <p:cNvPr id="17" name="Text 15"/>
          <p:cNvSpPr/>
          <p:nvPr/>
        </p:nvSpPr>
        <p:spPr>
          <a:xfrm>
            <a:off x="896112" y="4846320"/>
            <a:ext cx="2240280" cy="246888"/>
          </a:xfrm>
          <a:prstGeom prst="rect">
            <a:avLst/>
          </a:prstGeom>
          <a:noFill/>
          <a:ln/>
        </p:spPr>
        <p:txBody>
          <a:bodyPr wrap="square" lIns="0" tIns="0" rIns="0" bIns="0" rtlCol="0" anchor="ctr">
            <a:normAutofit/>
          </a:bodyPr>
          <a:lstStyle/>
          <a:p>
            <a:pPr marL="0" indent="0" algn="l">
              <a:buNone/>
            </a:pPr>
            <a:r>
              <a:rPr lang="en-US" sz="1250" b="1" dirty="0">
                <a:solidFill>
                  <a:srgbClr val="14304A"/>
                </a:solidFill>
                <a:latin typeface="Aptos" pitchFamily="34" charset="0"/>
                <a:ea typeface="Aptos" pitchFamily="34" charset="-122"/>
                <a:cs typeface="Aptos" pitchFamily="34" charset="-120"/>
              </a:rPr>
              <a:t>BiomedCLIP</a:t>
            </a:r>
            <a:endParaRPr lang="en-US" sz="1250" dirty="0"/>
          </a:p>
        </p:txBody>
      </p:sp>
      <p:sp>
        <p:nvSpPr>
          <p:cNvPr id="18" name="Text 16"/>
          <p:cNvSpPr/>
          <p:nvPr/>
        </p:nvSpPr>
        <p:spPr>
          <a:xfrm>
            <a:off x="3017520" y="4773168"/>
            <a:ext cx="6217920" cy="512064"/>
          </a:xfrm>
          <a:prstGeom prst="rect">
            <a:avLst/>
          </a:prstGeom>
          <a:noFill/>
          <a:ln/>
        </p:spPr>
        <p:txBody>
          <a:bodyPr wrap="square" lIns="0" tIns="0" rIns="0" bIns="0" rtlCol="0" anchor="ctr">
            <a:normAutofit/>
          </a:bodyPr>
          <a:lstStyle/>
          <a:p>
            <a:pPr marL="0" indent="0" algn="l">
              <a:buNone/>
            </a:pPr>
            <a:r>
              <a:rPr lang="en-US" sz="920" dirty="0">
                <a:solidFill>
                  <a:srgbClr val="506173"/>
                </a:solidFill>
                <a:latin typeface="Aptos" pitchFamily="34" charset="0"/>
                <a:ea typeface="Aptos" pitchFamily="34" charset="-122"/>
                <a:cs typeface="Aptos" pitchFamily="34" charset="-120"/>
              </a:rPr>
              <a:t>Biomedical vision-language foundation model; optional comparator / secondary experiment.</a:t>
            </a:r>
            <a:endParaRPr lang="en-US" sz="920" dirty="0"/>
          </a:p>
        </p:txBody>
      </p:sp>
      <p:sp>
        <p:nvSpPr>
          <p:cNvPr id="19" name="Text 17"/>
          <p:cNvSpPr/>
          <p:nvPr/>
        </p:nvSpPr>
        <p:spPr>
          <a:xfrm>
            <a:off x="9345168" y="4846320"/>
            <a:ext cx="1810512" cy="411480"/>
          </a:xfrm>
          <a:prstGeom prst="rect">
            <a:avLst/>
          </a:prstGeom>
          <a:noFill/>
          <a:ln/>
        </p:spPr>
        <p:txBody>
          <a:bodyPr wrap="square" lIns="0" tIns="0" rIns="0" bIns="0" rtlCol="0" anchor="ctr">
            <a:normAutofit/>
          </a:bodyPr>
          <a:lstStyle/>
          <a:p>
            <a:pPr marL="0" indent="0" algn="r">
              <a:buNone/>
            </a:pPr>
            <a:r>
              <a:rPr lang="en-US" sz="810" dirty="0">
                <a:solidFill>
                  <a:srgbClr val="0E7490"/>
                </a:solidFill>
                <a:latin typeface="Aptos" pitchFamily="34" charset="0"/>
                <a:ea typeface="Aptos" pitchFamily="34" charset="-122"/>
                <a:cs typeface="Aptos" pitchFamily="34" charset="-120"/>
              </a:rPr>
              <a:t>Zhang et al. (2024)</a:t>
            </a:r>
            <a:endParaRPr lang="en-US" sz="810" dirty="0"/>
          </a:p>
        </p:txBody>
      </p:sp>
      <p:sp>
        <p:nvSpPr>
          <p:cNvPr id="20" name="Text 18"/>
          <p:cNvSpPr/>
          <p:nvPr/>
        </p:nvSpPr>
        <p:spPr>
          <a:xfrm>
            <a:off x="713232" y="5989320"/>
            <a:ext cx="10652760" cy="274320"/>
          </a:xfrm>
          <a:prstGeom prst="rect">
            <a:avLst/>
          </a:prstGeom>
          <a:noFill/>
          <a:ln/>
        </p:spPr>
        <p:txBody>
          <a:bodyPr wrap="square" lIns="0" tIns="0" rIns="0" bIns="0" rtlCol="0" anchor="ctr">
            <a:normAutofit/>
          </a:bodyPr>
          <a:lstStyle/>
          <a:p>
            <a:pPr marL="0" indent="0" algn="ctr">
              <a:buNone/>
            </a:pPr>
            <a:r>
              <a:rPr lang="en-US" sz="880" i="1" dirty="0">
                <a:solidFill>
                  <a:srgbClr val="718093"/>
                </a:solidFill>
                <a:latin typeface="Aptos" pitchFamily="34" charset="0"/>
                <a:ea typeface="Aptos" pitchFamily="34" charset="-122"/>
                <a:cs typeface="Aptos" pitchFamily="34" charset="-120"/>
              </a:rPr>
              <a:t>Project design note: patient-level splits, frozen embeddings first, then controlled ablations / fine-tuning only after the baseline is stable.</a:t>
            </a:r>
            <a:endParaRPr lang="en-US" sz="880" dirty="0"/>
          </a:p>
        </p:txBody>
      </p:sp>
      <p:sp>
        <p:nvSpPr>
          <p:cNvPr id="25" name="Slide Number Placeholder 0"/>
          <p:cNvSpPr>
            <a:spLocks noGrp="1"/>
          </p:cNvSpPr>
          <p:nvPr>
            <p:ph type="sldNum" sz="quarter" idx="4294967295"/>
          </p:nvPr>
        </p:nvSpPr>
        <p:spPr>
          <a:xfrm>
            <a:off x="11841480" y="6601968"/>
            <a:ext cx="800000" cy="300000"/>
          </a:xfrm>
          <a:prstGeom prst="rect">
            <a:avLst/>
          </a:prstGeom>
          <a:extLst>
            <a:ext uri="{C572A759-6A51-4108-AA02-DFA0A04FC94B}">
              <ma14:wrappingTextBoxFlag xmlns:ma14="http://schemas.microsoft.com/office/mac/drawingml/2011/main" xmlns="" val="0"/>
            </a:ext>
          </a:extLst>
        </p:spPr>
        <p:txBody>
          <a:bodyPr/>
          <a:lstStyle>
            <a:lvl1pPr>
              <a:defRPr sz="750">
                <a:solidFill>
                  <a:srgbClr val="5B6B7D"/>
                </a:solidFill>
                <a:latin typeface="Aptos"/>
                <a:ea typeface="Aptos"/>
                <a:cs typeface="Aptos"/>
              </a:defRPr>
            </a:lvl1pPr>
          </a:lstStyle>
          <a:p>
            <a:pPr algn="l"/>
            <a:fld id="{F7021451-1387-4CA6-816F-3879F97B5CBC}" type="slidenum">
              <a:rPr lang="en-US" b="0"/>
              <a:t>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1184</Words>
  <Application>Microsoft Office PowerPoint</Application>
  <PresentationFormat>Breitbild</PresentationFormat>
  <Paragraphs>171</Paragraphs>
  <Slides>7</Slides>
  <Notes>7</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7</vt:i4>
      </vt:variant>
    </vt:vector>
  </HeadingPairs>
  <TitlesOfParts>
    <vt:vector size="11" baseType="lpstr">
      <vt:lpstr>Aptos</vt:lpstr>
      <vt:lpstr>Aptos Display</vt:lpstr>
      <vt:lpstr>Arial</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Universidade Católica Portuguesa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AI-Based Characterization of Clinical Alzheimer’s Disease Stages</dc:title>
  <dc:subject>Project introduction</dc:subject>
  <dc:creator>Frederik Dürr</dc:creator>
  <cp:lastModifiedBy>Frederik Johann Dürr</cp:lastModifiedBy>
  <cp:revision>2</cp:revision>
  <dcterms:created xsi:type="dcterms:W3CDTF">2026-10-05T11:42:24Z</dcterms:created>
  <dcterms:modified xsi:type="dcterms:W3CDTF">2026-10-05T11:56:44Z</dcterms:modified>
</cp:coreProperties>
</file>