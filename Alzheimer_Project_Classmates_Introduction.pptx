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86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ederik Johann Dürr" userId="6347c4c7-4dfb-435f-bbb8-4f320924c67f" providerId="ADAL" clId="{10F0F52B-5443-4E75-AABE-D5887994CE65}"/>
    <pc:docChg chg="modSld">
      <pc:chgData name="Frederik Johann Dürr" userId="6347c4c7-4dfb-435f-bbb8-4f320924c67f" providerId="ADAL" clId="{10F0F52B-5443-4E75-AABE-D5887994CE65}" dt="2026-10-05T18:37:10.039" v="15" actId="20577"/>
      <pc:docMkLst>
        <pc:docMk/>
      </pc:docMkLst>
      <pc:sldChg chg="modSp mod">
        <pc:chgData name="Frederik Johann Dürr" userId="6347c4c7-4dfb-435f-bbb8-4f320924c67f" providerId="ADAL" clId="{10F0F52B-5443-4E75-AABE-D5887994CE65}" dt="2026-10-05T18:37:10.039" v="15" actId="20577"/>
        <pc:sldMkLst>
          <pc:docMk/>
          <pc:sldMk cId="0" sldId="264"/>
        </pc:sldMkLst>
        <pc:spChg chg="mod">
          <ac:chgData name="Frederik Johann Dürr" userId="6347c4c7-4dfb-435f-bbb8-4f320924c67f" providerId="ADAL" clId="{10F0F52B-5443-4E75-AABE-D5887994CE65}" dt="2026-10-05T18:37:10.039" v="15" actId="20577"/>
          <ac:spMkLst>
            <pc:docMk/>
            <pc:sldMk cId="0" sldId="264"/>
            <ac:spMk id="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3860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 am working on a project that combines structural brain MRI with a foundation model. The goal is not to build a clinical diagnostic system, but to test whether representations learned by a pretrained vision model contain enough information to distinguish six clinical groups used in the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problem in clinical terms. Structural changes can be seen on MRI, but a six-class staging problem is harder than a simple healthy-versus-AD classification. The labels here come from the dataset and should not be interpreted as six equally spaced biological stages.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structural MRI tells us about anatomy. In my project I am not starting from raw 3D volumes; I receive already-preprocessed 2D PNG slices from axial, coronal and sagittal views. The important data-science issue is that many slices come from one patient.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machine-learning idea is representation learning. Instead of asking a model trained only on this dataset to learn everything from zero, I use a pretrained vision model as a feature extractor. It converts each image into an embedding: a vector of numbers that summarizes patterns the model detects. DINOv2 is one example of this kind of pretrained vision backbone.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First I keep a metadata table linking each image to a patient, diagnosis, orientation and slice number. Then each slice is converted into the model’s expected format, embedded, and finally aggregated at the patient level. The patient-level split is essential to prevent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methodological point. If slices from one patient are distributed across training and test, the model can exploit patient-specific patterns and the score becomes misleading. The split must therefore be done before training, using patient 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evaluation has several controlled comparisons. I care about balanced accuracy, macro F1 and especially the confusion matrix because neighboring groups can be much harder to separate than the broad AD-versus-normal distinction. I do not have final performance results to present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restating the main idea in plain language. I am not trying to replace diagnosis. I am testing whether pretrained representations of structural MRI contain clinically useful information for a six-class patient-level classification task. Then pause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D2942"/>
          </a:solidFill>
          <a:ln w="12700">
            <a:solidFill>
              <a:srgbClr val="0D294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84048" y="6537960"/>
            <a:ext cx="3291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Biomedical Engineering Project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247120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8E2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D8E2E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D8E2E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9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05840"/>
            <a:ext cx="6400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Can AI learn Alzheimer’s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stages from brain MRI?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76656" y="239572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D9E6F0"/>
                </a:solidFill>
              </a:rPr>
              <a:t>AI-Based Characterization of Clinical Alzheimer’s Disease Stages from Structural Brain MRI Using Foundation Model Representations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76656" y="3502152"/>
            <a:ext cx="1883664" cy="274320"/>
          </a:xfrm>
          <a:prstGeom prst="roundRect">
            <a:avLst>
              <a:gd name="adj" fmla="val 26667"/>
            </a:avLst>
          </a:prstGeom>
          <a:solidFill>
            <a:srgbClr val="1D8A8A"/>
          </a:solidFill>
          <a:ln w="12700">
            <a:solidFill>
              <a:srgbClr val="1D8A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740664" y="3561588"/>
            <a:ext cx="17556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CLASS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40690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FD3D2"/>
                </a:solidFill>
              </a:rPr>
              <a:t>The idea in one sentence: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4334256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Use a pretrained vision model to turn MRI slices into useful numerical representations — then test whether those representations separate six clinical groups.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531352" y="1395374"/>
            <a:ext cx="1207008" cy="2460650"/>
          </a:xfrm>
          <a:prstGeom prst="ellipse">
            <a:avLst/>
          </a:prstGeom>
          <a:solidFill>
            <a:srgbClr val="DCE8F2"/>
          </a:solidFill>
          <a:ln w="20320">
            <a:solidFill>
              <a:srgbClr val="3D6EA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9738360" y="1395374"/>
            <a:ext cx="1207008" cy="2460650"/>
          </a:xfrm>
          <a:prstGeom prst="ellipse">
            <a:avLst/>
          </a:prstGeom>
          <a:solidFill>
            <a:srgbClr val="DCE8F2"/>
          </a:solidFill>
          <a:ln w="20320">
            <a:solidFill>
              <a:srgbClr val="3D6EA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9738360" y="1521562"/>
            <a:ext cx="0" cy="2208276"/>
          </a:xfrm>
          <a:prstGeom prst="line">
            <a:avLst/>
          </a:prstGeom>
          <a:noFill/>
          <a:ln w="17780">
            <a:solidFill>
              <a:srgbClr val="3D6EA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8805672" y="2026310"/>
            <a:ext cx="548640" cy="0"/>
          </a:xfrm>
          <a:prstGeom prst="line">
            <a:avLst/>
          </a:prstGeom>
          <a:noFill/>
          <a:ln w="15240">
            <a:solidFill>
              <a:srgbClr val="88A8C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8723376" y="2467966"/>
            <a:ext cx="576072" cy="126187"/>
          </a:xfrm>
          <a:prstGeom prst="line">
            <a:avLst/>
          </a:prstGeom>
          <a:noFill/>
          <a:ln w="15240">
            <a:solidFill>
              <a:srgbClr val="88A8C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8887968" y="3035808"/>
            <a:ext cx="548640" cy="0"/>
          </a:xfrm>
          <a:prstGeom prst="line">
            <a:avLst/>
          </a:prstGeom>
          <a:noFill/>
          <a:ln w="15240">
            <a:solidFill>
              <a:srgbClr val="88A8C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10671048" y="2026310"/>
            <a:ext cx="0" cy="0"/>
          </a:xfrm>
          <a:prstGeom prst="line">
            <a:avLst/>
          </a:prstGeom>
          <a:noFill/>
          <a:ln w="15240">
            <a:solidFill>
              <a:srgbClr val="88A8C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10753344" y="2467966"/>
            <a:ext cx="0" cy="126187"/>
          </a:xfrm>
          <a:prstGeom prst="line">
            <a:avLst/>
          </a:prstGeom>
          <a:noFill/>
          <a:ln w="15240">
            <a:solidFill>
              <a:srgbClr val="88A8C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10588752" y="3035808"/>
            <a:ext cx="0" cy="0"/>
          </a:xfrm>
          <a:prstGeom prst="line">
            <a:avLst/>
          </a:prstGeom>
          <a:noFill/>
          <a:ln w="15240">
            <a:solidFill>
              <a:srgbClr val="88A8C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8503920" y="3761384"/>
            <a:ext cx="2468880" cy="0"/>
          </a:xfrm>
          <a:prstGeom prst="line">
            <a:avLst/>
          </a:prstGeom>
          <a:noFill/>
          <a:ln w="12700">
            <a:solidFill>
              <a:srgbClr val="AFC1D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9418320" y="914400"/>
            <a:ext cx="201168" cy="201168"/>
          </a:xfrm>
          <a:prstGeom prst="ellipse">
            <a:avLst/>
          </a:prstGeom>
          <a:solidFill>
            <a:srgbClr val="1D8A8A"/>
          </a:solidFill>
          <a:ln w="12700">
            <a:solidFill>
              <a:srgbClr val="1D8A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10607040" y="1325880"/>
            <a:ext cx="201168" cy="201168"/>
          </a:xfrm>
          <a:prstGeom prst="ellipse">
            <a:avLst/>
          </a:prstGeom>
          <a:solidFill>
            <a:srgbClr val="1D8A8A"/>
          </a:solidFill>
          <a:ln w="12700">
            <a:solidFill>
              <a:srgbClr val="1D8A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9235440" y="4434840"/>
            <a:ext cx="201168" cy="201168"/>
          </a:xfrm>
          <a:prstGeom prst="ellipse">
            <a:avLst/>
          </a:prstGeom>
          <a:solidFill>
            <a:srgbClr val="1D8A8A"/>
          </a:solidFill>
          <a:ln w="12700">
            <a:solidFill>
              <a:srgbClr val="1D8A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10789920" y="4160520"/>
            <a:ext cx="201168" cy="201168"/>
          </a:xfrm>
          <a:prstGeom prst="ellipse">
            <a:avLst/>
          </a:prstGeom>
          <a:solidFill>
            <a:srgbClr val="1D8A8A"/>
          </a:solidFill>
          <a:ln w="12700">
            <a:solidFill>
              <a:srgbClr val="1D8A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7955280" y="2788920"/>
            <a:ext cx="201168" cy="201168"/>
          </a:xfrm>
          <a:prstGeom prst="ellipse">
            <a:avLst/>
          </a:prstGeom>
          <a:solidFill>
            <a:srgbClr val="1D8A8A"/>
          </a:solidFill>
          <a:ln w="12700">
            <a:solidFill>
              <a:srgbClr val="1D8A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685800" y="59253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C8D5"/>
                </a:solidFill>
              </a:rPr>
              <a:t>Frederik Duerr Lucca Moreira  ·  Biomedical Engineering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D8E2E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29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Start with the clinical question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7181"/>
                </a:solidFill>
              </a:rPr>
              <a:t>What information about disease stage might already be present in brain structure?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30352" y="123444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768096" y="149047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2942"/>
                </a:solidFill>
              </a:rPr>
              <a:t>Why Alzheimer’s is interesting for imaging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6384" y="2066544"/>
            <a:ext cx="73152" cy="73152"/>
          </a:xfrm>
          <a:prstGeom prst="ellipse">
            <a:avLst/>
          </a:prstGeom>
          <a:solidFill>
            <a:srgbClr val="1D8A8A"/>
          </a:solidFill>
          <a:ln w="12700">
            <a:solidFill>
              <a:srgbClr val="1D8A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932688" y="2059771"/>
            <a:ext cx="4270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21313F"/>
                </a:solidFill>
              </a:rPr>
              <a:t>Alzheimer’s disease changes brain structure over time.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86384" y="2484628"/>
            <a:ext cx="73152" cy="73152"/>
          </a:xfrm>
          <a:prstGeom prst="ellipse">
            <a:avLst/>
          </a:prstGeom>
          <a:solidFill>
            <a:srgbClr val="1D8A8A"/>
          </a:solidFill>
          <a:ln w="12700">
            <a:solidFill>
              <a:srgbClr val="1D8A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932688" y="2409444"/>
            <a:ext cx="4270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21313F"/>
                </a:solidFill>
              </a:rPr>
              <a:t>MRI can show anatomy and regional brain atrophy.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86384" y="2902712"/>
            <a:ext cx="73152" cy="73152"/>
          </a:xfrm>
          <a:prstGeom prst="ellipse">
            <a:avLst/>
          </a:prstGeom>
          <a:solidFill>
            <a:srgbClr val="1D8A8A"/>
          </a:solidFill>
          <a:ln w="12700">
            <a:solidFill>
              <a:srgbClr val="1D8A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32688" y="2902712"/>
            <a:ext cx="4270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21313F"/>
                </a:solidFill>
              </a:rPr>
              <a:t>Some clinical groups are difficult to distinguish from each other, especially early in the continuum.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77579" y="3422565"/>
            <a:ext cx="73152" cy="73152"/>
          </a:xfrm>
          <a:prstGeom prst="ellipse">
            <a:avLst/>
          </a:prstGeom>
          <a:solidFill>
            <a:srgbClr val="1D8A8A"/>
          </a:solidFill>
          <a:ln w="12700">
            <a:solidFill>
              <a:srgbClr val="1D8A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932688" y="3411220"/>
            <a:ext cx="4270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21313F"/>
                </a:solidFill>
              </a:rPr>
              <a:t>That makes this a good test case for representation learning.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5528" y="4718305"/>
            <a:ext cx="2084832" cy="274320"/>
          </a:xfrm>
          <a:prstGeom prst="roundRect">
            <a:avLst>
              <a:gd name="adj" fmla="val 26667"/>
            </a:avLst>
          </a:prstGeom>
          <a:solidFill>
            <a:srgbClr val="DDF3F1"/>
          </a:solidFill>
          <a:ln w="12700">
            <a:solidFill>
              <a:srgbClr val="DDF3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859536" y="4777741"/>
            <a:ext cx="1956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8A8A"/>
                </a:solidFill>
              </a:rPr>
              <a:t>RESEARCH QUESTION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95528" y="5134356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21313F"/>
                </a:solidFill>
              </a:rPr>
              <a:t>Can a pretrained vision model produce a representation that helps separate the six study groups?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925312" y="1234440"/>
            <a:ext cx="5715000" cy="4480560"/>
          </a:xfrm>
          <a:prstGeom prst="roundRect">
            <a:avLst>
              <a:gd name="adj" fmla="val 2449"/>
            </a:avLst>
          </a:prstGeom>
          <a:solidFill>
            <a:srgbClr val="F6F8FB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6217920" y="149047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2942"/>
                </a:solidFill>
              </a:rPr>
              <a:t>The six labels in my dataset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36208" y="2029968"/>
            <a:ext cx="2331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6364224" y="2194560"/>
            <a:ext cx="411480" cy="411480"/>
          </a:xfrm>
          <a:prstGeom prst="ellipse">
            <a:avLst/>
          </a:prstGeom>
          <a:solidFill>
            <a:srgbClr val="4E8A67"/>
          </a:solidFill>
          <a:ln w="12700">
            <a:solidFill>
              <a:srgbClr val="4E8A6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6364224" y="2212848"/>
            <a:ext cx="411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76288" y="21488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942"/>
                </a:solidFill>
              </a:rPr>
              <a:t>CN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76288" y="2386584"/>
            <a:ext cx="1490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17181"/>
                </a:solidFill>
              </a:rPr>
              <a:t>Cognitively normal</a:t>
            </a:r>
            <a:endParaRPr lang="en-US" sz="870" dirty="0"/>
          </a:p>
        </p:txBody>
      </p:sp>
      <p:sp>
        <p:nvSpPr>
          <p:cNvPr id="24" name="Shape 22"/>
          <p:cNvSpPr/>
          <p:nvPr/>
        </p:nvSpPr>
        <p:spPr>
          <a:xfrm>
            <a:off x="8814816" y="2029968"/>
            <a:ext cx="2331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8942832" y="2194560"/>
            <a:ext cx="411480" cy="411480"/>
          </a:xfrm>
          <a:prstGeom prst="ellipse">
            <a:avLst/>
          </a:prstGeom>
          <a:solidFill>
            <a:srgbClr val="3D6EA8"/>
          </a:solidFill>
          <a:ln w="12700">
            <a:solidFill>
              <a:srgbClr val="3D6EA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8942832" y="2212848"/>
            <a:ext cx="411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454896" y="21488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942"/>
                </a:solidFill>
              </a:rPr>
              <a:t>SMC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454896" y="2386584"/>
            <a:ext cx="1490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17181"/>
                </a:solidFill>
              </a:rPr>
              <a:t>Subjective memory complaint</a:t>
            </a:r>
            <a:endParaRPr lang="en-US" sz="870" dirty="0"/>
          </a:p>
        </p:txBody>
      </p:sp>
      <p:sp>
        <p:nvSpPr>
          <p:cNvPr id="29" name="Shape 27"/>
          <p:cNvSpPr/>
          <p:nvPr/>
        </p:nvSpPr>
        <p:spPr>
          <a:xfrm>
            <a:off x="6236208" y="2990088"/>
            <a:ext cx="2331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6364224" y="3154680"/>
            <a:ext cx="411480" cy="411480"/>
          </a:xfrm>
          <a:prstGeom prst="ellipse">
            <a:avLst/>
          </a:prstGeom>
          <a:solidFill>
            <a:srgbClr val="1D8A8A"/>
          </a:solidFill>
          <a:ln w="12700">
            <a:solidFill>
              <a:srgbClr val="1D8A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6364224" y="3172968"/>
            <a:ext cx="411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76288" y="310896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942"/>
                </a:solidFill>
              </a:rPr>
              <a:t>EMCI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76288" y="3346704"/>
            <a:ext cx="1490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17181"/>
                </a:solidFill>
              </a:rPr>
              <a:t>Early MCI</a:t>
            </a:r>
            <a:endParaRPr lang="en-US" sz="870" dirty="0"/>
          </a:p>
        </p:txBody>
      </p:sp>
      <p:sp>
        <p:nvSpPr>
          <p:cNvPr id="34" name="Shape 32"/>
          <p:cNvSpPr/>
          <p:nvPr/>
        </p:nvSpPr>
        <p:spPr>
          <a:xfrm>
            <a:off x="8814816" y="2990088"/>
            <a:ext cx="2331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8942832" y="3154680"/>
            <a:ext cx="411480" cy="411480"/>
          </a:xfrm>
          <a:prstGeom prst="ellipse">
            <a:avLst/>
          </a:prstGeom>
          <a:solidFill>
            <a:srgbClr val="E59A3A"/>
          </a:solidFill>
          <a:ln w="12700">
            <a:solidFill>
              <a:srgbClr val="E59A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Text 34"/>
          <p:cNvSpPr/>
          <p:nvPr/>
        </p:nvSpPr>
        <p:spPr>
          <a:xfrm>
            <a:off x="8942832" y="3172968"/>
            <a:ext cx="411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454896" y="310896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942"/>
                </a:solidFill>
              </a:rPr>
              <a:t>MCI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454896" y="3346704"/>
            <a:ext cx="1490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17181"/>
                </a:solidFill>
              </a:rPr>
              <a:t>Mild cognitive impairment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6236208" y="3950208"/>
            <a:ext cx="2331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Shape 38"/>
          <p:cNvSpPr/>
          <p:nvPr/>
        </p:nvSpPr>
        <p:spPr>
          <a:xfrm>
            <a:off x="6364224" y="4114800"/>
            <a:ext cx="411480" cy="411480"/>
          </a:xfrm>
          <a:prstGeom prst="ellipse">
            <a:avLst/>
          </a:prstGeom>
          <a:solidFill>
            <a:srgbClr val="C95757"/>
          </a:solidFill>
          <a:ln w="12700">
            <a:solidFill>
              <a:srgbClr val="C9575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Text 39"/>
          <p:cNvSpPr/>
          <p:nvPr/>
        </p:nvSpPr>
        <p:spPr>
          <a:xfrm>
            <a:off x="6364224" y="4133088"/>
            <a:ext cx="411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L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876288" y="406908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942"/>
                </a:solidFill>
              </a:rPr>
              <a:t>LMCI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876288" y="4306824"/>
            <a:ext cx="1490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17181"/>
                </a:solidFill>
              </a:rPr>
              <a:t>Late MCI</a:t>
            </a:r>
            <a:endParaRPr lang="en-US" sz="870" dirty="0"/>
          </a:p>
        </p:txBody>
      </p:sp>
      <p:sp>
        <p:nvSpPr>
          <p:cNvPr id="44" name="Shape 42"/>
          <p:cNvSpPr/>
          <p:nvPr/>
        </p:nvSpPr>
        <p:spPr>
          <a:xfrm>
            <a:off x="8814816" y="3950208"/>
            <a:ext cx="2331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5" name="Shape 43"/>
          <p:cNvSpPr/>
          <p:nvPr/>
        </p:nvSpPr>
        <p:spPr>
          <a:xfrm>
            <a:off x="8942832" y="4114800"/>
            <a:ext cx="411480" cy="411480"/>
          </a:xfrm>
          <a:prstGeom prst="ellipse">
            <a:avLst/>
          </a:prstGeom>
          <a:solidFill>
            <a:srgbClr val="163D5B"/>
          </a:solidFill>
          <a:ln w="12700">
            <a:solidFill>
              <a:srgbClr val="163D5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44"/>
          <p:cNvSpPr/>
          <p:nvPr/>
        </p:nvSpPr>
        <p:spPr>
          <a:xfrm>
            <a:off x="8942832" y="4133088"/>
            <a:ext cx="411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454896" y="406908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942"/>
                </a:solidFill>
              </a:rPr>
              <a:t>AD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454896" y="4306824"/>
            <a:ext cx="1490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17181"/>
                </a:solidFill>
              </a:rPr>
              <a:t>Alzheimer’s disease</a:t>
            </a:r>
            <a:endParaRPr lang="en-US" sz="870" dirty="0"/>
          </a:p>
        </p:txBody>
      </p:sp>
      <p:sp>
        <p:nvSpPr>
          <p:cNvPr id="49" name="Text 47"/>
          <p:cNvSpPr/>
          <p:nvPr/>
        </p:nvSpPr>
        <p:spPr>
          <a:xfrm>
            <a:off x="6236208" y="51023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i="1" dirty="0">
                <a:solidFill>
                  <a:srgbClr val="617181"/>
                </a:solidFill>
              </a:rPr>
              <a:t>Important: these are the study labels, not six equally spaced “official stages”.</a:t>
            </a:r>
            <a:endParaRPr lang="en-US" sz="1100" dirty="0"/>
          </a:p>
        </p:txBody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D8E2E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29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What is “structural brain MRI”?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7181"/>
                </a:solidFill>
              </a:rPr>
              <a:t>In simple terms: an image of brain anatomy, rather than brain activity.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30352" y="1225296"/>
            <a:ext cx="3931920" cy="480060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1160374" y="1766621"/>
            <a:ext cx="1267358" cy="1890065"/>
          </a:xfrm>
          <a:prstGeom prst="ellipse">
            <a:avLst/>
          </a:prstGeom>
          <a:solidFill>
            <a:srgbClr val="DCE8F2"/>
          </a:solidFill>
          <a:ln w="20320">
            <a:solidFill>
              <a:srgbClr val="3D6EA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2427732" y="1766621"/>
            <a:ext cx="1267358" cy="1890065"/>
          </a:xfrm>
          <a:prstGeom prst="ellipse">
            <a:avLst/>
          </a:prstGeom>
          <a:solidFill>
            <a:srgbClr val="DCE8F2"/>
          </a:solidFill>
          <a:ln w="20320">
            <a:solidFill>
              <a:srgbClr val="3D6EA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427732" y="1863547"/>
            <a:ext cx="0" cy="1696212"/>
          </a:xfrm>
          <a:prstGeom prst="line">
            <a:avLst/>
          </a:prstGeom>
          <a:noFill/>
          <a:ln w="17780">
            <a:solidFill>
              <a:srgbClr val="3D6EA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1448410" y="2251253"/>
            <a:ext cx="576072" cy="0"/>
          </a:xfrm>
          <a:prstGeom prst="line">
            <a:avLst/>
          </a:prstGeom>
          <a:noFill/>
          <a:ln w="15240">
            <a:solidFill>
              <a:srgbClr val="88A8C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1361999" y="2590495"/>
            <a:ext cx="604876" cy="96926"/>
          </a:xfrm>
          <a:prstGeom prst="line">
            <a:avLst/>
          </a:prstGeom>
          <a:noFill/>
          <a:ln w="15240">
            <a:solidFill>
              <a:srgbClr val="88A8C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1534820" y="3026664"/>
            <a:ext cx="576072" cy="0"/>
          </a:xfrm>
          <a:prstGeom prst="line">
            <a:avLst/>
          </a:prstGeom>
          <a:noFill/>
          <a:ln w="15240">
            <a:solidFill>
              <a:srgbClr val="88A8C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3407054" y="2251253"/>
            <a:ext cx="0" cy="0"/>
          </a:xfrm>
          <a:prstGeom prst="line">
            <a:avLst/>
          </a:prstGeom>
          <a:noFill/>
          <a:ln w="15240">
            <a:solidFill>
              <a:srgbClr val="88A8C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493465" y="2590495"/>
            <a:ext cx="0" cy="96926"/>
          </a:xfrm>
          <a:prstGeom prst="line">
            <a:avLst/>
          </a:prstGeom>
          <a:noFill/>
          <a:ln w="15240">
            <a:solidFill>
              <a:srgbClr val="88A8C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3320644" y="3026664"/>
            <a:ext cx="0" cy="0"/>
          </a:xfrm>
          <a:prstGeom prst="line">
            <a:avLst/>
          </a:prstGeom>
          <a:noFill/>
          <a:ln w="15240">
            <a:solidFill>
              <a:srgbClr val="88A8C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1131570" y="3583991"/>
            <a:ext cx="2592324" cy="0"/>
          </a:xfrm>
          <a:prstGeom prst="line">
            <a:avLst/>
          </a:prstGeom>
          <a:noFill/>
          <a:ln w="12700">
            <a:solidFill>
              <a:srgbClr val="AFC1D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822960" y="424281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D2942"/>
                </a:solidFill>
              </a:rPr>
              <a:t>Think of a 3D brain scan as a stack of 2D images.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48006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00016" y="1225296"/>
            <a:ext cx="6931152" cy="4800600"/>
          </a:xfrm>
          <a:prstGeom prst="roundRect">
            <a:avLst>
              <a:gd name="adj" fmla="val 2286"/>
            </a:avLst>
          </a:prstGeom>
          <a:solidFill>
            <a:srgbClr val="F6F8FB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983480" y="150876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2942"/>
                </a:solidFill>
              </a:rPr>
              <a:t>The dataset </a:t>
            </a:r>
            <a:r>
              <a:rPr lang="en-US" b="1" dirty="0">
                <a:solidFill>
                  <a:srgbClr val="0D2942"/>
                </a:solidFill>
              </a:rPr>
              <a:t>we</a:t>
            </a:r>
            <a:r>
              <a:rPr lang="en-US" sz="1800" b="1" dirty="0">
                <a:solidFill>
                  <a:srgbClr val="0D2942"/>
                </a:solidFill>
              </a:rPr>
              <a:t> work with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992624" y="1993392"/>
            <a:ext cx="1353312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065776" y="2112264"/>
            <a:ext cx="1207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D8A8A"/>
                </a:solidFill>
              </a:rPr>
              <a:t>~73k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065776" y="240487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17181"/>
                </a:solidFill>
              </a:rPr>
              <a:t>PNG slices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6574536" y="1993392"/>
            <a:ext cx="1353312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6647688" y="2112264"/>
            <a:ext cx="1207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D8A8A"/>
                </a:solidFill>
              </a:rPr>
              <a:t>6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647688" y="240487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17181"/>
                </a:solidFill>
              </a:rPr>
              <a:t>study groups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8156448" y="1993392"/>
            <a:ext cx="1353312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8229600" y="2112264"/>
            <a:ext cx="1207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D8A8A"/>
                </a:solidFill>
              </a:rPr>
              <a:t>3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8229600" y="240487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17181"/>
                </a:solidFill>
              </a:rPr>
              <a:t>anatomical planes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9738360" y="1993392"/>
            <a:ext cx="1353312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9811512" y="2112264"/>
            <a:ext cx="1207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D8A8A"/>
                </a:solidFill>
              </a:rPr>
              <a:t>patient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9811512" y="240487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17181"/>
                </a:solidFill>
              </a:rPr>
              <a:t>unit of analysis</a:t>
            </a:r>
            <a:endParaRPr lang="en-US" sz="830" dirty="0"/>
          </a:p>
        </p:txBody>
      </p:sp>
      <p:sp>
        <p:nvSpPr>
          <p:cNvPr id="31" name="Text 29"/>
          <p:cNvSpPr/>
          <p:nvPr/>
        </p:nvSpPr>
        <p:spPr>
          <a:xfrm>
            <a:off x="4992624" y="31821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313F"/>
                </a:solidFill>
              </a:rPr>
              <a:t>Why three planes?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001768" y="3511296"/>
            <a:ext cx="1700784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5093208" y="3694176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2942"/>
                </a:solidFill>
              </a:rPr>
              <a:t>Axial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93208" y="3968496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17181"/>
                </a:solidFill>
              </a:rPr>
              <a:t>top ↕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922008" y="3511296"/>
            <a:ext cx="1700784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Text 34"/>
          <p:cNvSpPr/>
          <p:nvPr/>
        </p:nvSpPr>
        <p:spPr>
          <a:xfrm>
            <a:off x="7013448" y="3694176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2942"/>
                </a:solidFill>
              </a:rPr>
              <a:t>Coronal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013448" y="3968496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17181"/>
                </a:solidFill>
              </a:rPr>
              <a:t>front ↔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842248" y="3511296"/>
            <a:ext cx="1700784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Text 37"/>
          <p:cNvSpPr/>
          <p:nvPr/>
        </p:nvSpPr>
        <p:spPr>
          <a:xfrm>
            <a:off x="8933688" y="3694176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2942"/>
                </a:solidFill>
              </a:rPr>
              <a:t>Sagittal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933688" y="3968496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17181"/>
                </a:solidFill>
              </a:rPr>
              <a:t>side 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92624" y="4873752"/>
            <a:ext cx="6062472" cy="758952"/>
          </a:xfrm>
          <a:prstGeom prst="roundRect">
            <a:avLst>
              <a:gd name="adj" fmla="val 9639"/>
            </a:avLst>
          </a:prstGeom>
          <a:solidFill>
            <a:srgbClr val="EAF1F8"/>
          </a:solidFill>
          <a:ln w="12700">
            <a:solidFill>
              <a:srgbClr val="C9D6E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" name="Text 40"/>
          <p:cNvSpPr/>
          <p:nvPr/>
        </p:nvSpPr>
        <p:spPr>
          <a:xfrm>
            <a:off x="5212080" y="505663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D6EA8"/>
                </a:solidFill>
              </a:rPr>
              <a:t>Core challenge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54496" y="4992624"/>
            <a:ext cx="4462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1313F"/>
                </a:solidFill>
              </a:rPr>
              <a:t>Hundreds of slices belong to the same person — so the model must ultimately make a patient-level decision.</a:t>
            </a:r>
            <a:endParaRPr lang="en-US" sz="122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D8E2E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29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So where does the “foundation model” come in?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7181"/>
                </a:solidFill>
              </a:rPr>
              <a:t>Instead of learning visual features from scratch, start from a pretrained model.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30352" y="1234440"/>
            <a:ext cx="11109960" cy="1078992"/>
          </a:xfrm>
          <a:prstGeom prst="roundRect">
            <a:avLst>
              <a:gd name="adj" fmla="val 10169"/>
            </a:avLst>
          </a:prstGeom>
          <a:solidFill>
            <a:srgbClr val="0D2942"/>
          </a:solidFill>
          <a:ln w="12700">
            <a:solidFill>
              <a:srgbClr val="0D294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841248" y="155448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</a:rPr>
              <a:t>Foundation model = a large pretrained model that has already learned useful visual representations from many images.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502920" y="2761488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54211" y="293522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95757"/>
                </a:solidFill>
              </a:rPr>
              <a:t>Train from scratch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4198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313F"/>
                </a:solidFill>
              </a:rPr>
              <a:t>MRI images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68780" y="3526536"/>
            <a:ext cx="640080" cy="0"/>
          </a:xfrm>
          <a:prstGeom prst="line">
            <a:avLst/>
          </a:prstGeom>
          <a:noFill/>
          <a:ln w="19050">
            <a:solidFill>
              <a:srgbClr val="C9575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2157984" y="3300984"/>
            <a:ext cx="8412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1313F"/>
                </a:solidFill>
              </a:rPr>
              <a:t>learn all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21313F"/>
                </a:solidFill>
              </a:rPr>
              <a:t>features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10932" y="3511296"/>
            <a:ext cx="316315" cy="9144"/>
          </a:xfrm>
          <a:prstGeom prst="line">
            <a:avLst/>
          </a:prstGeom>
          <a:noFill/>
          <a:ln w="19050">
            <a:solidFill>
              <a:srgbClr val="C9575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3076787" y="3432725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17181"/>
                </a:solidFill>
              </a:rPr>
              <a:t>classifier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69264" y="4315968"/>
            <a:ext cx="2697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7181"/>
                </a:solidFill>
              </a:rPr>
              <a:t>More data + more training</a:t>
            </a:r>
            <a:r>
              <a:rPr lang="en-US" sz="1150" dirty="0"/>
              <a:t> </a:t>
            </a:r>
            <a:r>
              <a:rPr lang="en-US" sz="1150" dirty="0">
                <a:solidFill>
                  <a:srgbClr val="617181"/>
                </a:solidFill>
              </a:rPr>
              <a:t>+ higher overfitting risk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480560" y="2670048"/>
            <a:ext cx="69037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4800600" y="292608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D8A8A"/>
                </a:solidFill>
              </a:rPr>
              <a:t>Use a pretrained vision model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892040" y="3383280"/>
            <a:ext cx="1298448" cy="841248"/>
          </a:xfrm>
          <a:prstGeom prst="roundRect">
            <a:avLst>
              <a:gd name="adj" fmla="val 13043"/>
            </a:avLst>
          </a:prstGeom>
          <a:solidFill>
            <a:srgbClr val="E7EEF8"/>
          </a:solidFill>
          <a:ln w="12700">
            <a:solidFill>
              <a:srgbClr val="BFD9F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892040" y="3593592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942"/>
                </a:solidFill>
              </a:rPr>
              <a:t>MRI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D2942"/>
                </a:solidFill>
              </a:rPr>
              <a:t>slice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54496" y="3794760"/>
            <a:ext cx="740664" cy="0"/>
          </a:xfrm>
          <a:prstGeom prst="line">
            <a:avLst/>
          </a:prstGeom>
          <a:noFill/>
          <a:ln w="21590">
            <a:solidFill>
              <a:srgbClr val="163D5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059168" y="3273552"/>
            <a:ext cx="1828800" cy="1060704"/>
          </a:xfrm>
          <a:prstGeom prst="roundRect">
            <a:avLst>
              <a:gd name="adj" fmla="val 10345"/>
            </a:avLst>
          </a:prstGeom>
          <a:solidFill>
            <a:srgbClr val="DDF3F1"/>
          </a:solidFill>
          <a:ln w="12700">
            <a:solidFill>
              <a:srgbClr val="B8E1D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7059168" y="35204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8A8A"/>
                </a:solidFill>
              </a:rPr>
              <a:t>Foundation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D8A8A"/>
                </a:solidFill>
              </a:rPr>
              <a:t>model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79408" y="3794760"/>
            <a:ext cx="694944" cy="0"/>
          </a:xfrm>
          <a:prstGeom prst="line">
            <a:avLst/>
          </a:prstGeom>
          <a:noFill/>
          <a:ln w="21590">
            <a:solidFill>
              <a:srgbClr val="163D5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9747504" y="3273552"/>
            <a:ext cx="1243584" cy="1060704"/>
          </a:xfrm>
          <a:prstGeom prst="roundRect">
            <a:avLst>
              <a:gd name="adj" fmla="val 10345"/>
            </a:avLst>
          </a:prstGeom>
          <a:solidFill>
            <a:srgbClr val="FFF0DA"/>
          </a:solidFill>
          <a:ln w="12700">
            <a:solidFill>
              <a:srgbClr val="F0D3A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9747504" y="3511296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5A1A"/>
                </a:solidFill>
              </a:rPr>
              <a:t>embedding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8A5A1A"/>
                </a:solidFill>
              </a:rPr>
              <a:t>(vector)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44622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617181"/>
                </a:solidFill>
              </a:rPr>
              <a:t>In the current prototype, the foundation model is used mainly as a feature extractor; the downstream classifier is much simpler.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480560" y="5230368"/>
            <a:ext cx="6903720" cy="685800"/>
          </a:xfrm>
          <a:prstGeom prst="roundRect">
            <a:avLst>
              <a:gd name="adj" fmla="val 16000"/>
            </a:avLst>
          </a:prstGeom>
          <a:solidFill>
            <a:srgbClr val="122334"/>
          </a:solidFill>
          <a:ln w="12700">
            <a:solidFill>
              <a:srgbClr val="12233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700016" y="544068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[ 0.17   -0.42   0.03   1.08   …   0.31 ]</a:t>
            </a:r>
            <a:endParaRPr lang="en-US" sz="12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D8E2E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29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Our pipeline — from thousands of images to one patient prediction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956816" cy="1938528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1252728" y="1810512"/>
            <a:ext cx="475488" cy="475488"/>
          </a:xfrm>
          <a:prstGeom prst="ellipse">
            <a:avLst/>
          </a:prstGeom>
          <a:solidFill>
            <a:srgbClr val="3D6EA8"/>
          </a:solidFill>
          <a:ln w="12700">
            <a:solidFill>
              <a:srgbClr val="3D6EA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1252728" y="182880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67512" y="244144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0D2942"/>
                </a:solidFill>
              </a:rPr>
              <a:t>MRI slices</a:t>
            </a:r>
            <a:endParaRPr lang="en-US" sz="1430" dirty="0"/>
          </a:p>
        </p:txBody>
      </p:sp>
      <p:sp>
        <p:nvSpPr>
          <p:cNvPr id="8" name="Text 6"/>
          <p:cNvSpPr/>
          <p:nvPr/>
        </p:nvSpPr>
        <p:spPr>
          <a:xfrm>
            <a:off x="685800" y="2880360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17181"/>
                </a:solidFill>
              </a:rPr>
              <a:t>PNG images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17181"/>
                </a:solidFill>
              </a:rPr>
              <a:t>+ metadata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87168" y="2542032"/>
            <a:ext cx="237744" cy="0"/>
          </a:xfrm>
          <a:prstGeom prst="line">
            <a:avLst/>
          </a:prstGeom>
          <a:noFill/>
          <a:ln w="19050">
            <a:solidFill>
              <a:srgbClr val="163D5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2788920" y="1572768"/>
            <a:ext cx="1956816" cy="1938528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3538728" y="1810512"/>
            <a:ext cx="475488" cy="475488"/>
          </a:xfrm>
          <a:prstGeom prst="ellipse">
            <a:avLst/>
          </a:prstGeom>
          <a:solidFill>
            <a:srgbClr val="1D8A8A"/>
          </a:solidFill>
          <a:ln w="12700">
            <a:solidFill>
              <a:srgbClr val="1D8A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3538728" y="182880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53512" y="244144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0D2942"/>
                </a:solidFill>
              </a:rPr>
              <a:t>Preprocess for FM</a:t>
            </a:r>
            <a:endParaRPr lang="en-US" sz="1430" dirty="0"/>
          </a:p>
        </p:txBody>
      </p:sp>
      <p:sp>
        <p:nvSpPr>
          <p:cNvPr id="14" name="Text 12"/>
          <p:cNvSpPr/>
          <p:nvPr/>
        </p:nvSpPr>
        <p:spPr>
          <a:xfrm>
            <a:off x="2971800" y="2880360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17181"/>
                </a:solidFill>
              </a:rPr>
              <a:t>resize · channels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17181"/>
                </a:solidFill>
              </a:rPr>
              <a:t>· normalization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73168" y="2542032"/>
            <a:ext cx="237744" cy="0"/>
          </a:xfrm>
          <a:prstGeom prst="line">
            <a:avLst/>
          </a:prstGeom>
          <a:noFill/>
          <a:ln w="19050">
            <a:solidFill>
              <a:srgbClr val="163D5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5074920" y="1572768"/>
            <a:ext cx="1956816" cy="1938528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5824728" y="1810512"/>
            <a:ext cx="475488" cy="475488"/>
          </a:xfrm>
          <a:prstGeom prst="ellipse">
            <a:avLst/>
          </a:prstGeom>
          <a:solidFill>
            <a:srgbClr val="E59A3A"/>
          </a:solidFill>
          <a:ln w="12700">
            <a:solidFill>
              <a:srgbClr val="E59A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5824728" y="182880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39512" y="244144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0D2942"/>
                </a:solidFill>
              </a:rPr>
              <a:t>Extract embeddings</a:t>
            </a:r>
            <a:endParaRPr lang="en-US" sz="1430" dirty="0"/>
          </a:p>
        </p:txBody>
      </p:sp>
      <p:sp>
        <p:nvSpPr>
          <p:cNvPr id="20" name="Text 18"/>
          <p:cNvSpPr/>
          <p:nvPr/>
        </p:nvSpPr>
        <p:spPr>
          <a:xfrm>
            <a:off x="5257800" y="2880360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17181"/>
                </a:solidFill>
              </a:rPr>
              <a:t>one vector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17181"/>
                </a:solidFill>
              </a:rPr>
              <a:t>per slice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059168" y="2542032"/>
            <a:ext cx="237744" cy="0"/>
          </a:xfrm>
          <a:prstGeom prst="line">
            <a:avLst/>
          </a:prstGeom>
          <a:noFill/>
          <a:ln w="19050">
            <a:solidFill>
              <a:srgbClr val="163D5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7360920" y="1572768"/>
            <a:ext cx="1956816" cy="1938528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8110728" y="1810512"/>
            <a:ext cx="475488" cy="475488"/>
          </a:xfrm>
          <a:prstGeom prst="ellipse">
            <a:avLst/>
          </a:prstGeom>
          <a:solidFill>
            <a:srgbClr val="4E8A67"/>
          </a:solidFill>
          <a:ln w="12700">
            <a:solidFill>
              <a:srgbClr val="4E8A6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8110728" y="182880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525512" y="244144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0D2942"/>
                </a:solidFill>
              </a:rPr>
              <a:t>Aggregate by patient</a:t>
            </a:r>
            <a:endParaRPr lang="en-US" sz="1430" dirty="0"/>
          </a:p>
        </p:txBody>
      </p:sp>
      <p:sp>
        <p:nvSpPr>
          <p:cNvPr id="26" name="Text 24"/>
          <p:cNvSpPr/>
          <p:nvPr/>
        </p:nvSpPr>
        <p:spPr>
          <a:xfrm>
            <a:off x="7543800" y="2880360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17181"/>
                </a:solidFill>
              </a:rPr>
              <a:t>pool slices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17181"/>
                </a:solidFill>
              </a:rPr>
              <a:t>by orientation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345168" y="2542032"/>
            <a:ext cx="237744" cy="0"/>
          </a:xfrm>
          <a:prstGeom prst="line">
            <a:avLst/>
          </a:prstGeom>
          <a:noFill/>
          <a:ln w="19050">
            <a:solidFill>
              <a:srgbClr val="163D5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9646920" y="1572768"/>
            <a:ext cx="1956816" cy="1938528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10396728" y="1810512"/>
            <a:ext cx="475488" cy="475488"/>
          </a:xfrm>
          <a:prstGeom prst="ellipse">
            <a:avLst/>
          </a:prstGeom>
          <a:solidFill>
            <a:srgbClr val="163D5B"/>
          </a:solidFill>
          <a:ln w="12700">
            <a:solidFill>
              <a:srgbClr val="163D5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10396728" y="182880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811512" y="244144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0D2942"/>
                </a:solidFill>
              </a:rPr>
              <a:t>Classify</a:t>
            </a:r>
            <a:endParaRPr lang="en-US" sz="1430" dirty="0"/>
          </a:p>
        </p:txBody>
      </p:sp>
      <p:sp>
        <p:nvSpPr>
          <p:cNvPr id="32" name="Text 30"/>
          <p:cNvSpPr/>
          <p:nvPr/>
        </p:nvSpPr>
        <p:spPr>
          <a:xfrm>
            <a:off x="9829800" y="2880360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17181"/>
                </a:solidFill>
              </a:rPr>
              <a:t>predict one of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17181"/>
                </a:solidFill>
              </a:rPr>
              <a:t>6 groups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02920" y="3977640"/>
            <a:ext cx="10972800" cy="1554480"/>
          </a:xfrm>
          <a:prstGeom prst="roundRect">
            <a:avLst>
              <a:gd name="adj" fmla="val 7059"/>
            </a:avLst>
          </a:prstGeom>
          <a:solidFill>
            <a:srgbClr val="0D2942"/>
          </a:solidFill>
          <a:ln w="12700">
            <a:solidFill>
              <a:srgbClr val="0D294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2"/>
          <p:cNvSpPr/>
          <p:nvPr/>
        </p:nvSpPr>
        <p:spPr>
          <a:xfrm>
            <a:off x="777240" y="42976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FD3D2"/>
                </a:solidFill>
              </a:rPr>
              <a:t>The important design choice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77240" y="462686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Do not treat 73,000 slices as 73,000 independent patients.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5760720" y="4361688"/>
            <a:ext cx="5257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DCE7F0"/>
                </a:solidFill>
              </a:rPr>
              <a:t>Slices from the same patient are correlated. I therefore split the dataset and evaluate at the patient level, then aggregate slice information into a patient representation.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77240" y="5166360"/>
            <a:ext cx="2057400" cy="274320"/>
          </a:xfrm>
          <a:prstGeom prst="roundRect">
            <a:avLst>
              <a:gd name="adj" fmla="val 26667"/>
            </a:avLst>
          </a:prstGeom>
          <a:solidFill>
            <a:srgbClr val="1D8A8A"/>
          </a:solidFill>
          <a:ln w="12700">
            <a:solidFill>
              <a:srgbClr val="1D8A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Text 36"/>
          <p:cNvSpPr/>
          <p:nvPr/>
        </p:nvSpPr>
        <p:spPr>
          <a:xfrm>
            <a:off x="841248" y="5225796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</a:rPr>
              <a:t>PATIENT = UNIT OF ANALYSIS</a:t>
            </a:r>
            <a:endParaRPr lang="en-US" sz="83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D8E2E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29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Why the patient-level step matters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7181"/>
                </a:solidFill>
              </a:rPr>
              <a:t>This is the easiest place to accidentally get an unrealistically good result.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30352" y="1298448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822960" y="1600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5757"/>
                </a:solidFill>
              </a:rPr>
              <a:t>What would go wrong?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6384" y="2286000"/>
            <a:ext cx="1097280" cy="658368"/>
          </a:xfrm>
          <a:prstGeom prst="roundRect">
            <a:avLst>
              <a:gd name="adj" fmla="val 16667"/>
            </a:avLst>
          </a:prstGeom>
          <a:solidFill>
            <a:srgbClr val="FBE6E6"/>
          </a:solidFill>
          <a:ln w="12700">
            <a:solidFill>
              <a:srgbClr val="F0B8B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86384" y="249631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95757"/>
                </a:solidFill>
              </a:rPr>
              <a:t>Patient 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84832" y="1965960"/>
            <a:ext cx="1097280" cy="347472"/>
          </a:xfrm>
          <a:prstGeom prst="roundRect">
            <a:avLst>
              <a:gd name="adj" fmla="val 13158"/>
            </a:avLst>
          </a:prstGeom>
          <a:solidFill>
            <a:srgbClr val="EAF1F8"/>
          </a:solidFill>
          <a:ln w="12700">
            <a:solidFill>
              <a:srgbClr val="BFD1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2084832" y="207568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21313F"/>
                </a:solidFill>
              </a:rPr>
              <a:t>slice 1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2084832" y="2468880"/>
            <a:ext cx="1097280" cy="347472"/>
          </a:xfrm>
          <a:prstGeom prst="roundRect">
            <a:avLst>
              <a:gd name="adj" fmla="val 13158"/>
            </a:avLst>
          </a:prstGeom>
          <a:solidFill>
            <a:srgbClr val="E7EEF8"/>
          </a:solidFill>
          <a:ln w="12700">
            <a:solidFill>
              <a:srgbClr val="3D6EA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2084832" y="257860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21313F"/>
                </a:solidFill>
              </a:rPr>
              <a:t>slice 2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2084832" y="2971800"/>
            <a:ext cx="1097280" cy="347472"/>
          </a:xfrm>
          <a:prstGeom prst="roundRect">
            <a:avLst>
              <a:gd name="adj" fmla="val 13158"/>
            </a:avLst>
          </a:prstGeom>
          <a:solidFill>
            <a:srgbClr val="EAF1F8"/>
          </a:solidFill>
          <a:ln w="12700">
            <a:solidFill>
              <a:srgbClr val="BFD1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2084832" y="308152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21313F"/>
                </a:solidFill>
              </a:rPr>
              <a:t>slice 3</a:t>
            </a:r>
            <a:endParaRPr lang="en-US" sz="940" dirty="0"/>
          </a:p>
        </p:txBody>
      </p:sp>
      <p:sp>
        <p:nvSpPr>
          <p:cNvPr id="14" name="Text 12"/>
          <p:cNvSpPr/>
          <p:nvPr/>
        </p:nvSpPr>
        <p:spPr>
          <a:xfrm>
            <a:off x="3493008" y="20116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8A67"/>
                </a:solidFill>
              </a:rPr>
              <a:t>↘ train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93008" y="29718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5757"/>
                </a:solidFill>
              </a:rPr>
              <a:t>↘ test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402336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C95757"/>
                </a:solidFill>
              </a:rPr>
              <a:t>The model can effectively see the same patient in both sets.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4400" y="4572000"/>
            <a:ext cx="4160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dirty="0">
                <a:solidFill>
                  <a:srgbClr val="617181"/>
                </a:solidFill>
              </a:rPr>
              <a:t>That is data leakage — the test score no longer represents performance on unseen patients.</a:t>
            </a:r>
            <a:endParaRPr lang="en-US" sz="1180" dirty="0"/>
          </a:p>
        </p:txBody>
      </p:sp>
      <p:sp>
        <p:nvSpPr>
          <p:cNvPr id="18" name="Shape 16"/>
          <p:cNvSpPr/>
          <p:nvPr/>
        </p:nvSpPr>
        <p:spPr>
          <a:xfrm>
            <a:off x="6053328" y="1298448"/>
            <a:ext cx="5577840" cy="4480560"/>
          </a:xfrm>
          <a:prstGeom prst="roundRect">
            <a:avLst>
              <a:gd name="adj" fmla="val 2449"/>
            </a:avLst>
          </a:prstGeom>
          <a:solidFill>
            <a:srgbClr val="0D2942"/>
          </a:solidFill>
          <a:ln w="12700">
            <a:solidFill>
              <a:srgbClr val="0D294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6373368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DF3F1"/>
                </a:solidFill>
              </a:rPr>
              <a:t>Our</a:t>
            </a:r>
            <a:r>
              <a:rPr lang="en-US" sz="1800" b="1" dirty="0">
                <a:solidFill>
                  <a:srgbClr val="DDF3F1"/>
                </a:solidFill>
              </a:rPr>
              <a:t> solution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382512" y="2148840"/>
            <a:ext cx="139903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FC5D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6382512" y="2350008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2942"/>
                </a:solidFill>
              </a:rPr>
              <a:t>TRAIN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92240" y="26151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17181"/>
                </a:solidFill>
              </a:rPr>
              <a:t>different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17181"/>
                </a:solidFill>
              </a:rPr>
              <a:t>patients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001000" y="2148840"/>
            <a:ext cx="139903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FC5D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8001000" y="2350008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2942"/>
                </a:solidFill>
              </a:rPr>
              <a:t>VALIDATE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110728" y="26151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17181"/>
                </a:solidFill>
              </a:rPr>
              <a:t>different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17181"/>
                </a:solidFill>
              </a:rPr>
              <a:t>patients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619488" y="2148840"/>
            <a:ext cx="139903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FC5D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9619488" y="2350008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2942"/>
                </a:solidFill>
              </a:rPr>
              <a:t>TEST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729216" y="26151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17181"/>
                </a:solidFill>
              </a:rPr>
              <a:t>different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17181"/>
                </a:solidFill>
              </a:rPr>
              <a:t>patients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0" y="349300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→ inside training: group-aware cross-validation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0" y="387705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→ final test set stays untouched until the end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82512" y="4416552"/>
            <a:ext cx="4617720" cy="713232"/>
          </a:xfrm>
          <a:prstGeom prst="roundRect">
            <a:avLst>
              <a:gd name="adj" fmla="val 7692"/>
            </a:avLst>
          </a:prstGeom>
          <a:solidFill>
            <a:srgbClr val="1C405C"/>
          </a:solidFill>
          <a:ln w="12700">
            <a:solidFill>
              <a:srgbClr val="2E587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30"/>
          <p:cNvSpPr/>
          <p:nvPr/>
        </p:nvSpPr>
        <p:spPr>
          <a:xfrm>
            <a:off x="6592824" y="4617720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40" dirty="0">
                <a:solidFill>
                  <a:srgbClr val="DCE7F0"/>
                </a:solidFill>
              </a:rPr>
              <a:t>Goal: estimate how the approach behaves on patients the model has never seen before.</a:t>
            </a:r>
            <a:endParaRPr lang="en-US" sz="114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D8E2E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29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How do we know whether it works?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7181"/>
                </a:solidFill>
              </a:rPr>
              <a:t>I am testing the representation, not just chasing the highest accuracy.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658368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859536" y="1572768"/>
            <a:ext cx="457200" cy="457200"/>
          </a:xfrm>
          <a:prstGeom prst="ellipse">
            <a:avLst/>
          </a:prstGeom>
          <a:solidFill>
            <a:srgbClr val="1D8A8A"/>
          </a:solidFill>
          <a:ln w="12700">
            <a:solidFill>
              <a:srgbClr val="1D8A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859536" y="1591056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81328" y="169485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2942"/>
                </a:solidFill>
              </a:rPr>
              <a:t>Foundation model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017520" y="1586484"/>
            <a:ext cx="3995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1313F"/>
                </a:solidFill>
              </a:rPr>
              <a:t>Does the pretrained representation contain useful information?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640080" y="2523067"/>
            <a:ext cx="658368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859536" y="2633472"/>
            <a:ext cx="457200" cy="457200"/>
          </a:xfrm>
          <a:prstGeom prst="ellipse">
            <a:avLst/>
          </a:prstGeom>
          <a:solidFill>
            <a:srgbClr val="3D6EA8"/>
          </a:solidFill>
          <a:ln w="12700">
            <a:solidFill>
              <a:srgbClr val="3D6EA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859536" y="265176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81328" y="2770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2942"/>
                </a:solidFill>
              </a:rPr>
              <a:t>MRI orientation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889504" y="2670048"/>
            <a:ext cx="3995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1313F"/>
                </a:solidFill>
              </a:rPr>
              <a:t>Do axial, coronal or sagittal slices contribute differently?</a:t>
            </a:r>
            <a:endParaRPr lang="en-US" sz="1060" dirty="0"/>
          </a:p>
        </p:txBody>
      </p:sp>
      <p:sp>
        <p:nvSpPr>
          <p:cNvPr id="14" name="Shape 12"/>
          <p:cNvSpPr/>
          <p:nvPr/>
        </p:nvSpPr>
        <p:spPr>
          <a:xfrm>
            <a:off x="640080" y="3538728"/>
            <a:ext cx="658368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859536" y="3694176"/>
            <a:ext cx="457200" cy="457200"/>
          </a:xfrm>
          <a:prstGeom prst="ellipse">
            <a:avLst/>
          </a:prstGeom>
          <a:solidFill>
            <a:srgbClr val="E59A3A"/>
          </a:solidFill>
          <a:ln w="12700">
            <a:solidFill>
              <a:srgbClr val="E59A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81328" y="37627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2942"/>
                </a:solidFill>
              </a:rPr>
              <a:t>Pooling strategy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889504" y="3691467"/>
            <a:ext cx="3995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1313F"/>
                </a:solidFill>
              </a:rPr>
              <a:t>Does simple mean pooling work, or do we need a smarter way to combine slices?</a:t>
            </a:r>
            <a:endParaRPr lang="en-US" sz="1060" dirty="0"/>
          </a:p>
        </p:txBody>
      </p:sp>
      <p:sp>
        <p:nvSpPr>
          <p:cNvPr id="19" name="Shape 17"/>
          <p:cNvSpPr/>
          <p:nvPr/>
        </p:nvSpPr>
        <p:spPr>
          <a:xfrm>
            <a:off x="640080" y="4599432"/>
            <a:ext cx="658368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859536" y="4754880"/>
            <a:ext cx="457200" cy="457200"/>
          </a:xfrm>
          <a:prstGeom prst="ellipse">
            <a:avLst/>
          </a:prstGeom>
          <a:solidFill>
            <a:srgbClr val="4E8A67"/>
          </a:solidFill>
          <a:ln w="12700">
            <a:solidFill>
              <a:srgbClr val="4E8A6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859536" y="4773168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81328" y="48234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2942"/>
                </a:solidFill>
              </a:rPr>
              <a:t>Comparator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889504" y="4718304"/>
            <a:ext cx="3995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1313F"/>
                </a:solidFill>
              </a:rPr>
              <a:t>Does the foundation-model representation add value over more classical image features?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7562088" y="1417320"/>
            <a:ext cx="4069080" cy="4654296"/>
          </a:xfrm>
          <a:prstGeom prst="roundRect">
            <a:avLst>
              <a:gd name="adj" fmla="val 2697"/>
            </a:avLst>
          </a:prstGeom>
          <a:solidFill>
            <a:srgbClr val="0D2942"/>
          </a:solidFill>
          <a:ln w="12700">
            <a:solidFill>
              <a:srgbClr val="0D294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7882128" y="17190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Metrics I care about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882128" y="22402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FD3D2"/>
                </a:solidFill>
              </a:rPr>
              <a:t>Balanced accuracy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26880" y="223113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DCE7F0"/>
                </a:solidFill>
              </a:rPr>
              <a:t>overall performance without letting the largest class dominate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7882128" y="30266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FD3D2"/>
                </a:solidFill>
              </a:rPr>
              <a:t>Macro F1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326880" y="30175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DCE7F0"/>
                </a:solidFill>
              </a:rPr>
              <a:t>gives each class equal weight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7882128" y="38130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FD3D2"/>
                </a:solidFill>
              </a:rPr>
              <a:t>Per-class recall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326880" y="380390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DCE7F0"/>
                </a:solidFill>
              </a:rPr>
              <a:t>which groups are hardest to recognize?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7882128" y="4599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FD3D2"/>
                </a:solidFill>
              </a:rPr>
              <a:t>Confusion matrix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326880" y="45902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DCE7F0"/>
                </a:solidFill>
              </a:rPr>
              <a:t>which groups get mixed up with each other?</a:t>
            </a:r>
            <a:endParaRPr 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7882128" y="5266944"/>
            <a:ext cx="1938528" cy="274320"/>
          </a:xfrm>
          <a:prstGeom prst="roundRect">
            <a:avLst>
              <a:gd name="adj" fmla="val 26667"/>
            </a:avLst>
          </a:prstGeom>
          <a:solidFill>
            <a:srgbClr val="C95757"/>
          </a:solidFill>
          <a:ln w="12700">
            <a:solidFill>
              <a:srgbClr val="C9575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Text 33"/>
          <p:cNvSpPr/>
          <p:nvPr/>
        </p:nvSpPr>
        <p:spPr>
          <a:xfrm>
            <a:off x="7946136" y="5326380"/>
            <a:ext cx="1810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FFFFF"/>
                </a:solidFill>
              </a:rPr>
              <a:t>NO RESULTS YET</a:t>
            </a:r>
            <a:endParaRPr lang="en-US" sz="870" dirty="0"/>
          </a:p>
        </p:txBody>
      </p:sp>
      <p:sp>
        <p:nvSpPr>
          <p:cNvPr id="36" name="Text 34"/>
          <p:cNvSpPr/>
          <p:nvPr/>
        </p:nvSpPr>
        <p:spPr>
          <a:xfrm>
            <a:off x="7891272" y="5556165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DCE7F0"/>
                </a:solidFill>
              </a:rPr>
              <a:t>The project is about finding out whether the idea works — not assuming that it will.</a:t>
            </a:r>
            <a:endParaRPr lang="en-US" sz="105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D8E2E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D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91440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So, what are we actually doing?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9808" y="1645920"/>
            <a:ext cx="78181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D9E6F0"/>
                </a:solidFill>
              </a:rPr>
              <a:t>Turning brain MRI slices into a patient-level representation — and testing whether a pretrained vision model makes the six-class Alzheimer problem easier to learn.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41248" y="3218688"/>
            <a:ext cx="1737360" cy="1078992"/>
          </a:xfrm>
          <a:prstGeom prst="roundRect">
            <a:avLst>
              <a:gd name="adj" fmla="val 10169"/>
            </a:avLst>
          </a:prstGeom>
          <a:solidFill>
            <a:srgbClr val="173C56"/>
          </a:solidFill>
          <a:ln w="12700">
            <a:solidFill>
              <a:srgbClr val="315A7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32688" y="34472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MRI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32688" y="37764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BD0DE"/>
                </a:solidFill>
              </a:rPr>
              <a:t>images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615184" y="3730752"/>
            <a:ext cx="393192" cy="0"/>
          </a:xfrm>
          <a:prstGeom prst="line">
            <a:avLst/>
          </a:prstGeom>
          <a:noFill/>
          <a:ln w="21590">
            <a:solidFill>
              <a:srgbClr val="8BB3C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3081528" y="3218688"/>
            <a:ext cx="1737360" cy="1078992"/>
          </a:xfrm>
          <a:prstGeom prst="roundRect">
            <a:avLst>
              <a:gd name="adj" fmla="val 10169"/>
            </a:avLst>
          </a:prstGeom>
          <a:solidFill>
            <a:srgbClr val="173C56"/>
          </a:solidFill>
          <a:ln w="12700">
            <a:solidFill>
              <a:srgbClr val="315A7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3172968" y="34472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FM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172968" y="37764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BD0DE"/>
                </a:solidFill>
              </a:rPr>
              <a:t>embeddings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855464" y="3730752"/>
            <a:ext cx="393192" cy="0"/>
          </a:xfrm>
          <a:prstGeom prst="line">
            <a:avLst/>
          </a:prstGeom>
          <a:noFill/>
          <a:ln w="21590">
            <a:solidFill>
              <a:srgbClr val="8BB3C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5321808" y="3218688"/>
            <a:ext cx="1737360" cy="1078992"/>
          </a:xfrm>
          <a:prstGeom prst="roundRect">
            <a:avLst>
              <a:gd name="adj" fmla="val 10169"/>
            </a:avLst>
          </a:prstGeom>
          <a:solidFill>
            <a:srgbClr val="173C56"/>
          </a:solidFill>
          <a:ln w="12700">
            <a:solidFill>
              <a:srgbClr val="315A7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413248" y="34472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Patient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13248" y="37764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BD0DE"/>
                </a:solidFill>
              </a:rPr>
              <a:t>vector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095744" y="3730752"/>
            <a:ext cx="393192" cy="0"/>
          </a:xfrm>
          <a:prstGeom prst="line">
            <a:avLst/>
          </a:prstGeom>
          <a:noFill/>
          <a:ln w="21590">
            <a:solidFill>
              <a:srgbClr val="8BB3C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7562088" y="3218688"/>
            <a:ext cx="1737360" cy="1078992"/>
          </a:xfrm>
          <a:prstGeom prst="roundRect">
            <a:avLst>
              <a:gd name="adj" fmla="val 10169"/>
            </a:avLst>
          </a:prstGeom>
          <a:solidFill>
            <a:srgbClr val="173C56"/>
          </a:solidFill>
          <a:ln w="12700">
            <a:solidFill>
              <a:srgbClr val="315A7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7653528" y="34472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ML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653528" y="37764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BD0DE"/>
                </a:solidFill>
              </a:rPr>
              <a:t>prediction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77240" y="48006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FD3D2"/>
                </a:solidFill>
              </a:rPr>
              <a:t>The key question is not “Can AI diagnose Alzheimer’s?”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5157216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</a:rPr>
              <a:t>It is “Do foundation-model representations contain useful structure for this classification problem?”</a:t>
            </a:r>
            <a:endParaRPr lang="en-US" sz="1750" dirty="0"/>
          </a:p>
        </p:txBody>
      </p:sp>
      <p:sp>
        <p:nvSpPr>
          <p:cNvPr id="21" name="Text 19"/>
          <p:cNvSpPr/>
          <p:nvPr/>
        </p:nvSpPr>
        <p:spPr>
          <a:xfrm>
            <a:off x="9281160" y="501091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FFFFF"/>
                </a:solidFill>
              </a:rPr>
              <a:t>Questions?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777240" y="60167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AFC1D0"/>
                </a:solidFill>
              </a:rPr>
              <a:t>Sources: National Institute on Aging (MRI &amp; Alzheimer’s); Meta AI (DINOv2); project methodology document</a:t>
            </a:r>
            <a:endParaRPr lang="en-US" sz="8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D8E2E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1251</Words>
  <Application>Microsoft Office PowerPoint</Application>
  <PresentationFormat>Breitbild</PresentationFormat>
  <Paragraphs>187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Biomedical Engineering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AI-Based Characterization of Alzheimer’s Disease from Structural Brain MRI</dc:title>
  <dc:subject>Introduction to Alzheimer structural MRI foundation-model project</dc:subject>
  <dc:creator>Frederik Duerr</dc:creator>
  <cp:lastModifiedBy>Frederik Johann Dürr</cp:lastModifiedBy>
  <cp:revision>2</cp:revision>
  <dcterms:created xsi:type="dcterms:W3CDTF">2026-10-05T11:56:19Z</dcterms:created>
  <dcterms:modified xsi:type="dcterms:W3CDTF">2026-10-05T18:37:20Z</dcterms:modified>
</cp:coreProperties>
</file>