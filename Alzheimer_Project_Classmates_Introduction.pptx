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86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 am working on a project that combines structural brain MRI with a foundation model. The goal is not to build a clinical diagnostic system, but to test whether representations learned by a pretrained vision model contain enough information to distinguish six clinical groups used in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 in clinical terms. Structural changes can be seen on MRI, but a six-class staging problem is harder than a simple healthy-versus-AD classification. The labels here come from the dataset and should not be interpreted as six equally spaced biological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structural MRI tells us about anatomy. In my project I am not starting from raw 3D volumes; I receive already-preprocessed 2D PNG slices from axial, coronal and sagittal views. The important data-science issue is that many slices come from one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machine-learning idea is representation learning. Instead of asking a model trained only on this dataset to learn everything from zero, I use a pretrained vision model as a feature extractor. It converts each image into an embedding: a vector of numbers that summarizes patterns the model detects. DINOv2 is one example of this kind of pretrained vision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First I keep a metadata table linking each image to a patient, diagnosis, orientation and slice number. Then each slice is converted into the model’s expected format, embedded, and finally aggregated at the patient level. The patient-level split is essential to prevent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methodological point. If slices from one patient are distributed across training and test, the model can exploit patient-specific patterns and the score becomes misleading. The split must therefore be done before training, using patient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evaluation has several controlled comparisons. I care about balanced accuracy, macro F1 and especially the confusion matrix because neighboring groups can be much harder to separate than the broad AD-versus-normal distinction. I do not have final performance results to present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main idea in plain language. I am not trying to replace diagnosis. I am testing whether pretrained representations of structural MRI contain clinically useful information for a six-class patient-level classification task. Then pause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D2942"/>
          </a:solidFill>
          <a:ln w="12700">
            <a:solidFill>
              <a:srgbClr val="0D294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84048" y="653796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Engineering Project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0584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AI learn Alzheimer’s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stages from brain MRI?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76656" y="2395728"/>
            <a:ext cx="6080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9E6F0"/>
                </a:solidFill>
              </a:rPr>
              <a:t>AI-Based Characterization of Clinical Alzheimer’s Disease Stages from Structural Brain MRI Using Foundation Model Representations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76656" y="3502152"/>
            <a:ext cx="1883664" cy="274320"/>
          </a:xfrm>
          <a:prstGeom prst="roundRect">
            <a:avLst>
              <a:gd name="adj" fmla="val 26667"/>
            </a:avLst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40664" y="356158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CLASS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D3D2"/>
                </a:solidFill>
              </a:rPr>
              <a:t>The idea in one sentence: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4334256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Use a pretrained vision model to turn MRI slices into useful numerical representations — then test whether those representations separate six clinical groups.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31352" y="1395374"/>
            <a:ext cx="1207008" cy="2460650"/>
          </a:xfrm>
          <a:prstGeom prst="ellipse">
            <a:avLst/>
          </a:prstGeom>
          <a:solidFill>
            <a:srgbClr val="DCE8F2"/>
          </a:solidFill>
          <a:ln w="2032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9738360" y="1395374"/>
            <a:ext cx="1207008" cy="2460650"/>
          </a:xfrm>
          <a:prstGeom prst="ellipse">
            <a:avLst/>
          </a:prstGeom>
          <a:solidFill>
            <a:srgbClr val="DCE8F2"/>
          </a:solidFill>
          <a:ln w="2032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9738360" y="1521562"/>
            <a:ext cx="0" cy="2208276"/>
          </a:xfrm>
          <a:prstGeom prst="line">
            <a:avLst/>
          </a:prstGeom>
          <a:noFill/>
          <a:ln w="1778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805672" y="2026310"/>
            <a:ext cx="548640" cy="0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8723376" y="2467966"/>
            <a:ext cx="576072" cy="126187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887968" y="3035808"/>
            <a:ext cx="548640" cy="0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0671048" y="2026310"/>
            <a:ext cx="0" cy="0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0753344" y="2467966"/>
            <a:ext cx="0" cy="126187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0588752" y="3035808"/>
            <a:ext cx="0" cy="0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8503920" y="3761384"/>
            <a:ext cx="2468880" cy="0"/>
          </a:xfrm>
          <a:prstGeom prst="line">
            <a:avLst/>
          </a:prstGeom>
          <a:noFill/>
          <a:ln w="12700">
            <a:solidFill>
              <a:srgbClr val="AFC1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418320" y="914400"/>
            <a:ext cx="201168" cy="201168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0607040" y="1325880"/>
            <a:ext cx="201168" cy="201168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9235440" y="4434840"/>
            <a:ext cx="201168" cy="201168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10789920" y="4160520"/>
            <a:ext cx="201168" cy="201168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7955280" y="2788920"/>
            <a:ext cx="201168" cy="201168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85800" y="59253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D5"/>
                </a:solidFill>
              </a:rPr>
              <a:t>Frederik Duerr Lucca Moreira  ·  Biomedical Engineering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Start with the clinical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7181"/>
                </a:solidFill>
              </a:rPr>
              <a:t>What information about disease stage might already be present in brain structure?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68096" y="14904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942"/>
                </a:solidFill>
              </a:rPr>
              <a:t>Why Alzheimer’s is interesting for imaging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" y="2066544"/>
            <a:ext cx="73152" cy="73152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32688" y="2059771"/>
            <a:ext cx="4270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1313F"/>
                </a:solidFill>
              </a:rPr>
              <a:t>Alzheimer’s disease changes brain structure over time.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86384" y="2484628"/>
            <a:ext cx="73152" cy="73152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32688" y="2409444"/>
            <a:ext cx="4270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1313F"/>
                </a:solidFill>
              </a:rPr>
              <a:t>MRI can show anatomy and regional brain atrophy.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86384" y="2902712"/>
            <a:ext cx="73152" cy="73152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932688" y="2902712"/>
            <a:ext cx="4270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1313F"/>
                </a:solidFill>
              </a:rPr>
              <a:t>Some clinical groups are difficult to distinguish from each other, especially early in the continuum.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579" y="3422565"/>
            <a:ext cx="73152" cy="73152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32688" y="3411220"/>
            <a:ext cx="4270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1313F"/>
                </a:solidFill>
              </a:rPr>
              <a:t>That makes this a good test case for representation learning.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5528" y="4718305"/>
            <a:ext cx="2084832" cy="274320"/>
          </a:xfrm>
          <a:prstGeom prst="roundRect">
            <a:avLst>
              <a:gd name="adj" fmla="val 26667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59536" y="4777741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8A8A"/>
                </a:solidFill>
              </a:rPr>
              <a:t>RESEARCH QUESTION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" y="513435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1313F"/>
                </a:solidFill>
              </a:rPr>
              <a:t>Can a pretrained vision model produce a representation that helps separate the six study groups?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925312" y="1234440"/>
            <a:ext cx="5715000" cy="4480560"/>
          </a:xfrm>
          <a:prstGeom prst="roundRect">
            <a:avLst>
              <a:gd name="adj" fmla="val 2449"/>
            </a:avLst>
          </a:prstGeom>
          <a:solidFill>
            <a:srgbClr val="F6F8FB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217920" y="14904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942"/>
                </a:solidFill>
              </a:rPr>
              <a:t>The six labels in my dataset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36208" y="2029968"/>
            <a:ext cx="2331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364224" y="2194560"/>
            <a:ext cx="411480" cy="411480"/>
          </a:xfrm>
          <a:prstGeom prst="ellipse">
            <a:avLst/>
          </a:prstGeom>
          <a:solidFill>
            <a:srgbClr val="4E8A67"/>
          </a:solidFill>
          <a:ln w="12700">
            <a:solidFill>
              <a:srgbClr val="4E8A6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364224" y="221284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76288" y="21488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942"/>
                </a:solidFill>
              </a:rPr>
              <a:t>CN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76288" y="2386584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17181"/>
                </a:solidFill>
              </a:rPr>
              <a:t>Cognitively normal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814816" y="2029968"/>
            <a:ext cx="2331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8942832" y="2194560"/>
            <a:ext cx="411480" cy="411480"/>
          </a:xfrm>
          <a:prstGeom prst="ellipse">
            <a:avLst/>
          </a:prstGeom>
          <a:solidFill>
            <a:srgbClr val="3D6EA8"/>
          </a:solidFill>
          <a:ln w="1270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8942832" y="221284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54896" y="21488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942"/>
                </a:solidFill>
              </a:rPr>
              <a:t>SMC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54896" y="2386584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17181"/>
                </a:solidFill>
              </a:rPr>
              <a:t>Subjective memory complaint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236208" y="2990088"/>
            <a:ext cx="2331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364224" y="3154680"/>
            <a:ext cx="411480" cy="411480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364224" y="317296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76288" y="31089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942"/>
                </a:solidFill>
              </a:rPr>
              <a:t>EMCI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76288" y="3346704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17181"/>
                </a:solidFill>
              </a:rPr>
              <a:t>Early MCI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814816" y="2990088"/>
            <a:ext cx="2331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8942832" y="3154680"/>
            <a:ext cx="411480" cy="411480"/>
          </a:xfrm>
          <a:prstGeom prst="ellipse">
            <a:avLst/>
          </a:prstGeom>
          <a:solidFill>
            <a:srgbClr val="E59A3A"/>
          </a:solidFill>
          <a:ln w="12700">
            <a:solidFill>
              <a:srgbClr val="E59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8942832" y="317296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454896" y="31089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942"/>
                </a:solidFill>
              </a:rPr>
              <a:t>MCI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454896" y="3346704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17181"/>
                </a:solidFill>
              </a:rPr>
              <a:t>Mild cognitive impairment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236208" y="3950208"/>
            <a:ext cx="2331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6364224" y="4114800"/>
            <a:ext cx="411480" cy="411480"/>
          </a:xfrm>
          <a:prstGeom prst="ellipse">
            <a:avLst/>
          </a:prstGeom>
          <a:solidFill>
            <a:srgbClr val="C95757"/>
          </a:solidFill>
          <a:ln w="12700">
            <a:solidFill>
              <a:srgbClr val="C957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364224" y="413308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76288" y="4069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942"/>
                </a:solidFill>
              </a:rPr>
              <a:t>LMCI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76288" y="4306824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17181"/>
                </a:solidFill>
              </a:rPr>
              <a:t>Late MCI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8814816" y="3950208"/>
            <a:ext cx="23317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8942832" y="4114800"/>
            <a:ext cx="411480" cy="411480"/>
          </a:xfrm>
          <a:prstGeom prst="ellipse">
            <a:avLst/>
          </a:prstGeom>
          <a:solidFill>
            <a:srgbClr val="163D5B"/>
          </a:solidFill>
          <a:ln w="12700">
            <a:solidFill>
              <a:srgbClr val="163D5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8942832" y="413308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454896" y="4069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942"/>
                </a:solidFill>
              </a:rPr>
              <a:t>AD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454896" y="4306824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17181"/>
                </a:solidFill>
              </a:rPr>
              <a:t>Alzheimer’s disease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6236208" y="51023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17181"/>
                </a:solidFill>
              </a:rPr>
              <a:t>Important: these are the study labels, not six equally spaced “official stages”.</a:t>
            </a:r>
            <a:endParaRPr lang="en-US" sz="11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What is “structural brain MRI”?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7181"/>
                </a:solidFill>
              </a:rPr>
              <a:t>In simple terms: an image of brain anatomy, rather than brain activity.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3931920" cy="48006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160374" y="1766621"/>
            <a:ext cx="1267358" cy="1890065"/>
          </a:xfrm>
          <a:prstGeom prst="ellipse">
            <a:avLst/>
          </a:prstGeom>
          <a:solidFill>
            <a:srgbClr val="DCE8F2"/>
          </a:solidFill>
          <a:ln w="2032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427732" y="1766621"/>
            <a:ext cx="1267358" cy="1890065"/>
          </a:xfrm>
          <a:prstGeom prst="ellipse">
            <a:avLst/>
          </a:prstGeom>
          <a:solidFill>
            <a:srgbClr val="DCE8F2"/>
          </a:solidFill>
          <a:ln w="2032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2427732" y="1863547"/>
            <a:ext cx="0" cy="1696212"/>
          </a:xfrm>
          <a:prstGeom prst="line">
            <a:avLst/>
          </a:prstGeom>
          <a:noFill/>
          <a:ln w="1778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1448410" y="2251253"/>
            <a:ext cx="576072" cy="0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361999" y="2590495"/>
            <a:ext cx="604876" cy="96926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534820" y="3026664"/>
            <a:ext cx="576072" cy="0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407054" y="2251253"/>
            <a:ext cx="0" cy="0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493465" y="2590495"/>
            <a:ext cx="0" cy="96926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320644" y="3026664"/>
            <a:ext cx="0" cy="0"/>
          </a:xfrm>
          <a:prstGeom prst="line">
            <a:avLst/>
          </a:prstGeom>
          <a:noFill/>
          <a:ln w="15240">
            <a:solidFill>
              <a:srgbClr val="88A8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131570" y="3583991"/>
            <a:ext cx="2592324" cy="0"/>
          </a:xfrm>
          <a:prstGeom prst="line">
            <a:avLst/>
          </a:prstGeom>
          <a:noFill/>
          <a:ln w="12700">
            <a:solidFill>
              <a:srgbClr val="AFC1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22960" y="42428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942"/>
                </a:solidFill>
              </a:rPr>
              <a:t>Think of a 3D brain scan as a stack of 2D images.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0016" y="1225296"/>
            <a:ext cx="6931152" cy="4800600"/>
          </a:xfrm>
          <a:prstGeom prst="roundRect">
            <a:avLst>
              <a:gd name="adj" fmla="val 2286"/>
            </a:avLst>
          </a:prstGeom>
          <a:solidFill>
            <a:srgbClr val="F6F8FB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983480" y="1508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942"/>
                </a:solidFill>
              </a:rPr>
              <a:t>The dataset </a:t>
            </a:r>
            <a:r>
              <a:rPr lang="en-US" b="1" dirty="0">
                <a:solidFill>
                  <a:srgbClr val="0D2942"/>
                </a:solidFill>
              </a:rPr>
              <a:t>we</a:t>
            </a:r>
            <a:r>
              <a:rPr lang="en-US" sz="1800" b="1" dirty="0">
                <a:solidFill>
                  <a:srgbClr val="0D2942"/>
                </a:solidFill>
              </a:rPr>
              <a:t> work with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92624" y="1993392"/>
            <a:ext cx="135331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65776" y="211226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8A8A"/>
                </a:solidFill>
              </a:rPr>
              <a:t>~73k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065776" y="240487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17181"/>
                </a:solidFill>
              </a:rPr>
              <a:t>PNG slices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574536" y="1993392"/>
            <a:ext cx="135331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647688" y="211226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8A8A"/>
                </a:solidFill>
              </a:rPr>
              <a:t>6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47688" y="240487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17181"/>
                </a:solidFill>
              </a:rPr>
              <a:t>study groups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156448" y="1993392"/>
            <a:ext cx="135331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8229600" y="211226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8A8A"/>
                </a:solidFill>
              </a:rPr>
              <a:t>3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229600" y="240487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17181"/>
                </a:solidFill>
              </a:rPr>
              <a:t>anatomical planes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9738360" y="1993392"/>
            <a:ext cx="135331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9811512" y="211226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8A8A"/>
                </a:solidFill>
              </a:rPr>
              <a:t>patient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811512" y="240487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17181"/>
                </a:solidFill>
              </a:rPr>
              <a:t>unit of analysis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4992624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313F"/>
                </a:solidFill>
              </a:rPr>
              <a:t>Why three planes?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01768" y="3511296"/>
            <a:ext cx="170078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093208" y="369417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942"/>
                </a:solidFill>
              </a:rPr>
              <a:t>Axial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93208" y="39684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181"/>
                </a:solidFill>
              </a:rPr>
              <a:t>top 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22008" y="3511296"/>
            <a:ext cx="170078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7013448" y="369417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942"/>
                </a:solidFill>
              </a:rPr>
              <a:t>Coronal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13448" y="39684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181"/>
                </a:solidFill>
              </a:rPr>
              <a:t>front 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842248" y="3511296"/>
            <a:ext cx="170078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8933688" y="369417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942"/>
                </a:solidFill>
              </a:rPr>
              <a:t>Sagittal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933688" y="396849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181"/>
                </a:solidFill>
              </a:rPr>
              <a:t>side ↕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92624" y="4873752"/>
            <a:ext cx="6062472" cy="758952"/>
          </a:xfrm>
          <a:prstGeom prst="roundRect">
            <a:avLst>
              <a:gd name="adj" fmla="val 9639"/>
            </a:avLst>
          </a:prstGeom>
          <a:solidFill>
            <a:srgbClr val="EAF1F8"/>
          </a:solidFill>
          <a:ln w="1270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5212080" y="50566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6EA8"/>
                </a:solidFill>
              </a:rPr>
              <a:t>Core challenge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54496" y="4992624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1313F"/>
                </a:solidFill>
              </a:rPr>
              <a:t>Hundreds of slices belong to the same person — so the model must ultimately make a patient-level decision.</a:t>
            </a:r>
            <a:endParaRPr lang="en-US" sz="122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So where does the “foundation model” come in?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7181"/>
                </a:solidFill>
              </a:rPr>
              <a:t>Instead of learning visual features from scratch, start from a pretrained model.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11109960" cy="1078992"/>
          </a:xfrm>
          <a:prstGeom prst="roundRect">
            <a:avLst>
              <a:gd name="adj" fmla="val 10169"/>
            </a:avLst>
          </a:prstGeom>
          <a:solidFill>
            <a:srgbClr val="0D2942"/>
          </a:solidFill>
          <a:ln w="12700">
            <a:solidFill>
              <a:srgbClr val="0D294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41248" y="15544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</a:rPr>
              <a:t>Foundation model = a large pretrained model that has already learned useful visual representations from many images.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02920" y="2761488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54211" y="2935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5757"/>
                </a:solidFill>
              </a:rPr>
              <a:t>Train from scratch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19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313F"/>
                </a:solidFill>
              </a:rPr>
              <a:t>MRI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68780" y="3526536"/>
            <a:ext cx="640080" cy="0"/>
          </a:xfrm>
          <a:prstGeom prst="line">
            <a:avLst/>
          </a:prstGeom>
          <a:noFill/>
          <a:ln w="19050">
            <a:solidFill>
              <a:srgbClr val="C957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157984" y="330098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313F"/>
                </a:solidFill>
              </a:rPr>
              <a:t>learn all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313F"/>
                </a:solidFill>
              </a:rPr>
              <a:t>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10932" y="3511296"/>
            <a:ext cx="316315" cy="9144"/>
          </a:xfrm>
          <a:prstGeom prst="line">
            <a:avLst/>
          </a:prstGeom>
          <a:noFill/>
          <a:ln w="19050">
            <a:solidFill>
              <a:srgbClr val="C957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076787" y="3432725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181"/>
                </a:solidFill>
              </a:rPr>
              <a:t>classifier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" y="4315968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7181"/>
                </a:solidFill>
              </a:rPr>
              <a:t>More data + more training</a:t>
            </a:r>
            <a:r>
              <a:rPr lang="en-US" sz="1150" dirty="0"/>
              <a:t> </a:t>
            </a:r>
            <a:r>
              <a:rPr lang="en-US" sz="1150" dirty="0">
                <a:solidFill>
                  <a:srgbClr val="617181"/>
                </a:solidFill>
              </a:rPr>
              <a:t>+ higher overfitting risk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0560" y="2670048"/>
            <a:ext cx="6903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800600" y="29260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8A8A"/>
                </a:solidFill>
              </a:rPr>
              <a:t>Use a pretrained vision model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892040" y="3383280"/>
            <a:ext cx="1298448" cy="841248"/>
          </a:xfrm>
          <a:prstGeom prst="roundRect">
            <a:avLst>
              <a:gd name="adj" fmla="val 13043"/>
            </a:avLst>
          </a:prstGeom>
          <a:solidFill>
            <a:srgbClr val="E7EEF8"/>
          </a:solidFill>
          <a:ln w="12700">
            <a:solidFill>
              <a:srgbClr val="BFD9F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92040" y="35935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942"/>
                </a:solidFill>
              </a:rPr>
              <a:t>MRI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2942"/>
                </a:solidFill>
              </a:rPr>
              <a:t>slice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4496" y="3794760"/>
            <a:ext cx="740664" cy="0"/>
          </a:xfrm>
          <a:prstGeom prst="line">
            <a:avLst/>
          </a:prstGeom>
          <a:noFill/>
          <a:ln w="21590">
            <a:solidFill>
              <a:srgbClr val="163D5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059168" y="3273552"/>
            <a:ext cx="1828800" cy="1060704"/>
          </a:xfrm>
          <a:prstGeom prst="roundRect">
            <a:avLst>
              <a:gd name="adj" fmla="val 10345"/>
            </a:avLst>
          </a:prstGeom>
          <a:solidFill>
            <a:srgbClr val="DDF3F1"/>
          </a:solidFill>
          <a:ln w="12700">
            <a:solidFill>
              <a:srgbClr val="B8E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059168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8A8A"/>
                </a:solidFill>
              </a:rPr>
              <a:t>Foundation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D8A8A"/>
                </a:solidFill>
              </a:rPr>
              <a:t>model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79408" y="3794760"/>
            <a:ext cx="694944" cy="0"/>
          </a:xfrm>
          <a:prstGeom prst="line">
            <a:avLst/>
          </a:prstGeom>
          <a:noFill/>
          <a:ln w="21590">
            <a:solidFill>
              <a:srgbClr val="163D5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747504" y="3273552"/>
            <a:ext cx="1243584" cy="1060704"/>
          </a:xfrm>
          <a:prstGeom prst="roundRect">
            <a:avLst>
              <a:gd name="adj" fmla="val 10345"/>
            </a:avLst>
          </a:prstGeom>
          <a:solidFill>
            <a:srgbClr val="FFF0DA"/>
          </a:solidFill>
          <a:ln w="12700">
            <a:solidFill>
              <a:srgbClr val="F0D3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9747504" y="3511296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1A"/>
                </a:solidFill>
              </a:rPr>
              <a:t>embedding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A5A1A"/>
                </a:solidFill>
              </a:rPr>
              <a:t>(vector)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4462272"/>
            <a:ext cx="608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17181"/>
                </a:solidFill>
              </a:rPr>
              <a:t>In the current prototype, the foundation model is used mainly as a feature extractor; the downstream classifier is much simpler.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480560" y="5230368"/>
            <a:ext cx="6903720" cy="685800"/>
          </a:xfrm>
          <a:prstGeom prst="roundRect">
            <a:avLst>
              <a:gd name="adj" fmla="val 16000"/>
            </a:avLst>
          </a:prstGeom>
          <a:solidFill>
            <a:srgbClr val="122334"/>
          </a:solidFill>
          <a:ln w="12700">
            <a:solidFill>
              <a:srgbClr val="12233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700016" y="5440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[ 0.17   -0.42   0.03   1.08   …   0.31 ]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Our pipeline — from thousands of images to one patient prediction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956816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252728" y="1810512"/>
            <a:ext cx="475488" cy="475488"/>
          </a:xfrm>
          <a:prstGeom prst="ellipse">
            <a:avLst/>
          </a:prstGeom>
          <a:solidFill>
            <a:srgbClr val="3D6EA8"/>
          </a:solidFill>
          <a:ln w="1270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252728" y="18288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244144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D2942"/>
                </a:solidFill>
              </a:rPr>
              <a:t>MRI slices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PNG images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+ metadata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87168" y="2542032"/>
            <a:ext cx="237744" cy="0"/>
          </a:xfrm>
          <a:prstGeom prst="line">
            <a:avLst/>
          </a:prstGeom>
          <a:noFill/>
          <a:ln w="19050">
            <a:solidFill>
              <a:srgbClr val="163D5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788920" y="1572768"/>
            <a:ext cx="1956816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538728" y="1810512"/>
            <a:ext cx="475488" cy="475488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538728" y="18288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53512" y="244144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D2942"/>
                </a:solidFill>
              </a:rPr>
              <a:t>Preprocess for FM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2971800" y="288036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resize · channels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· normalization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73168" y="2542032"/>
            <a:ext cx="237744" cy="0"/>
          </a:xfrm>
          <a:prstGeom prst="line">
            <a:avLst/>
          </a:prstGeom>
          <a:noFill/>
          <a:ln w="19050">
            <a:solidFill>
              <a:srgbClr val="163D5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074920" y="1572768"/>
            <a:ext cx="1956816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824728" y="1810512"/>
            <a:ext cx="475488" cy="475488"/>
          </a:xfrm>
          <a:prstGeom prst="ellipse">
            <a:avLst/>
          </a:prstGeom>
          <a:solidFill>
            <a:srgbClr val="E59A3A"/>
          </a:solidFill>
          <a:ln w="12700">
            <a:solidFill>
              <a:srgbClr val="E59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824728" y="18288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9512" y="244144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D2942"/>
                </a:solidFill>
              </a:rPr>
              <a:t>Extract embeddings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5257800" y="288036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one vector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per slice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59168" y="2542032"/>
            <a:ext cx="237744" cy="0"/>
          </a:xfrm>
          <a:prstGeom prst="line">
            <a:avLst/>
          </a:prstGeom>
          <a:noFill/>
          <a:ln w="19050">
            <a:solidFill>
              <a:srgbClr val="163D5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7360920" y="1572768"/>
            <a:ext cx="1956816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8110728" y="1810512"/>
            <a:ext cx="475488" cy="475488"/>
          </a:xfrm>
          <a:prstGeom prst="ellipse">
            <a:avLst/>
          </a:prstGeom>
          <a:solidFill>
            <a:srgbClr val="4E8A67"/>
          </a:solidFill>
          <a:ln w="12700">
            <a:solidFill>
              <a:srgbClr val="4E8A6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8110728" y="18288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25512" y="244144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D2942"/>
                </a:solidFill>
              </a:rPr>
              <a:t>Aggregate by patient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7543800" y="288036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pool slices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by orientation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45168" y="2542032"/>
            <a:ext cx="237744" cy="0"/>
          </a:xfrm>
          <a:prstGeom prst="line">
            <a:avLst/>
          </a:prstGeom>
          <a:noFill/>
          <a:ln w="19050">
            <a:solidFill>
              <a:srgbClr val="163D5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9646920" y="1572768"/>
            <a:ext cx="1956816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10396728" y="1810512"/>
            <a:ext cx="475488" cy="475488"/>
          </a:xfrm>
          <a:prstGeom prst="ellipse">
            <a:avLst/>
          </a:prstGeom>
          <a:solidFill>
            <a:srgbClr val="163D5B"/>
          </a:solidFill>
          <a:ln w="12700">
            <a:solidFill>
              <a:srgbClr val="163D5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10396728" y="18288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11512" y="244144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D2942"/>
                </a:solidFill>
              </a:rPr>
              <a:t>Classify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9829800" y="288036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predict one of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181"/>
                </a:solidFill>
              </a:rPr>
              <a:t>6 groups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3977640"/>
            <a:ext cx="10972800" cy="1554480"/>
          </a:xfrm>
          <a:prstGeom prst="roundRect">
            <a:avLst>
              <a:gd name="adj" fmla="val 7059"/>
            </a:avLst>
          </a:prstGeom>
          <a:solidFill>
            <a:srgbClr val="0D2942"/>
          </a:solidFill>
          <a:ln w="12700">
            <a:solidFill>
              <a:srgbClr val="0D294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777240" y="4297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D3D2"/>
                </a:solidFill>
              </a:rPr>
              <a:t>The important design choice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46268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 not treat 73,000 slices as 73,000 independent patients.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760720" y="4361688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CE7F0"/>
                </a:solidFill>
              </a:rPr>
              <a:t>Slices from the same patient are correlated. I therefore split the dataset and evaluate at the patient level, then aggregate slice information into a patient representation.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77240" y="5166360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841248" y="5225796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PATIENT = UNIT OF ANALYSIS</a:t>
            </a:r>
            <a:endParaRPr lang="en-US" sz="83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Why the patient-level step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7181"/>
                </a:solidFill>
              </a:rPr>
              <a:t>This is the easiest place to accidentally get an unrealistically good result.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98448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5757"/>
                </a:solidFill>
              </a:rPr>
              <a:t>What would go wrong?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" y="2286000"/>
            <a:ext cx="1097280" cy="658368"/>
          </a:xfrm>
          <a:prstGeom prst="roundRect">
            <a:avLst>
              <a:gd name="adj" fmla="val 16667"/>
            </a:avLst>
          </a:prstGeom>
          <a:solidFill>
            <a:srgbClr val="FBE6E6"/>
          </a:solidFill>
          <a:ln w="12700">
            <a:solidFill>
              <a:srgbClr val="F0B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86384" y="24963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5757"/>
                </a:solidFill>
              </a:rPr>
              <a:t>Patient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84832" y="196596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EAF1F8"/>
          </a:solidFill>
          <a:ln w="12700">
            <a:solidFill>
              <a:srgbClr val="BFD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084832" y="207568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21313F"/>
                </a:solidFill>
              </a:rPr>
              <a:t>slice 1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084832" y="246888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E7EEF8"/>
          </a:solidFill>
          <a:ln w="1270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084832" y="257860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21313F"/>
                </a:solidFill>
              </a:rPr>
              <a:t>slice 2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84832" y="29718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EAF1F8"/>
          </a:solidFill>
          <a:ln w="12700">
            <a:solidFill>
              <a:srgbClr val="BFD1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084832" y="308152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21313F"/>
                </a:solidFill>
              </a:rPr>
              <a:t>slice 3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3493008" y="2011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8A67"/>
                </a:solidFill>
              </a:rPr>
              <a:t>↘ train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3008" y="2971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5757"/>
                </a:solidFill>
              </a:rPr>
              <a:t>↘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402336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95757"/>
                </a:solidFill>
              </a:rPr>
              <a:t>The model can effectively see the same patient in both sets.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181"/>
                </a:solidFill>
              </a:rPr>
              <a:t>That is data leakage — the test score no longer represents performance on unseen patients.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053328" y="1298448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0D2942"/>
          </a:solidFill>
          <a:ln w="12700">
            <a:solidFill>
              <a:srgbClr val="0D294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373368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DF3F1"/>
                </a:solidFill>
              </a:rPr>
              <a:t>Our</a:t>
            </a:r>
            <a:r>
              <a:rPr lang="en-US" sz="1800" b="1" dirty="0">
                <a:solidFill>
                  <a:srgbClr val="DDF3F1"/>
                </a:solidFill>
              </a:rPr>
              <a:t> solution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82512" y="2148840"/>
            <a:ext cx="139903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5D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382512" y="2350008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942"/>
                </a:solidFill>
              </a:rPr>
              <a:t>TRAIN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6151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1"/>
                </a:solidFill>
              </a:rPr>
              <a:t>different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17181"/>
                </a:solidFill>
              </a:rPr>
              <a:t>patients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01000" y="2148840"/>
            <a:ext cx="139903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5D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8001000" y="2350008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942"/>
                </a:solidFill>
              </a:rPr>
              <a:t>VALIDATE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10728" y="26151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1"/>
                </a:solidFill>
              </a:rPr>
              <a:t>different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17181"/>
                </a:solidFill>
              </a:rPr>
              <a:t>patients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619488" y="2148840"/>
            <a:ext cx="139903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5D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9619488" y="2350008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942"/>
                </a:solidFill>
              </a:rPr>
              <a:t>TEST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29216" y="26151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7181"/>
                </a:solidFill>
              </a:rPr>
              <a:t>different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17181"/>
                </a:solidFill>
              </a:rPr>
              <a:t>patients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4930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 inside training: group-aware cross-validation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38770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 final test set stays untouched until the end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4416552"/>
            <a:ext cx="4617720" cy="713232"/>
          </a:xfrm>
          <a:prstGeom prst="roundRect">
            <a:avLst>
              <a:gd name="adj" fmla="val 7692"/>
            </a:avLst>
          </a:prstGeom>
          <a:solidFill>
            <a:srgbClr val="1C405C"/>
          </a:solidFill>
          <a:ln w="12700">
            <a:solidFill>
              <a:srgbClr val="2E587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592824" y="461772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DCE7F0"/>
                </a:solidFill>
              </a:rPr>
              <a:t>Goal: estimate how the approach behaves on patients the model has never seen before.</a:t>
            </a:r>
            <a:endParaRPr lang="en-US" sz="114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How do we know whether it works?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7181"/>
                </a:solidFill>
              </a:rPr>
              <a:t>I am testing the representation, not just chasing the highest accuracy.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583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859536" y="1572768"/>
            <a:ext cx="457200" cy="457200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59536" y="1591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169485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942"/>
                </a:solidFill>
              </a:rPr>
              <a:t>Foundation model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17520" y="1586484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1313F"/>
                </a:solidFill>
              </a:rPr>
              <a:t>Does the pretrained representation contain useful information?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40080" y="2523067"/>
            <a:ext cx="6583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859536" y="2633472"/>
            <a:ext cx="457200" cy="457200"/>
          </a:xfrm>
          <a:prstGeom prst="ellipse">
            <a:avLst/>
          </a:prstGeom>
          <a:solidFill>
            <a:srgbClr val="3D6EA8"/>
          </a:solidFill>
          <a:ln w="12700">
            <a:solidFill>
              <a:srgbClr val="3D6E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59536" y="26517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2770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942"/>
                </a:solidFill>
              </a:rPr>
              <a:t>MRI orientation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89504" y="2670048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1313F"/>
                </a:solidFill>
              </a:rPr>
              <a:t>Do axial, coronal or sagittal slices contribute differently?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40080" y="3538728"/>
            <a:ext cx="6583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859536" y="3694176"/>
            <a:ext cx="457200" cy="457200"/>
          </a:xfrm>
          <a:prstGeom prst="ellipse">
            <a:avLst/>
          </a:prstGeom>
          <a:solidFill>
            <a:srgbClr val="E59A3A"/>
          </a:solidFill>
          <a:ln w="12700">
            <a:solidFill>
              <a:srgbClr val="E59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59536" y="37124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37627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942"/>
                </a:solidFill>
              </a:rPr>
              <a:t>Pooling strategy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89504" y="3691467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1313F"/>
                </a:solidFill>
              </a:rPr>
              <a:t>Does simple mean pooling work, or do we need a smarter way to combine slices?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40080" y="4599432"/>
            <a:ext cx="6583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859536" y="4754880"/>
            <a:ext cx="457200" cy="457200"/>
          </a:xfrm>
          <a:prstGeom prst="ellipse">
            <a:avLst/>
          </a:prstGeom>
          <a:solidFill>
            <a:srgbClr val="4E8A67"/>
          </a:solidFill>
          <a:ln w="12700">
            <a:solidFill>
              <a:srgbClr val="4E8A6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59536" y="47731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81328" y="48234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942"/>
                </a:solidFill>
              </a:rPr>
              <a:t>Comparator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889504" y="4718304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1313F"/>
                </a:solidFill>
              </a:rPr>
              <a:t>Does the foundation-model representation add value over more classical image features?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562088" y="1417320"/>
            <a:ext cx="4069080" cy="4654296"/>
          </a:xfrm>
          <a:prstGeom prst="roundRect">
            <a:avLst>
              <a:gd name="adj" fmla="val 2697"/>
            </a:avLst>
          </a:prstGeom>
          <a:solidFill>
            <a:srgbClr val="0D2942"/>
          </a:solidFill>
          <a:ln w="12700">
            <a:solidFill>
              <a:srgbClr val="0D294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882128" y="1719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Metrics I care about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82128" y="2240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D3D2"/>
                </a:solidFill>
              </a:rPr>
              <a:t>Balanced 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CE7F0"/>
                </a:solidFill>
              </a:rPr>
              <a:t>overall performance without letting the largest class dominate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882128" y="30266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D3D2"/>
                </a:solidFill>
              </a:rPr>
              <a:t>Macro F1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CE7F0"/>
                </a:solidFill>
              </a:rPr>
              <a:t>gives each class equal weight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7882128" y="38130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D3D2"/>
                </a:solidFill>
              </a:rPr>
              <a:t>Per-class recall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0" y="38039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CE7F0"/>
                </a:solidFill>
              </a:rPr>
              <a:t>which groups are hardest to recognize?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7882128" y="4599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D3D2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0" y="45902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CE7F0"/>
                </a:solidFill>
              </a:rPr>
              <a:t>which groups get mixed up with each other?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7882128" y="5266944"/>
            <a:ext cx="1938528" cy="274320"/>
          </a:xfrm>
          <a:prstGeom prst="roundRect">
            <a:avLst>
              <a:gd name="adj" fmla="val 26667"/>
            </a:avLst>
          </a:prstGeom>
          <a:solidFill>
            <a:srgbClr val="C95757"/>
          </a:solidFill>
          <a:ln w="12700">
            <a:solidFill>
              <a:srgbClr val="C957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7946136" y="532638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NO RESULTS YET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7891272" y="5556165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CE7F0"/>
                </a:solidFill>
              </a:rPr>
              <a:t>The project is about finding out whether the idea works — not assuming that it will.</a:t>
            </a:r>
            <a:endParaRPr lang="en-US" sz="10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9144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So, what am I actually doing?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9808" y="1645920"/>
            <a:ext cx="7818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9E6F0"/>
                </a:solidFill>
              </a:rPr>
              <a:t>Turning brain MRI slices into a patient-level representation — and testing whether a pretrained vision model makes the six-class Alzheimer problem easier to learn.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41248" y="3218688"/>
            <a:ext cx="1737360" cy="1078992"/>
          </a:xfrm>
          <a:prstGeom prst="roundRect">
            <a:avLst>
              <a:gd name="adj" fmla="val 10169"/>
            </a:avLst>
          </a:prstGeom>
          <a:solidFill>
            <a:srgbClr val="173C56"/>
          </a:solidFill>
          <a:ln w="12700">
            <a:solidFill>
              <a:srgbClr val="315A7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32688" y="3447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3776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D0DE"/>
                </a:solidFill>
              </a:rPr>
              <a:t>images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15184" y="3730752"/>
            <a:ext cx="393192" cy="0"/>
          </a:xfrm>
          <a:prstGeom prst="line">
            <a:avLst/>
          </a:prstGeom>
          <a:noFill/>
          <a:ln w="21590">
            <a:solidFill>
              <a:srgbClr val="8BB3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081528" y="3218688"/>
            <a:ext cx="1737360" cy="1078992"/>
          </a:xfrm>
          <a:prstGeom prst="roundRect">
            <a:avLst>
              <a:gd name="adj" fmla="val 10169"/>
            </a:avLst>
          </a:prstGeom>
          <a:solidFill>
            <a:srgbClr val="173C56"/>
          </a:solidFill>
          <a:ln w="12700">
            <a:solidFill>
              <a:srgbClr val="315A7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172968" y="3447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72968" y="3776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D0DE"/>
                </a:solidFill>
              </a:rPr>
              <a:t>embeddings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55464" y="3730752"/>
            <a:ext cx="393192" cy="0"/>
          </a:xfrm>
          <a:prstGeom prst="line">
            <a:avLst/>
          </a:prstGeom>
          <a:noFill/>
          <a:ln w="21590">
            <a:solidFill>
              <a:srgbClr val="8BB3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321808" y="3218688"/>
            <a:ext cx="1737360" cy="1078992"/>
          </a:xfrm>
          <a:prstGeom prst="roundRect">
            <a:avLst>
              <a:gd name="adj" fmla="val 10169"/>
            </a:avLst>
          </a:prstGeom>
          <a:solidFill>
            <a:srgbClr val="173C56"/>
          </a:solidFill>
          <a:ln w="12700">
            <a:solidFill>
              <a:srgbClr val="315A7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413248" y="3447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Patient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13248" y="3776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D0DE"/>
                </a:solidFill>
              </a:rPr>
              <a:t>vector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95744" y="3730752"/>
            <a:ext cx="393192" cy="0"/>
          </a:xfrm>
          <a:prstGeom prst="line">
            <a:avLst/>
          </a:prstGeom>
          <a:noFill/>
          <a:ln w="21590">
            <a:solidFill>
              <a:srgbClr val="8BB3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7562088" y="3218688"/>
            <a:ext cx="1737360" cy="1078992"/>
          </a:xfrm>
          <a:prstGeom prst="roundRect">
            <a:avLst>
              <a:gd name="adj" fmla="val 10169"/>
            </a:avLst>
          </a:prstGeom>
          <a:solidFill>
            <a:srgbClr val="173C56"/>
          </a:solidFill>
          <a:ln w="12700">
            <a:solidFill>
              <a:srgbClr val="315A7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653528" y="3447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53528" y="3776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BD0DE"/>
                </a:solidFill>
              </a:rPr>
              <a:t>prediction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D3D2"/>
                </a:solidFill>
              </a:rPr>
              <a:t>The key question is not “Can AI diagnose Alzheimer’s?”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515721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</a:rPr>
              <a:t>It is “Do foundation-model representations contain useful structure for this classification problem?”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281160" y="50109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Questions?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77240" y="60167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AFC1D0"/>
                </a:solidFill>
              </a:rPr>
              <a:t>Sources: National Institute on Aging (MRI &amp; Alzheimer’s); Meta AI (DINOv2); project methodology document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D8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1251</Words>
  <Application>Microsoft Office PowerPoint</Application>
  <PresentationFormat>Breitbild</PresentationFormat>
  <Paragraphs>187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Biomedical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Characterization of Alzheimer’s Disease from Structural Brain MRI</dc:title>
  <dc:subject>Introduction to Alzheimer structural MRI foundation-model project</dc:subject>
  <dc:creator>Frederik Duerr</dc:creator>
  <cp:lastModifiedBy>Frederik Johann Dürr</cp:lastModifiedBy>
  <cp:revision>2</cp:revision>
  <dcterms:created xsi:type="dcterms:W3CDTF">2026-10-05T11:56:19Z</dcterms:created>
  <dcterms:modified xsi:type="dcterms:W3CDTF">2026-10-05T12:38:07Z</dcterms:modified>
</cp:coreProperties>
</file>